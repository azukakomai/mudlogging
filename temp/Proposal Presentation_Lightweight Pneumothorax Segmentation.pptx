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aleway"/>
      <p:regular r:id="rId36"/>
      <p:bold r:id="rId37"/>
      <p:italic r:id="rId38"/>
      <p:boldItalic r:id="rId39"/>
    </p:embeddedFont>
    <p:embeddedFont>
      <p:font typeface="Proxima Nova"/>
      <p:regular r:id="rId40"/>
      <p:bold r:id="rId41"/>
      <p:italic r:id="rId42"/>
      <p:boldItalic r:id="rId43"/>
    </p:embeddedFont>
    <p:embeddedFont>
      <p:font typeface="Lato"/>
      <p:regular r:id="rId44"/>
      <p:bold r:id="rId45"/>
      <p:italic r:id="rId46"/>
      <p:boldItalic r:id="rId47"/>
    </p:embeddedFont>
    <p:embeddedFont>
      <p:font typeface="Lato Black"/>
      <p:bold r:id="rId48"/>
      <p:boldItalic r:id="rId49"/>
    </p:embeddedFont>
    <p:embeddedFont>
      <p:font typeface="Quattrocento Sans"/>
      <p:regular r:id="rId50"/>
      <p:bold r:id="rId51"/>
      <p:italic r:id="rId52"/>
      <p:boldItalic r:id="rId53"/>
    </p:embeddedFont>
    <p:embeddedFont>
      <p:font typeface="Raleway Medium"/>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hqK9GHORFO0Rv7WwuCFzAm/5Xt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6497CF-7E8D-4300-890D-074A1EF4CC9B}">
  <a:tblStyle styleId="{346497CF-7E8D-4300-890D-074A1EF4CC9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roximaNova-regular.fntdata"/><Relationship Id="rId42" Type="http://schemas.openxmlformats.org/officeDocument/2006/relationships/font" Target="fonts/ProximaNova-italic.fntdata"/><Relationship Id="rId41" Type="http://schemas.openxmlformats.org/officeDocument/2006/relationships/font" Target="fonts/ProximaNova-bold.fntdata"/><Relationship Id="rId44" Type="http://schemas.openxmlformats.org/officeDocument/2006/relationships/font" Target="fonts/Lato-regular.fntdata"/><Relationship Id="rId43" Type="http://schemas.openxmlformats.org/officeDocument/2006/relationships/font" Target="fonts/ProximaNova-boldItalic.fntdata"/><Relationship Id="rId46" Type="http://schemas.openxmlformats.org/officeDocument/2006/relationships/font" Target="fonts/Lato-italic.fntdata"/><Relationship Id="rId45"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Black-bold.fntdata"/><Relationship Id="rId47" Type="http://schemas.openxmlformats.org/officeDocument/2006/relationships/font" Target="fonts/Lato-boldItalic.fntdata"/><Relationship Id="rId49" Type="http://schemas.openxmlformats.org/officeDocument/2006/relationships/font" Target="fonts/LatoBlack-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aleway-bold.fntdata"/><Relationship Id="rId36" Type="http://schemas.openxmlformats.org/officeDocument/2006/relationships/font" Target="fonts/Raleway-regular.fntdata"/><Relationship Id="rId39" Type="http://schemas.openxmlformats.org/officeDocument/2006/relationships/font" Target="fonts/Raleway-boldItalic.fntdata"/><Relationship Id="rId38" Type="http://schemas.openxmlformats.org/officeDocument/2006/relationships/font" Target="fonts/Raleway-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QuattrocentoSans-bold.fntdata"/><Relationship Id="rId50" Type="http://schemas.openxmlformats.org/officeDocument/2006/relationships/font" Target="fonts/QuattrocentoSans-regular.fntdata"/><Relationship Id="rId53" Type="http://schemas.openxmlformats.org/officeDocument/2006/relationships/font" Target="fonts/QuattrocentoSans-boldItalic.fntdata"/><Relationship Id="rId52" Type="http://schemas.openxmlformats.org/officeDocument/2006/relationships/font" Target="fonts/QuattrocentoSans-italic.fntdata"/><Relationship Id="rId11" Type="http://schemas.openxmlformats.org/officeDocument/2006/relationships/slide" Target="slides/slide6.xml"/><Relationship Id="rId55" Type="http://schemas.openxmlformats.org/officeDocument/2006/relationships/font" Target="fonts/RalewayMedium-bold.fntdata"/><Relationship Id="rId10" Type="http://schemas.openxmlformats.org/officeDocument/2006/relationships/slide" Target="slides/slide5.xml"/><Relationship Id="rId54" Type="http://schemas.openxmlformats.org/officeDocument/2006/relationships/font" Target="fonts/RalewayMedium-regular.fntdata"/><Relationship Id="rId13" Type="http://schemas.openxmlformats.org/officeDocument/2006/relationships/slide" Target="slides/slide8.xml"/><Relationship Id="rId57" Type="http://schemas.openxmlformats.org/officeDocument/2006/relationships/font" Target="fonts/RalewayMedium-boldItalic.fntdata"/><Relationship Id="rId12" Type="http://schemas.openxmlformats.org/officeDocument/2006/relationships/slide" Target="slides/slide7.xml"/><Relationship Id="rId56" Type="http://schemas.openxmlformats.org/officeDocument/2006/relationships/font" Target="fonts/RalewayMedium-italic.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Good morning/afternoon, Bapak/Ibu dosen penguji and Bapak Wahyono. My name is Michael Satpelin Williamtu, and today I'll be presenting my bachelor thesis proposal titled "Lightweight Pneumothorax Segmentation with an Optimized U-Net and EfficientNet-B0 for X-Ray Analysis."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I'll walk through five parts today: first, the clinical background of pneumothorax; second, the research problem with existing AI approaches; third, a brief literature review; fourth, my proposed methodology; and finally, the evaluation strategy.</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Pneumothorax is a condition where air becomes trapped in the pleural space — the thin gap between the lung and the chest wall. This air pushes against the lung, causing it to partially or fully collapse.</a:t>
            </a:r>
            <a:endParaRPr/>
          </a:p>
          <a:p>
            <a:pPr indent="0" lvl="0" marL="0" rtl="0" algn="l">
              <a:lnSpc>
                <a:spcPct val="115000"/>
              </a:lnSpc>
              <a:spcBef>
                <a:spcPts val="1200"/>
              </a:spcBef>
              <a:spcAft>
                <a:spcPts val="0"/>
              </a:spcAft>
              <a:buClr>
                <a:schemeClr val="dk1"/>
              </a:buClr>
              <a:buSzPts val="1100"/>
              <a:buFont typeface="Arial"/>
              <a:buNone/>
            </a:pPr>
            <a:r>
              <a:rPr lang="en-US"/>
              <a:t>There are different types — as shown here, open, closed, and tension pneumothorax. Tension pneumothorax is especially dangerous because it can rapidly become life-threatening, requiring emergency intervention.</a:t>
            </a:r>
            <a:endParaRPr/>
          </a:p>
          <a:p>
            <a:pPr indent="0" lvl="0" marL="0" rtl="0" algn="l">
              <a:lnSpc>
                <a:spcPct val="115000"/>
              </a:lnSpc>
              <a:spcBef>
                <a:spcPts val="1200"/>
              </a:spcBef>
              <a:spcAft>
                <a:spcPts val="0"/>
              </a:spcAft>
              <a:buClr>
                <a:schemeClr val="dk1"/>
              </a:buClr>
              <a:buSzPts val="1100"/>
              <a:buFont typeface="Arial"/>
              <a:buNone/>
            </a:pPr>
            <a:r>
              <a:rPr lang="en-US"/>
              <a:t>Chest X-ray, or CXR, is the number one diagnostic tool used to detect this condition. However, diagnosing it from a CXR is genuinely difficult. A chest X-ray is a 2D projection of a 3D body, so organs and bones overlap on the image. Because of this, studies show that up to 20% of pneumothorax cases are missed during standard examination — even by trained radiologists.</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eceee4a1b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3eeceee4a1b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ec8756d02_0_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eec8756d02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There are four major issues with existing approaches.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First, hidden stratification.</a:t>
            </a:r>
            <a:r>
              <a:rPr lang="en-US">
                <a:solidFill>
                  <a:schemeClr val="dk1"/>
                </a:solidFill>
              </a:rPr>
              <a:t> Classification models — models that just say "pneumothorax: yes or no" — often learn the wrong pattern. For example, they learn to associate the presence of a chest tube with a positive pneumothorax label, because chest tubes are inserted to </a:t>
            </a:r>
            <a:r>
              <a:rPr i="1" lang="en-US">
                <a:solidFill>
                  <a:schemeClr val="dk1"/>
                </a:solidFill>
              </a:rPr>
              <a:t>treat</a:t>
            </a:r>
            <a:r>
              <a:rPr lang="en-US">
                <a:solidFill>
                  <a:schemeClr val="dk1"/>
                </a:solidFill>
              </a:rPr>
              <a:t> pneumothorax. So the model isn't actually learning to detect the disease — it's learning to detect medical equipment. This inflates a fake validation accuracy but the model fails completely on untreated patients who don't have a chest tube yet — which are exactly the patients we most need to help.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Second, extreme class imbalance.</a:t>
            </a:r>
            <a:r>
              <a:rPr lang="en-US">
                <a:solidFill>
                  <a:schemeClr val="dk1"/>
                </a:solidFill>
              </a:rPr>
              <a:t> In the SIIM-ACR dataset, only 22% of images even have pneumothorax. And within those positive images, the lesion itself takes up less than 2% of the pixels. If you train with a standard loss function like Binary Cross Entropy, the model learns that predicting "background" everywhere gives a very low loss — so it just... does that. It learns nothing.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Third, low-contrast boundaries.</a:t>
            </a:r>
            <a:r>
              <a:rPr lang="en-US">
                <a:solidFill>
                  <a:schemeClr val="dk1"/>
                </a:solidFill>
              </a:rPr>
              <a:t> The edge between the collapsed lung and the trapped air is a subtle, low-gradient transition — not a sharp line. On top of that, superimposed ribs and blood vessel shadows overlap with this boundary, making it extremely hard for a model to learn the correct decision boundary.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Fourth, heavy computational cost.</a:t>
            </a:r>
            <a:r>
              <a:rPr lang="en-US">
                <a:solidFill>
                  <a:schemeClr val="dk1"/>
                </a:solidFill>
              </a:rPr>
              <a:t> The current best-performing models — like TGAPneumoSeg or ATRC-Net — use transformers or GAN-based(Generative Adversarial Network) architectures that require massive GPU resources, which most hospitals simply don't have.</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Based on these problems, I defined three objectives.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One</a:t>
            </a:r>
            <a:r>
              <a:rPr lang="en-US">
                <a:solidFill>
                  <a:schemeClr val="dk1"/>
                </a:solidFill>
              </a:rPr>
              <a:t>, develop a U-Net segmentation model with an EfficientNet-B0 encoder, specifically optimized to detect these subtle, low-contrast pneumothorax boundaries.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Two</a:t>
            </a:r>
            <a:r>
              <a:rPr lang="en-US">
                <a:solidFill>
                  <a:schemeClr val="dk1"/>
                </a:solidFill>
              </a:rPr>
              <a:t>, solve the extreme pixel-level class imbalance by combining CLAHE (Contrast Limited Adaptive Histogram Equalization) preprocessing with a Focal Tversky Loss function in the training pipeline.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Three</a:t>
            </a:r>
            <a:r>
              <a:rPr lang="en-US">
                <a:solidFill>
                  <a:schemeClr val="dk1"/>
                </a:solidFill>
              </a:rPr>
              <a:t>, measure performance using Dice Score and IoU — metrics that actually reflect lesion-localization quality, instead of being inflated by correctly predicting background pixels.</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6437c9ff21d91e0e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6437c9ff21d91e0e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CXR segmentation has evolved from classical image-processing methods like thresholding and watershed, to early deep learning models like U-Net and its variants, to today's advanced architectures using GANs, transformers, and multi-task learning.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Looking at the SOTA comparison table: TGAPneumoSeg and ATRC-Net achieve very high Dice and IoU scores — around 0.83 to 0.92 — but at "Very High" architectural complexity.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most relevant reference for my work is Lin et al. (2025), who used the exact same architecture I'm proposing — U-Net with EfficientNet-B0 — but with a basic training pipeline. Their result was only 0.30 mDice and 0.20 mIoU.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My hypothesis is: </a:t>
            </a:r>
            <a:r>
              <a:rPr b="1" lang="en-US">
                <a:solidFill>
                  <a:schemeClr val="dk1"/>
                </a:solidFill>
              </a:rPr>
              <a:t>the architecture itself isn't the bottleneck — the training pipeline is.</a:t>
            </a:r>
            <a:r>
              <a:rPr lang="en-US">
                <a:solidFill>
                  <a:schemeClr val="dk1"/>
                </a:solidFill>
              </a:rPr>
              <a:t> So my contribution is to keep this lightweight architecture, but build a significantly more optimized pipeline around it</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6437c9ff21d91e0e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6437c9ff21d91e0e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The full pipeline has six stages. Starting with the SIIM-ACR dataset of 12,047 DICOM chest X-rays. These go through preprocessing — resizing to 512×512, applying CLAHE, normalization, and augmentation. Then they're fed into the U-Net decoder with the EfficientNet-B0 encoder. Training uses Focal Tversky Loss combined with BCE, and a Cosine Annealing learning rate schedule. After training, post-processing applies thresholding, test-time augmentation, and morphological filtering. Finally, we evaluate using Dice Score and IoU on positive cases only.</a:t>
            </a:r>
            <a:endParaRPr/>
          </a:p>
          <a:p>
            <a:pPr indent="0" lvl="0" marL="0" rtl="0" algn="l">
              <a:lnSpc>
                <a:spcPct val="115000"/>
              </a:lnSpc>
              <a:spcBef>
                <a:spcPts val="1200"/>
              </a:spcBef>
              <a:spcAft>
                <a:spcPts val="0"/>
              </a:spcAft>
              <a:buClr>
                <a:schemeClr val="dk1"/>
              </a:buClr>
              <a:buSzPts val="1100"/>
              <a:buFont typeface="Arial"/>
              <a:buNone/>
            </a:pPr>
            <a:r>
              <a:rPr lang="en-US"/>
              <a:t>Every stage in this pipeline directly targets one of the two core challenges I mentioned earlier — class imbalance, or low contrast. I'll go through the key stages now.</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ee170d97a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3eee170d97a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The dataset is the SIIM-ACR Pneumothorax Segmentation dataset from the 2019 Kaggle challenge — 12,047 training images and 3,205 test images, all DICOM format with pixel-level expert annotations.</a:t>
            </a:r>
            <a:endParaRPr/>
          </a:p>
          <a:p>
            <a:pPr indent="0" lvl="0" marL="0" rtl="0" algn="l">
              <a:lnSpc>
                <a:spcPct val="115000"/>
              </a:lnSpc>
              <a:spcBef>
                <a:spcPts val="1200"/>
              </a:spcBef>
              <a:spcAft>
                <a:spcPts val="0"/>
              </a:spcAft>
              <a:buClr>
                <a:schemeClr val="dk1"/>
              </a:buClr>
              <a:buSzPts val="1100"/>
              <a:buFont typeface="Arial"/>
              <a:buNone/>
            </a:pPr>
            <a:r>
              <a:rPr lang="en-US"/>
              <a:t>As mentioned, only 22% of images are positive, and the foreground-to-background pixel ratio can be as extreme as 1:50 or worse.</a:t>
            </a:r>
            <a:endParaRPr/>
          </a:p>
          <a:p>
            <a:pPr indent="0" lvl="0" marL="0" rtl="0" algn="l">
              <a:lnSpc>
                <a:spcPct val="115000"/>
              </a:lnSpc>
              <a:spcBef>
                <a:spcPts val="1200"/>
              </a:spcBef>
              <a:spcAft>
                <a:spcPts val="0"/>
              </a:spcAft>
              <a:buClr>
                <a:schemeClr val="dk1"/>
              </a:buClr>
              <a:buSzPts val="1100"/>
              <a:buFont typeface="Arial"/>
              <a:buNone/>
            </a:pPr>
            <a:r>
              <a:rPr lang="en-US"/>
              <a:t>I chose this dataset for five reasons: it's an industry-standard benchmark, it has verified pixel-level annotations with no ambiguity, it directly resolves the hidden stratification problem better than classification datasets, it's used by both of my key references — Lin et al. and Mann et al. — and it's publicly available, so my results are fully reproducible.</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f1076ca001_1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3f1076ca001_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diagram shows the full architecture. On the left is the encoder — EfficientNet-B0 — which progressively downsamples the input image from 512×512 down to a 16×16 bottleneck, extracting increasingly abstract features. On the right is the U-Net decoder, which upsamples back to a full 512×512 segmentation mask. The dashed lines are skip connections, linking each encoder level to its corresponding decoder level.</a:t>
            </a:r>
            <a:endParaRPr/>
          </a:p>
          <a:p>
            <a:pPr indent="0" lvl="0" marL="0" rtl="0" algn="l">
              <a:lnSpc>
                <a:spcPct val="115000"/>
              </a:lnSpc>
              <a:spcBef>
                <a:spcPts val="1200"/>
              </a:spcBef>
              <a:spcAft>
                <a:spcPts val="0"/>
              </a:spcAft>
              <a:buClr>
                <a:schemeClr val="dk1"/>
              </a:buClr>
              <a:buSzPts val="1100"/>
              <a:buFont typeface="Arial"/>
              <a:buNone/>
            </a:pPr>
            <a:r>
              <a:rPr lang="en-US"/>
              <a:t>Why EfficientNet-B0 specifically? it's the smallest model in the EfficientNet family, at only about 5.3 million parameters. It uses compound scaling — balancing network depth, width, and resolution together rather than scaling one dimension at a time. Its building blocks, called MBConv blocks, use depthwise separable convolutions, which are computationally cheap but still expressive. It's pretrained on ImageNet, so it converges faster even with our limited number of positive training samples. And it naturally provides 5 feature levels, which map perfectly onto U-Net's 5 skip connections.</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eee98f34f1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g3eee98f34f1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On the decoder side — why U-Net specifically? U-Net is the medical imaging standard, proven for biomedical segmentation since 2015. Its defining feature is the skip connections, which bridge high-resolution encoder features directly to the decoder — this is what gives the model spatial precision, recovering exact pixel positions that would otherwise be lost during downsampling.</a:t>
            </a:r>
            <a:endParaRPr/>
          </a:p>
          <a:p>
            <a:pPr indent="0" lvl="0" marL="0" rtl="0" algn="l">
              <a:lnSpc>
                <a:spcPct val="115000"/>
              </a:lnSpc>
              <a:spcBef>
                <a:spcPts val="1200"/>
              </a:spcBef>
              <a:spcAft>
                <a:spcPts val="0"/>
              </a:spcAft>
              <a:buClr>
                <a:schemeClr val="dk1"/>
              </a:buClr>
              <a:buSzPts val="1100"/>
              <a:buFont typeface="Arial"/>
              <a:buNone/>
            </a:pPr>
            <a:r>
              <a:rPr lang="en-US"/>
              <a:t>This is especially critical for pneumothorax, because the pleural air pocket is thin and irregularly shaped — without those skip connections, the model would lose the fine boundary details needed to trace its exact outline.</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eee170d97a_0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g3eee170d97a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the core of my optimization strategy — the loss function.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Standard BCE loss gives equal weight to every pixel. Since 98% of pixels are background, the loss is dominated by background, and the model learns to predict background everywhere.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Dice Loss is better — it directly measures overlap — but it weighs False Positives and False Negatives equally. Clinically, that's the wrong trade-off: a missed lesion, a False Negative, is far more dangerous than a False Positive.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I use </a:t>
            </a:r>
            <a:r>
              <a:rPr b="1" lang="en-US">
                <a:solidFill>
                  <a:schemeClr val="dk1"/>
                </a:solidFill>
              </a:rPr>
              <a:t>Focal Tversky Loss</a:t>
            </a:r>
            <a:r>
              <a:rPr lang="en-US">
                <a:solidFill>
                  <a:schemeClr val="dk1"/>
                </a:solidFill>
              </a:rPr>
              <a:t>, with alpha equals 0.7 and beta equals 0.3 — meaning 70% of the imbalance penalty falls on missed lesions. The gamma parameter, set to 4 over 3, additionally upweights hard-to-classify small regions. The final loss combines this with BCE for training stability.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 the right — for the optimizer, I use Adam combined with Cosine Annealing with Warm Restarts. The learning rate cycles from a maximum value down to near zero following a cosine curve, then resets. This helps the optimizer escape shallow local minima that are common in this highly imbalanced loss landscape, and tends to converge to flatter, more generalizable minima.</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eee98f34f1_2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g3eee98f34f1_2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second optimization targets the low-contrast boundary problem, using CLAHE — Contrast Limited Adaptive Histogram Equalization.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pipeline works like this: the raw X-ray is divided into local tiles. Each tile's histogram is clipped at a threshold to limit noise amplification. A cumulative histogram map is computed per tile to enhance local contrast. Then bilinear interpolation blends neighboring tiles together smoothly. The result is an enhanced X-ray with a much clearer, amplified lesion boundary.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Why is this particularly effective for pneumothorax? Three reasons. </a:t>
            </a:r>
            <a:r>
              <a:rPr b="1" lang="en-US">
                <a:solidFill>
                  <a:schemeClr val="dk1"/>
                </a:solidFill>
              </a:rPr>
              <a:t>Local adaptivity</a:t>
            </a:r>
            <a:r>
              <a:rPr lang="en-US">
                <a:solidFill>
                  <a:schemeClr val="dk1"/>
                </a:solidFill>
              </a:rPr>
              <a:t> — the pleural boundary occupies a small spatial region with a narrow intensity range, so local tile-based enhancement amplifies exactly that region without being washed out by the much larger background. The </a:t>
            </a:r>
            <a:r>
              <a:rPr b="1" lang="en-US">
                <a:solidFill>
                  <a:schemeClr val="dk1"/>
                </a:solidFill>
              </a:rPr>
              <a:t>clip limit</a:t>
            </a:r>
            <a:r>
              <a:rPr lang="en-US">
                <a:solidFill>
                  <a:schemeClr val="dk1"/>
                </a:solidFill>
              </a:rPr>
              <a:t> prevents the noise amplification that would otherwise confuse the encoder. And the result is </a:t>
            </a:r>
            <a:r>
              <a:rPr b="1" lang="en-US">
                <a:solidFill>
                  <a:schemeClr val="dk1"/>
                </a:solidFill>
              </a:rPr>
              <a:t>better gradients</a:t>
            </a:r>
            <a:r>
              <a:rPr lang="en-US">
                <a:solidFill>
                  <a:schemeClr val="dk1"/>
                </a:solidFill>
              </a:rPr>
              <a:t> — sharper boundaries give the EfficientNet-B0 encoder richer gradient signals in its early layers, leading to faster convergence on lesion features during training.</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eee98f34f1_2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g3eee98f34f1_2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Why not just use pixel accuracy? Because in SIIM-ACR, background makes up 95 to 99% of all pixels. A model that predicts "background everywhere" — detecting nothing at all — would still score 95 to 99% accuracy. That number would be completely misleading.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Instead, I use two overlap-based metrics. </a:t>
            </a:r>
            <a:r>
              <a:rPr b="1" lang="en-US">
                <a:solidFill>
                  <a:schemeClr val="dk1"/>
                </a:solidFill>
              </a:rPr>
              <a:t>Intersection over Union</a:t>
            </a:r>
            <a:r>
              <a:rPr lang="en-US">
                <a:solidFill>
                  <a:schemeClr val="dk1"/>
                </a:solidFill>
              </a:rPr>
              <a:t>, or IoU, is the ratio of true positives over the union of predicted and ground truth masks — it's strict, because both false positives and false negatives independently reduce the score. A score of 1.0 means a perfect match.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Dice Similarity Coefficient</a:t>
            </a:r>
            <a:r>
              <a:rPr lang="en-US">
                <a:solidFill>
                  <a:schemeClr val="dk1"/>
                </a:solidFill>
              </a:rPr>
              <a:t> is the harmonic mean of precision and recall at the pixel level — slightly more forgiving for very small lesions. A Dice score of 0.30, for example, means the predicted and ground truth masks overlap by 30% of their average size.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Both metrics are computed only on positive test images and averaged — so the score directly reflects how well the model finds the actual lesion, not how well it ignores the background. This gives a direct, apples-to-apples comparison with the baseline from Lin et al. (2025), which achieved 0.30 mDice and 0.20 mIoU.</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ef04103b3f_3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g3ef04103b3f_3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Theoretical Benefits then Practical Benefits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f10f82a0e1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g3f10f82a0e1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Theoretical Benefits then Practical Benefits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ef04103b3f_3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g3ef04103b3f_3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Theoretical Benefits then Practical Benefits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ef04103b3f_3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g3ef04103b3f_3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"Our loss function is a hybrid approach. The core component is the Focal Tversky Loss, originally proposed by Abraham and Khan in 2019 specifically for imbalanced medical segmentation. We use their recommended parameters, weighing false negatives at 70%, because missing a lesion is clinically dangerous. We combine this with standard Binary Cross-Entropy, which stabilizes the pixel-level gradients during the early stages of training."</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f1076ca001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g3f1076ca001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Theoretical Benefits then Practical Benefits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1076ca001_1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g3f1076ca001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Theoretical Benefits then Practical Benefits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1076ca001_1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g3f1076ca001_1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Theoretical Benefits then Practical Benefits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f1076ca001_1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g3f1076ca001_1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Theoretical Benefits then Practical Benefits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f1076ca001_1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g3f1076ca001_1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Theoretical Benefits then Practical Benefits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f1076ca001_1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g3f1076ca001_1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Theoretical Benefits then Practical Benefits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5" name="Shape 15"/>
        <p:cNvGrpSpPr/>
        <p:nvPr/>
      </p:nvGrpSpPr>
      <p:grpSpPr>
        <a:xfrm>
          <a:off x="0" y="0"/>
          <a:ext cx="0" cy="0"/>
          <a:chOff x="0" y="0"/>
          <a:chExt cx="0" cy="0"/>
        </a:xfrm>
      </p:grpSpPr>
      <p:pic>
        <p:nvPicPr>
          <p:cNvPr descr="shutterstock_429987889_edited.jpg" id="16" name="Google Shape;16;p46"/>
          <p:cNvPicPr preferRelativeResize="0"/>
          <p:nvPr/>
        </p:nvPicPr>
        <p:blipFill rotWithShape="1">
          <a:blip r:embed="rId2">
            <a:alphaModFix/>
          </a:blip>
          <a:srcRect b="30833" l="0" r="0" t="18420"/>
          <a:stretch/>
        </p:blipFill>
        <p:spPr>
          <a:xfrm>
            <a:off x="0" y="487825"/>
            <a:ext cx="9144000" cy="4326274"/>
          </a:xfrm>
          <a:prstGeom prst="rect">
            <a:avLst/>
          </a:prstGeom>
          <a:noFill/>
          <a:ln>
            <a:noFill/>
          </a:ln>
        </p:spPr>
      </p:pic>
      <p:sp>
        <p:nvSpPr>
          <p:cNvPr id="17" name="Google Shape;17;p46"/>
          <p:cNvSpPr txBox="1"/>
          <p:nvPr>
            <p:ph type="ctrTitle"/>
          </p:nvPr>
        </p:nvSpPr>
        <p:spPr>
          <a:xfrm>
            <a:off x="2353950" y="759525"/>
            <a:ext cx="6430500" cy="166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74364"/>
              </a:buClr>
              <a:buSzPts val="2400"/>
              <a:buNone/>
              <a:defRPr sz="2400">
                <a:solidFill>
                  <a:srgbClr val="074364"/>
                </a:solidFill>
              </a:defRPr>
            </a:lvl1pPr>
            <a:lvl2pPr lvl="1" algn="l">
              <a:lnSpc>
                <a:spcPct val="100000"/>
              </a:lnSpc>
              <a:spcBef>
                <a:spcPts val="0"/>
              </a:spcBef>
              <a:spcAft>
                <a:spcPts val="0"/>
              </a:spcAft>
              <a:buClr>
                <a:schemeClr val="dk2"/>
              </a:buClr>
              <a:buSzPts val="2400"/>
              <a:buFont typeface="Proxima Nova"/>
              <a:buNone/>
              <a:defRPr sz="2400">
                <a:solidFill>
                  <a:schemeClr val="dk2"/>
                </a:solidFill>
                <a:latin typeface="Proxima Nova"/>
                <a:ea typeface="Proxima Nova"/>
                <a:cs typeface="Proxima Nova"/>
                <a:sym typeface="Proxima Nova"/>
              </a:defRPr>
            </a:lvl2pPr>
            <a:lvl3pPr lvl="2" algn="l">
              <a:lnSpc>
                <a:spcPct val="100000"/>
              </a:lnSpc>
              <a:spcBef>
                <a:spcPts val="0"/>
              </a:spcBef>
              <a:spcAft>
                <a:spcPts val="0"/>
              </a:spcAft>
              <a:buClr>
                <a:schemeClr val="dk2"/>
              </a:buClr>
              <a:buSzPts val="2400"/>
              <a:buFont typeface="Proxima Nova"/>
              <a:buNone/>
              <a:defRPr sz="2400">
                <a:solidFill>
                  <a:schemeClr val="dk2"/>
                </a:solidFill>
                <a:latin typeface="Proxima Nova"/>
                <a:ea typeface="Proxima Nova"/>
                <a:cs typeface="Proxima Nova"/>
                <a:sym typeface="Proxima Nova"/>
              </a:defRPr>
            </a:lvl3pPr>
            <a:lvl4pPr lvl="3" algn="l">
              <a:lnSpc>
                <a:spcPct val="100000"/>
              </a:lnSpc>
              <a:spcBef>
                <a:spcPts val="0"/>
              </a:spcBef>
              <a:spcAft>
                <a:spcPts val="0"/>
              </a:spcAft>
              <a:buClr>
                <a:schemeClr val="dk2"/>
              </a:buClr>
              <a:buSzPts val="2400"/>
              <a:buFont typeface="Proxima Nova"/>
              <a:buNone/>
              <a:defRPr sz="2400">
                <a:solidFill>
                  <a:schemeClr val="dk2"/>
                </a:solidFill>
                <a:latin typeface="Proxima Nova"/>
                <a:ea typeface="Proxima Nova"/>
                <a:cs typeface="Proxima Nova"/>
                <a:sym typeface="Proxima Nova"/>
              </a:defRPr>
            </a:lvl4pPr>
            <a:lvl5pPr lvl="4" algn="l">
              <a:lnSpc>
                <a:spcPct val="100000"/>
              </a:lnSpc>
              <a:spcBef>
                <a:spcPts val="0"/>
              </a:spcBef>
              <a:spcAft>
                <a:spcPts val="0"/>
              </a:spcAft>
              <a:buClr>
                <a:schemeClr val="dk2"/>
              </a:buClr>
              <a:buSzPts val="2400"/>
              <a:buFont typeface="Proxima Nova"/>
              <a:buNone/>
              <a:defRPr sz="2400">
                <a:solidFill>
                  <a:schemeClr val="dk2"/>
                </a:solidFill>
                <a:latin typeface="Proxima Nova"/>
                <a:ea typeface="Proxima Nova"/>
                <a:cs typeface="Proxima Nova"/>
                <a:sym typeface="Proxima Nova"/>
              </a:defRPr>
            </a:lvl5pPr>
            <a:lvl6pPr lvl="5" algn="l">
              <a:lnSpc>
                <a:spcPct val="100000"/>
              </a:lnSpc>
              <a:spcBef>
                <a:spcPts val="0"/>
              </a:spcBef>
              <a:spcAft>
                <a:spcPts val="0"/>
              </a:spcAft>
              <a:buClr>
                <a:schemeClr val="dk2"/>
              </a:buClr>
              <a:buSzPts val="2400"/>
              <a:buFont typeface="Proxima Nova"/>
              <a:buNone/>
              <a:defRPr sz="2400">
                <a:solidFill>
                  <a:schemeClr val="dk2"/>
                </a:solidFill>
                <a:latin typeface="Proxima Nova"/>
                <a:ea typeface="Proxima Nova"/>
                <a:cs typeface="Proxima Nova"/>
                <a:sym typeface="Proxima Nova"/>
              </a:defRPr>
            </a:lvl6pPr>
            <a:lvl7pPr lvl="6" algn="l">
              <a:lnSpc>
                <a:spcPct val="100000"/>
              </a:lnSpc>
              <a:spcBef>
                <a:spcPts val="0"/>
              </a:spcBef>
              <a:spcAft>
                <a:spcPts val="0"/>
              </a:spcAft>
              <a:buClr>
                <a:schemeClr val="dk2"/>
              </a:buClr>
              <a:buSzPts val="2400"/>
              <a:buFont typeface="Proxima Nova"/>
              <a:buNone/>
              <a:defRPr sz="2400">
                <a:solidFill>
                  <a:schemeClr val="dk2"/>
                </a:solidFill>
                <a:latin typeface="Proxima Nova"/>
                <a:ea typeface="Proxima Nova"/>
                <a:cs typeface="Proxima Nova"/>
                <a:sym typeface="Proxima Nova"/>
              </a:defRPr>
            </a:lvl7pPr>
            <a:lvl8pPr lvl="7" algn="l">
              <a:lnSpc>
                <a:spcPct val="100000"/>
              </a:lnSpc>
              <a:spcBef>
                <a:spcPts val="0"/>
              </a:spcBef>
              <a:spcAft>
                <a:spcPts val="0"/>
              </a:spcAft>
              <a:buClr>
                <a:schemeClr val="dk2"/>
              </a:buClr>
              <a:buSzPts val="2400"/>
              <a:buFont typeface="Proxima Nova"/>
              <a:buNone/>
              <a:defRPr sz="2400">
                <a:solidFill>
                  <a:schemeClr val="dk2"/>
                </a:solidFill>
                <a:latin typeface="Proxima Nova"/>
                <a:ea typeface="Proxima Nova"/>
                <a:cs typeface="Proxima Nova"/>
                <a:sym typeface="Proxima Nova"/>
              </a:defRPr>
            </a:lvl8pPr>
            <a:lvl9pPr lvl="8" algn="l">
              <a:lnSpc>
                <a:spcPct val="100000"/>
              </a:lnSpc>
              <a:spcBef>
                <a:spcPts val="0"/>
              </a:spcBef>
              <a:spcAft>
                <a:spcPts val="0"/>
              </a:spcAft>
              <a:buClr>
                <a:schemeClr val="dk2"/>
              </a:buClr>
              <a:buSzPts val="2400"/>
              <a:buFont typeface="Proxima Nova"/>
              <a:buNone/>
              <a:defRPr sz="2400">
                <a:solidFill>
                  <a:schemeClr val="dk2"/>
                </a:solidFill>
                <a:latin typeface="Proxima Nova"/>
                <a:ea typeface="Proxima Nova"/>
                <a:cs typeface="Proxima Nova"/>
                <a:sym typeface="Proxima Nova"/>
              </a:defRPr>
            </a:lvl9pPr>
          </a:lstStyle>
          <a:p/>
        </p:txBody>
      </p:sp>
      <p:sp>
        <p:nvSpPr>
          <p:cNvPr id="18" name="Google Shape;18;p46"/>
          <p:cNvSpPr txBox="1"/>
          <p:nvPr>
            <p:ph idx="1" type="subTitle"/>
          </p:nvPr>
        </p:nvSpPr>
        <p:spPr>
          <a:xfrm>
            <a:off x="4069325" y="3029850"/>
            <a:ext cx="4707600" cy="831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74364"/>
              </a:buClr>
              <a:buSzPts val="1400"/>
              <a:buFont typeface="Proxima Nova"/>
              <a:buNone/>
              <a:defRPr sz="1400">
                <a:solidFill>
                  <a:srgbClr val="074364"/>
                </a:solidFill>
                <a:latin typeface="Proxima Nova"/>
                <a:ea typeface="Proxima Nova"/>
                <a:cs typeface="Proxima Nova"/>
                <a:sym typeface="Proxima Nova"/>
              </a:defRPr>
            </a:lvl1pPr>
            <a:lvl2pPr lvl="1" algn="r">
              <a:lnSpc>
                <a:spcPct val="100000"/>
              </a:lnSpc>
              <a:spcBef>
                <a:spcPts val="0"/>
              </a:spcBef>
              <a:spcAft>
                <a:spcPts val="0"/>
              </a:spcAft>
              <a:buClr>
                <a:srgbClr val="074364"/>
              </a:buClr>
              <a:buSzPts val="1400"/>
              <a:buFont typeface="Proxima Nova"/>
              <a:buNone/>
              <a:defRPr sz="1400">
                <a:solidFill>
                  <a:srgbClr val="074364"/>
                </a:solidFill>
                <a:latin typeface="Proxima Nova"/>
                <a:ea typeface="Proxima Nova"/>
                <a:cs typeface="Proxima Nova"/>
                <a:sym typeface="Proxima Nova"/>
              </a:defRPr>
            </a:lvl2pPr>
            <a:lvl3pPr lvl="2" algn="r">
              <a:lnSpc>
                <a:spcPct val="100000"/>
              </a:lnSpc>
              <a:spcBef>
                <a:spcPts val="0"/>
              </a:spcBef>
              <a:spcAft>
                <a:spcPts val="0"/>
              </a:spcAft>
              <a:buClr>
                <a:srgbClr val="074364"/>
              </a:buClr>
              <a:buSzPts val="1400"/>
              <a:buFont typeface="Proxima Nova"/>
              <a:buNone/>
              <a:defRPr sz="1400">
                <a:solidFill>
                  <a:srgbClr val="074364"/>
                </a:solidFill>
                <a:latin typeface="Proxima Nova"/>
                <a:ea typeface="Proxima Nova"/>
                <a:cs typeface="Proxima Nova"/>
                <a:sym typeface="Proxima Nova"/>
              </a:defRPr>
            </a:lvl3pPr>
            <a:lvl4pPr lvl="3" algn="r">
              <a:lnSpc>
                <a:spcPct val="100000"/>
              </a:lnSpc>
              <a:spcBef>
                <a:spcPts val="0"/>
              </a:spcBef>
              <a:spcAft>
                <a:spcPts val="0"/>
              </a:spcAft>
              <a:buClr>
                <a:srgbClr val="074364"/>
              </a:buClr>
              <a:buSzPts val="1400"/>
              <a:buFont typeface="Proxima Nova"/>
              <a:buNone/>
              <a:defRPr sz="1400">
                <a:solidFill>
                  <a:srgbClr val="074364"/>
                </a:solidFill>
                <a:latin typeface="Proxima Nova"/>
                <a:ea typeface="Proxima Nova"/>
                <a:cs typeface="Proxima Nova"/>
                <a:sym typeface="Proxima Nova"/>
              </a:defRPr>
            </a:lvl4pPr>
            <a:lvl5pPr lvl="4" algn="r">
              <a:lnSpc>
                <a:spcPct val="100000"/>
              </a:lnSpc>
              <a:spcBef>
                <a:spcPts val="0"/>
              </a:spcBef>
              <a:spcAft>
                <a:spcPts val="0"/>
              </a:spcAft>
              <a:buClr>
                <a:srgbClr val="074364"/>
              </a:buClr>
              <a:buSzPts val="1400"/>
              <a:buFont typeface="Proxima Nova"/>
              <a:buNone/>
              <a:defRPr sz="1400">
                <a:solidFill>
                  <a:srgbClr val="074364"/>
                </a:solidFill>
                <a:latin typeface="Proxima Nova"/>
                <a:ea typeface="Proxima Nova"/>
                <a:cs typeface="Proxima Nova"/>
                <a:sym typeface="Proxima Nova"/>
              </a:defRPr>
            </a:lvl5pPr>
            <a:lvl6pPr lvl="5" algn="r">
              <a:lnSpc>
                <a:spcPct val="100000"/>
              </a:lnSpc>
              <a:spcBef>
                <a:spcPts val="0"/>
              </a:spcBef>
              <a:spcAft>
                <a:spcPts val="0"/>
              </a:spcAft>
              <a:buClr>
                <a:srgbClr val="074364"/>
              </a:buClr>
              <a:buSzPts val="1400"/>
              <a:buFont typeface="Proxima Nova"/>
              <a:buNone/>
              <a:defRPr sz="1400">
                <a:solidFill>
                  <a:srgbClr val="074364"/>
                </a:solidFill>
                <a:latin typeface="Proxima Nova"/>
                <a:ea typeface="Proxima Nova"/>
                <a:cs typeface="Proxima Nova"/>
                <a:sym typeface="Proxima Nova"/>
              </a:defRPr>
            </a:lvl6pPr>
            <a:lvl7pPr lvl="6" algn="r">
              <a:lnSpc>
                <a:spcPct val="100000"/>
              </a:lnSpc>
              <a:spcBef>
                <a:spcPts val="0"/>
              </a:spcBef>
              <a:spcAft>
                <a:spcPts val="0"/>
              </a:spcAft>
              <a:buClr>
                <a:srgbClr val="074364"/>
              </a:buClr>
              <a:buSzPts val="1400"/>
              <a:buFont typeface="Proxima Nova"/>
              <a:buNone/>
              <a:defRPr sz="1400">
                <a:solidFill>
                  <a:srgbClr val="074364"/>
                </a:solidFill>
                <a:latin typeface="Proxima Nova"/>
                <a:ea typeface="Proxima Nova"/>
                <a:cs typeface="Proxima Nova"/>
                <a:sym typeface="Proxima Nova"/>
              </a:defRPr>
            </a:lvl7pPr>
            <a:lvl8pPr lvl="7" algn="r">
              <a:lnSpc>
                <a:spcPct val="100000"/>
              </a:lnSpc>
              <a:spcBef>
                <a:spcPts val="0"/>
              </a:spcBef>
              <a:spcAft>
                <a:spcPts val="0"/>
              </a:spcAft>
              <a:buClr>
                <a:srgbClr val="074364"/>
              </a:buClr>
              <a:buSzPts val="1400"/>
              <a:buFont typeface="Proxima Nova"/>
              <a:buNone/>
              <a:defRPr sz="1400">
                <a:solidFill>
                  <a:srgbClr val="074364"/>
                </a:solidFill>
                <a:latin typeface="Proxima Nova"/>
                <a:ea typeface="Proxima Nova"/>
                <a:cs typeface="Proxima Nova"/>
                <a:sym typeface="Proxima Nova"/>
              </a:defRPr>
            </a:lvl8pPr>
            <a:lvl9pPr lvl="8" algn="r">
              <a:lnSpc>
                <a:spcPct val="100000"/>
              </a:lnSpc>
              <a:spcBef>
                <a:spcPts val="0"/>
              </a:spcBef>
              <a:spcAft>
                <a:spcPts val="0"/>
              </a:spcAft>
              <a:buClr>
                <a:srgbClr val="074364"/>
              </a:buClr>
              <a:buSzPts val="1400"/>
              <a:buFont typeface="Proxima Nova"/>
              <a:buNone/>
              <a:defRPr sz="1400">
                <a:solidFill>
                  <a:srgbClr val="074364"/>
                </a:solidFill>
                <a:latin typeface="Proxima Nova"/>
                <a:ea typeface="Proxima Nova"/>
                <a:cs typeface="Proxima Nova"/>
                <a:sym typeface="Proxima Nova"/>
              </a:defRPr>
            </a:lvl9pPr>
          </a:lstStyle>
          <a:p/>
        </p:txBody>
      </p:sp>
      <p:sp>
        <p:nvSpPr>
          <p:cNvPr id="19" name="Google Shape;19;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46"/>
          <p:cNvSpPr/>
          <p:nvPr/>
        </p:nvSpPr>
        <p:spPr>
          <a:xfrm flipH="1">
            <a:off x="479550" y="0"/>
            <a:ext cx="1874400" cy="2945400"/>
          </a:xfrm>
          <a:prstGeom prst="rect">
            <a:avLst/>
          </a:prstGeom>
          <a:solidFill>
            <a:srgbClr val="F4F5FB"/>
          </a:solidFill>
          <a:ln>
            <a:noFill/>
          </a:ln>
          <a:effectLst>
            <a:outerShdw blurRad="57150" rotWithShape="0" algn="bl" dir="5400000" dist="19050">
              <a:srgbClr val="000000">
                <a:alpha val="109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6"/>
          <p:cNvSpPr/>
          <p:nvPr/>
        </p:nvSpPr>
        <p:spPr>
          <a:xfrm flipH="1">
            <a:off x="479550" y="2935650"/>
            <a:ext cx="1874400" cy="94200"/>
          </a:xfrm>
          <a:prstGeom prst="rect">
            <a:avLst/>
          </a:prstGeom>
          <a:solidFill>
            <a:srgbClr val="0743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 name="Google Shape;22;p46"/>
          <p:cNvPicPr preferRelativeResize="0"/>
          <p:nvPr/>
        </p:nvPicPr>
        <p:blipFill rotWithShape="1">
          <a:blip r:embed="rId3">
            <a:alphaModFix/>
          </a:blip>
          <a:srcRect b="0" l="0" r="0" t="0"/>
          <a:stretch/>
        </p:blipFill>
        <p:spPr>
          <a:xfrm>
            <a:off x="479550" y="535500"/>
            <a:ext cx="1874399" cy="1874399"/>
          </a:xfrm>
          <a:prstGeom prst="rect">
            <a:avLst/>
          </a:prstGeom>
          <a:noFill/>
          <a:ln>
            <a:noFill/>
          </a:ln>
        </p:spPr>
      </p:pic>
      <p:sp>
        <p:nvSpPr>
          <p:cNvPr id="23" name="Google Shape;23;p46"/>
          <p:cNvSpPr/>
          <p:nvPr/>
        </p:nvSpPr>
        <p:spPr>
          <a:xfrm>
            <a:off x="0" y="4814100"/>
            <a:ext cx="2339400" cy="342900"/>
          </a:xfrm>
          <a:prstGeom prst="rect">
            <a:avLst/>
          </a:prstGeom>
          <a:solidFill>
            <a:srgbClr val="0743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46"/>
          <p:cNvSpPr txBox="1"/>
          <p:nvPr/>
        </p:nvSpPr>
        <p:spPr>
          <a:xfrm>
            <a:off x="479550" y="4807350"/>
            <a:ext cx="1380300" cy="342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Quattrocento Sans"/>
                <a:ea typeface="Quattrocento Sans"/>
                <a:cs typeface="Quattrocento Sans"/>
                <a:sym typeface="Quattrocento Sans"/>
              </a:rPr>
              <a:t>www.ugm.ac.id</a:t>
            </a:r>
            <a:endParaRPr b="1" i="0" sz="1200" u="none" cap="none" strike="noStrike">
              <a:solidFill>
                <a:srgbClr val="FFFFFF"/>
              </a:solidFill>
              <a:latin typeface="Quattrocento Sans"/>
              <a:ea typeface="Quattrocento Sans"/>
              <a:cs typeface="Quattrocento Sans"/>
              <a:sym typeface="Quattrocento Sans"/>
            </a:endParaRPr>
          </a:p>
        </p:txBody>
      </p:sp>
      <p:sp>
        <p:nvSpPr>
          <p:cNvPr id="25" name="Google Shape;25;p46"/>
          <p:cNvSpPr txBox="1"/>
          <p:nvPr/>
        </p:nvSpPr>
        <p:spPr>
          <a:xfrm>
            <a:off x="3207450" y="4807350"/>
            <a:ext cx="3450900" cy="342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74364"/>
                </a:solidFill>
                <a:latin typeface="Quattrocento Sans"/>
                <a:ea typeface="Quattrocento Sans"/>
                <a:cs typeface="Quattrocento Sans"/>
                <a:sym typeface="Quattrocento Sans"/>
              </a:rPr>
              <a:t>Locally Rooted, Globally Respected</a:t>
            </a:r>
            <a:endParaRPr b="0" i="0" sz="1200" u="none" cap="none" strike="noStrike">
              <a:solidFill>
                <a:srgbClr val="074364"/>
              </a:solidFill>
              <a:latin typeface="Quattrocento Sans"/>
              <a:ea typeface="Quattrocento Sans"/>
              <a:cs typeface="Quattrocento Sans"/>
              <a:sym typeface="Quattrocento Sans"/>
            </a:endParaRPr>
          </a:p>
        </p:txBody>
      </p:sp>
      <p:sp>
        <p:nvSpPr>
          <p:cNvPr id="26" name="Google Shape;26;p46"/>
          <p:cNvSpPr txBox="1"/>
          <p:nvPr>
            <p:ph idx="2" type="subTitle"/>
          </p:nvPr>
        </p:nvSpPr>
        <p:spPr>
          <a:xfrm>
            <a:off x="4835300" y="2310150"/>
            <a:ext cx="3941700" cy="5412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1400"/>
              <a:buNone/>
              <a:defRPr sz="1400"/>
            </a:lvl1pPr>
            <a:lvl2pPr lvl="1" algn="r">
              <a:lnSpc>
                <a:spcPct val="115000"/>
              </a:lnSpc>
              <a:spcBef>
                <a:spcPts val="1600"/>
              </a:spcBef>
              <a:spcAft>
                <a:spcPts val="0"/>
              </a:spcAft>
              <a:buSzPts val="1100"/>
              <a:buNone/>
              <a:defRPr/>
            </a:lvl2pPr>
            <a:lvl3pPr lvl="2" algn="r">
              <a:lnSpc>
                <a:spcPct val="115000"/>
              </a:lnSpc>
              <a:spcBef>
                <a:spcPts val="1600"/>
              </a:spcBef>
              <a:spcAft>
                <a:spcPts val="0"/>
              </a:spcAft>
              <a:buSzPts val="1100"/>
              <a:buNone/>
              <a:defRPr/>
            </a:lvl3pPr>
            <a:lvl4pPr lvl="3" algn="r">
              <a:lnSpc>
                <a:spcPct val="115000"/>
              </a:lnSpc>
              <a:spcBef>
                <a:spcPts val="1600"/>
              </a:spcBef>
              <a:spcAft>
                <a:spcPts val="0"/>
              </a:spcAft>
              <a:buSzPts val="1100"/>
              <a:buNone/>
              <a:defRPr/>
            </a:lvl4pPr>
            <a:lvl5pPr lvl="4" algn="r">
              <a:lnSpc>
                <a:spcPct val="115000"/>
              </a:lnSpc>
              <a:spcBef>
                <a:spcPts val="1600"/>
              </a:spcBef>
              <a:spcAft>
                <a:spcPts val="0"/>
              </a:spcAft>
              <a:buSzPts val="1100"/>
              <a:buNone/>
              <a:defRPr/>
            </a:lvl5pPr>
            <a:lvl6pPr lvl="5" algn="r">
              <a:lnSpc>
                <a:spcPct val="115000"/>
              </a:lnSpc>
              <a:spcBef>
                <a:spcPts val="1600"/>
              </a:spcBef>
              <a:spcAft>
                <a:spcPts val="0"/>
              </a:spcAft>
              <a:buSzPts val="1100"/>
              <a:buNone/>
              <a:defRPr/>
            </a:lvl6pPr>
            <a:lvl7pPr lvl="6" algn="r">
              <a:lnSpc>
                <a:spcPct val="115000"/>
              </a:lnSpc>
              <a:spcBef>
                <a:spcPts val="1600"/>
              </a:spcBef>
              <a:spcAft>
                <a:spcPts val="0"/>
              </a:spcAft>
              <a:buSzPts val="1100"/>
              <a:buNone/>
              <a:defRPr/>
            </a:lvl7pPr>
            <a:lvl8pPr lvl="7" algn="r">
              <a:lnSpc>
                <a:spcPct val="115000"/>
              </a:lnSpc>
              <a:spcBef>
                <a:spcPts val="1600"/>
              </a:spcBef>
              <a:spcAft>
                <a:spcPts val="0"/>
              </a:spcAft>
              <a:buSzPts val="1100"/>
              <a:buNone/>
              <a:defRPr/>
            </a:lvl8pPr>
            <a:lvl9pPr lvl="8" algn="r">
              <a:lnSpc>
                <a:spcPct val="115000"/>
              </a:lnSpc>
              <a:spcBef>
                <a:spcPts val="1600"/>
              </a:spcBef>
              <a:spcAft>
                <a:spcPts val="1600"/>
              </a:spcAft>
              <a:buSzPts val="1100"/>
              <a:buNone/>
              <a:defRPr/>
            </a:lvl9pPr>
          </a:lstStyle>
          <a:p/>
        </p:txBody>
      </p:sp>
      <p:sp>
        <p:nvSpPr>
          <p:cNvPr id="27" name="Google Shape;27;p46"/>
          <p:cNvSpPr txBox="1"/>
          <p:nvPr>
            <p:ph idx="3" type="subTitle"/>
          </p:nvPr>
        </p:nvSpPr>
        <p:spPr>
          <a:xfrm>
            <a:off x="5250225" y="398025"/>
            <a:ext cx="3534300" cy="3936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Clr>
                <a:srgbClr val="074364"/>
              </a:buClr>
              <a:buSzPts val="1400"/>
              <a:buFont typeface="Proxima Nova"/>
              <a:buNone/>
              <a:defRPr sz="1400">
                <a:solidFill>
                  <a:srgbClr val="074364"/>
                </a:solidFill>
                <a:latin typeface="Proxima Nova"/>
                <a:ea typeface="Proxima Nova"/>
                <a:cs typeface="Proxima Nova"/>
                <a:sym typeface="Proxima Nova"/>
              </a:defRPr>
            </a:lvl1pPr>
            <a:lvl2pPr lvl="1" algn="l">
              <a:lnSpc>
                <a:spcPct val="115000"/>
              </a:lnSpc>
              <a:spcBef>
                <a:spcPts val="1600"/>
              </a:spcBef>
              <a:spcAft>
                <a:spcPts val="0"/>
              </a:spcAft>
              <a:buSzPts val="1100"/>
              <a:buNone/>
              <a:defRPr/>
            </a:lvl2pPr>
            <a:lvl3pPr lvl="2" algn="l">
              <a:lnSpc>
                <a:spcPct val="115000"/>
              </a:lnSpc>
              <a:spcBef>
                <a:spcPts val="1600"/>
              </a:spcBef>
              <a:spcAft>
                <a:spcPts val="0"/>
              </a:spcAft>
              <a:buSzPts val="11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100"/>
              <a:buNone/>
              <a:defRPr/>
            </a:lvl5pPr>
            <a:lvl6pPr lvl="5" algn="l">
              <a:lnSpc>
                <a:spcPct val="115000"/>
              </a:lnSpc>
              <a:spcBef>
                <a:spcPts val="1600"/>
              </a:spcBef>
              <a:spcAft>
                <a:spcPts val="0"/>
              </a:spcAft>
              <a:buSzPts val="1100"/>
              <a:buNone/>
              <a:defRPr/>
            </a:lvl6pPr>
            <a:lvl7pPr lvl="6" algn="l">
              <a:lnSpc>
                <a:spcPct val="115000"/>
              </a:lnSpc>
              <a:spcBef>
                <a:spcPts val="1600"/>
              </a:spcBef>
              <a:spcAft>
                <a:spcPts val="0"/>
              </a:spcAft>
              <a:buSzPts val="1100"/>
              <a:buNone/>
              <a:defRPr/>
            </a:lvl7pPr>
            <a:lvl8pPr lvl="7" algn="l">
              <a:lnSpc>
                <a:spcPct val="115000"/>
              </a:lnSpc>
              <a:spcBef>
                <a:spcPts val="1600"/>
              </a:spcBef>
              <a:spcAft>
                <a:spcPts val="0"/>
              </a:spcAft>
              <a:buSzPts val="1100"/>
              <a:buNone/>
              <a:defRPr/>
            </a:lvl8pPr>
            <a:lvl9pPr lvl="8" algn="l">
              <a:lnSpc>
                <a:spcPct val="115000"/>
              </a:lnSpc>
              <a:spcBef>
                <a:spcPts val="1600"/>
              </a:spcBef>
              <a:spcAft>
                <a:spcPts val="1600"/>
              </a:spcAft>
              <a:buSzPts val="11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Section 1">
  <p:cSld name="CUSTOM_1">
    <p:spTree>
      <p:nvGrpSpPr>
        <p:cNvPr id="28" name="Shape 28"/>
        <p:cNvGrpSpPr/>
        <p:nvPr/>
      </p:nvGrpSpPr>
      <p:grpSpPr>
        <a:xfrm>
          <a:off x="0" y="0"/>
          <a:ext cx="0" cy="0"/>
          <a:chOff x="0" y="0"/>
          <a:chExt cx="0" cy="0"/>
        </a:xfrm>
      </p:grpSpPr>
      <p:pic>
        <p:nvPicPr>
          <p:cNvPr id="29" name="Google Shape;29;p47"/>
          <p:cNvPicPr preferRelativeResize="0"/>
          <p:nvPr/>
        </p:nvPicPr>
        <p:blipFill rotWithShape="1">
          <a:blip r:embed="rId2">
            <a:alphaModFix/>
          </a:blip>
          <a:srcRect b="13539" l="0" r="53303" t="0"/>
          <a:stretch/>
        </p:blipFill>
        <p:spPr>
          <a:xfrm>
            <a:off x="0" y="0"/>
            <a:ext cx="4269951" cy="4820774"/>
          </a:xfrm>
          <a:prstGeom prst="rect">
            <a:avLst/>
          </a:prstGeom>
          <a:noFill/>
          <a:ln>
            <a:noFill/>
          </a:ln>
        </p:spPr>
      </p:pic>
      <p:sp>
        <p:nvSpPr>
          <p:cNvPr id="30" name="Google Shape;30;p47"/>
          <p:cNvSpPr/>
          <p:nvPr/>
        </p:nvSpPr>
        <p:spPr>
          <a:xfrm>
            <a:off x="3253475" y="1900375"/>
            <a:ext cx="124200" cy="2916000"/>
          </a:xfrm>
          <a:prstGeom prst="rect">
            <a:avLst/>
          </a:prstGeom>
          <a:solidFill>
            <a:srgbClr val="0743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7"/>
          <p:cNvSpPr txBox="1"/>
          <p:nvPr>
            <p:ph type="title"/>
          </p:nvPr>
        </p:nvSpPr>
        <p:spPr>
          <a:xfrm>
            <a:off x="-54925" y="1900375"/>
            <a:ext cx="3432600" cy="1106400"/>
          </a:xfrm>
          <a:prstGeom prst="rect">
            <a:avLst/>
          </a:prstGeom>
          <a:solidFill>
            <a:srgbClr val="F4F5FB"/>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000">
                <a:solidFill>
                  <a:srgbClr val="074364"/>
                </a:solidFill>
              </a:defRPr>
            </a:lvl1pPr>
            <a:lvl2pPr lvl="1" algn="r">
              <a:lnSpc>
                <a:spcPct val="100000"/>
              </a:lnSpc>
              <a:spcBef>
                <a:spcPts val="0"/>
              </a:spcBef>
              <a:spcAft>
                <a:spcPts val="0"/>
              </a:spcAft>
              <a:buSzPts val="2800"/>
              <a:buNone/>
              <a:defRPr sz="3600"/>
            </a:lvl2pPr>
            <a:lvl3pPr lvl="2" algn="r">
              <a:lnSpc>
                <a:spcPct val="100000"/>
              </a:lnSpc>
              <a:spcBef>
                <a:spcPts val="0"/>
              </a:spcBef>
              <a:spcAft>
                <a:spcPts val="0"/>
              </a:spcAft>
              <a:buSzPts val="2800"/>
              <a:buNone/>
              <a:defRPr sz="3600"/>
            </a:lvl3pPr>
            <a:lvl4pPr lvl="3" algn="r">
              <a:lnSpc>
                <a:spcPct val="100000"/>
              </a:lnSpc>
              <a:spcBef>
                <a:spcPts val="0"/>
              </a:spcBef>
              <a:spcAft>
                <a:spcPts val="0"/>
              </a:spcAft>
              <a:buSzPts val="2800"/>
              <a:buNone/>
              <a:defRPr sz="3600"/>
            </a:lvl4pPr>
            <a:lvl5pPr lvl="4" algn="r">
              <a:lnSpc>
                <a:spcPct val="100000"/>
              </a:lnSpc>
              <a:spcBef>
                <a:spcPts val="0"/>
              </a:spcBef>
              <a:spcAft>
                <a:spcPts val="0"/>
              </a:spcAft>
              <a:buSzPts val="2800"/>
              <a:buNone/>
              <a:defRPr sz="3600"/>
            </a:lvl5pPr>
            <a:lvl6pPr lvl="5" algn="r">
              <a:lnSpc>
                <a:spcPct val="100000"/>
              </a:lnSpc>
              <a:spcBef>
                <a:spcPts val="0"/>
              </a:spcBef>
              <a:spcAft>
                <a:spcPts val="0"/>
              </a:spcAft>
              <a:buSzPts val="2800"/>
              <a:buNone/>
              <a:defRPr sz="3600"/>
            </a:lvl6pPr>
            <a:lvl7pPr lvl="6" algn="r">
              <a:lnSpc>
                <a:spcPct val="100000"/>
              </a:lnSpc>
              <a:spcBef>
                <a:spcPts val="0"/>
              </a:spcBef>
              <a:spcAft>
                <a:spcPts val="0"/>
              </a:spcAft>
              <a:buSzPts val="2800"/>
              <a:buNone/>
              <a:defRPr sz="3600"/>
            </a:lvl7pPr>
            <a:lvl8pPr lvl="7" algn="r">
              <a:lnSpc>
                <a:spcPct val="100000"/>
              </a:lnSpc>
              <a:spcBef>
                <a:spcPts val="0"/>
              </a:spcBef>
              <a:spcAft>
                <a:spcPts val="0"/>
              </a:spcAft>
              <a:buSzPts val="2800"/>
              <a:buNone/>
              <a:defRPr sz="3600"/>
            </a:lvl8pPr>
            <a:lvl9pPr lvl="8" algn="r">
              <a:lnSpc>
                <a:spcPct val="100000"/>
              </a:lnSpc>
              <a:spcBef>
                <a:spcPts val="0"/>
              </a:spcBef>
              <a:spcAft>
                <a:spcPts val="0"/>
              </a:spcAft>
              <a:buSzPts val="2800"/>
              <a:buNone/>
              <a:defRPr sz="3600"/>
            </a:lvl9pPr>
          </a:lstStyle>
          <a:p/>
        </p:txBody>
      </p:sp>
      <p:sp>
        <p:nvSpPr>
          <p:cNvPr id="32" name="Google Shape;32;p47"/>
          <p:cNvSpPr txBox="1"/>
          <p:nvPr>
            <p:ph idx="1" type="body"/>
          </p:nvPr>
        </p:nvSpPr>
        <p:spPr>
          <a:xfrm>
            <a:off x="4956425" y="876075"/>
            <a:ext cx="4187700" cy="29418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rgbClr val="000000"/>
              </a:buClr>
              <a:buSzPts val="1800"/>
              <a:buChar char="●"/>
              <a:defRPr>
                <a:solidFill>
                  <a:srgbClr val="000000"/>
                </a:solidFill>
              </a:defRPr>
            </a:lvl1pPr>
            <a:lvl2pPr indent="-298450" lvl="1" marL="914400" algn="l">
              <a:lnSpc>
                <a:spcPct val="115000"/>
              </a:lnSpc>
              <a:spcBef>
                <a:spcPts val="1600"/>
              </a:spcBef>
              <a:spcAft>
                <a:spcPts val="0"/>
              </a:spcAft>
              <a:buClr>
                <a:srgbClr val="000000"/>
              </a:buClr>
              <a:buSzPts val="1100"/>
              <a:buChar char="○"/>
              <a:defRPr>
                <a:solidFill>
                  <a:srgbClr val="000000"/>
                </a:solidFill>
              </a:defRPr>
            </a:lvl2pPr>
            <a:lvl3pPr indent="-298450" lvl="2" marL="1371600" algn="l">
              <a:lnSpc>
                <a:spcPct val="115000"/>
              </a:lnSpc>
              <a:spcBef>
                <a:spcPts val="1600"/>
              </a:spcBef>
              <a:spcAft>
                <a:spcPts val="0"/>
              </a:spcAft>
              <a:buClr>
                <a:srgbClr val="000000"/>
              </a:buClr>
              <a:buSzPts val="1100"/>
              <a:buChar char="■"/>
              <a:defRPr>
                <a:solidFill>
                  <a:srgbClr val="000000"/>
                </a:solidFill>
              </a:defRPr>
            </a:lvl3pPr>
            <a:lvl4pPr indent="-298450" lvl="3" marL="1828800" algn="l">
              <a:lnSpc>
                <a:spcPct val="115000"/>
              </a:lnSpc>
              <a:spcBef>
                <a:spcPts val="1600"/>
              </a:spcBef>
              <a:spcAft>
                <a:spcPts val="0"/>
              </a:spcAft>
              <a:buClr>
                <a:srgbClr val="000000"/>
              </a:buClr>
              <a:buSzPts val="1100"/>
              <a:buChar char="●"/>
              <a:defRPr>
                <a:solidFill>
                  <a:srgbClr val="000000"/>
                </a:solidFill>
              </a:defRPr>
            </a:lvl4pPr>
            <a:lvl5pPr indent="-298450" lvl="4" marL="2286000" algn="l">
              <a:lnSpc>
                <a:spcPct val="115000"/>
              </a:lnSpc>
              <a:spcBef>
                <a:spcPts val="1600"/>
              </a:spcBef>
              <a:spcAft>
                <a:spcPts val="0"/>
              </a:spcAft>
              <a:buClr>
                <a:srgbClr val="000000"/>
              </a:buClr>
              <a:buSzPts val="1100"/>
              <a:buChar char="○"/>
              <a:defRPr>
                <a:solidFill>
                  <a:srgbClr val="000000"/>
                </a:solidFill>
              </a:defRPr>
            </a:lvl5pPr>
            <a:lvl6pPr indent="-298450" lvl="5" marL="2743200" algn="l">
              <a:lnSpc>
                <a:spcPct val="115000"/>
              </a:lnSpc>
              <a:spcBef>
                <a:spcPts val="1600"/>
              </a:spcBef>
              <a:spcAft>
                <a:spcPts val="0"/>
              </a:spcAft>
              <a:buClr>
                <a:srgbClr val="000000"/>
              </a:buClr>
              <a:buSzPts val="1100"/>
              <a:buChar char="■"/>
              <a:defRPr>
                <a:solidFill>
                  <a:srgbClr val="000000"/>
                </a:solidFill>
              </a:defRPr>
            </a:lvl6pPr>
            <a:lvl7pPr indent="-298450" lvl="6" marL="3200400" algn="l">
              <a:lnSpc>
                <a:spcPct val="115000"/>
              </a:lnSpc>
              <a:spcBef>
                <a:spcPts val="1600"/>
              </a:spcBef>
              <a:spcAft>
                <a:spcPts val="0"/>
              </a:spcAft>
              <a:buClr>
                <a:srgbClr val="000000"/>
              </a:buClr>
              <a:buSzPts val="1100"/>
              <a:buChar char="●"/>
              <a:defRPr>
                <a:solidFill>
                  <a:srgbClr val="000000"/>
                </a:solidFill>
              </a:defRPr>
            </a:lvl7pPr>
            <a:lvl8pPr indent="-298450" lvl="7" marL="3657600" algn="l">
              <a:lnSpc>
                <a:spcPct val="115000"/>
              </a:lnSpc>
              <a:spcBef>
                <a:spcPts val="1600"/>
              </a:spcBef>
              <a:spcAft>
                <a:spcPts val="0"/>
              </a:spcAft>
              <a:buClr>
                <a:srgbClr val="000000"/>
              </a:buClr>
              <a:buSzPts val="1100"/>
              <a:buChar char="○"/>
              <a:defRPr>
                <a:solidFill>
                  <a:srgbClr val="000000"/>
                </a:solidFill>
              </a:defRPr>
            </a:lvl8pPr>
            <a:lvl9pPr indent="-298450" lvl="8" marL="4114800" algn="l">
              <a:lnSpc>
                <a:spcPct val="115000"/>
              </a:lnSpc>
              <a:spcBef>
                <a:spcPts val="1600"/>
              </a:spcBef>
              <a:spcAft>
                <a:spcPts val="1600"/>
              </a:spcAft>
              <a:buClr>
                <a:srgbClr val="000000"/>
              </a:buClr>
              <a:buSzPts val="1100"/>
              <a:buChar char="■"/>
              <a:defRPr>
                <a:solidFill>
                  <a:srgbClr val="000000"/>
                </a:solidFill>
              </a:defRPr>
            </a:lvl9pPr>
          </a:lstStyle>
          <a:p/>
        </p:txBody>
      </p:sp>
      <p:pic>
        <p:nvPicPr>
          <p:cNvPr id="33" name="Google Shape;33;p47"/>
          <p:cNvPicPr preferRelativeResize="0"/>
          <p:nvPr/>
        </p:nvPicPr>
        <p:blipFill rotWithShape="1">
          <a:blip r:embed="rId3">
            <a:alphaModFix/>
          </a:blip>
          <a:srcRect b="0" l="0" r="0" t="0"/>
          <a:stretch/>
        </p:blipFill>
        <p:spPr>
          <a:xfrm>
            <a:off x="288950" y="213750"/>
            <a:ext cx="1550826" cy="1550826"/>
          </a:xfrm>
          <a:prstGeom prst="rect">
            <a:avLst/>
          </a:prstGeom>
          <a:noFill/>
          <a:ln>
            <a:noFill/>
          </a:ln>
        </p:spPr>
      </p:pic>
      <p:sp>
        <p:nvSpPr>
          <p:cNvPr id="34" name="Google Shape;34;p47"/>
          <p:cNvSpPr/>
          <p:nvPr/>
        </p:nvSpPr>
        <p:spPr>
          <a:xfrm>
            <a:off x="0" y="0"/>
            <a:ext cx="124200" cy="3006900"/>
          </a:xfrm>
          <a:prstGeom prst="rect">
            <a:avLst/>
          </a:prstGeom>
          <a:solidFill>
            <a:srgbClr val="0743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ntent">
  <p:cSld name="BLANK_1_1">
    <p:spTree>
      <p:nvGrpSpPr>
        <p:cNvPr id="35" name="Shape 35"/>
        <p:cNvGrpSpPr/>
        <p:nvPr/>
      </p:nvGrpSpPr>
      <p:grpSpPr>
        <a:xfrm>
          <a:off x="0" y="0"/>
          <a:ext cx="0" cy="0"/>
          <a:chOff x="0" y="0"/>
          <a:chExt cx="0" cy="0"/>
        </a:xfrm>
      </p:grpSpPr>
      <p:sp>
        <p:nvSpPr>
          <p:cNvPr id="36" name="Google Shape;36;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48"/>
          <p:cNvSpPr/>
          <p:nvPr/>
        </p:nvSpPr>
        <p:spPr>
          <a:xfrm>
            <a:off x="8280450" y="0"/>
            <a:ext cx="863400" cy="454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8" name="Google Shape;38;p48"/>
          <p:cNvCxnSpPr/>
          <p:nvPr/>
        </p:nvCxnSpPr>
        <p:spPr>
          <a:xfrm>
            <a:off x="8598817" y="216350"/>
            <a:ext cx="216300" cy="0"/>
          </a:xfrm>
          <a:prstGeom prst="straightConnector1">
            <a:avLst/>
          </a:prstGeom>
          <a:noFill/>
          <a:ln cap="flat" cmpd="sng" w="9525">
            <a:solidFill>
              <a:srgbClr val="B7B7B7"/>
            </a:solidFill>
            <a:prstDash val="solid"/>
            <a:round/>
            <a:headEnd len="sm" w="sm" type="none"/>
            <a:tailEnd len="sm" w="sm" type="none"/>
          </a:ln>
        </p:spPr>
      </p:cxnSp>
      <p:cxnSp>
        <p:nvCxnSpPr>
          <p:cNvPr id="39" name="Google Shape;39;p48"/>
          <p:cNvCxnSpPr/>
          <p:nvPr/>
        </p:nvCxnSpPr>
        <p:spPr>
          <a:xfrm>
            <a:off x="8598817" y="250138"/>
            <a:ext cx="216300" cy="0"/>
          </a:xfrm>
          <a:prstGeom prst="straightConnector1">
            <a:avLst/>
          </a:prstGeom>
          <a:noFill/>
          <a:ln cap="flat" cmpd="sng" w="9525">
            <a:solidFill>
              <a:srgbClr val="B7B7B7"/>
            </a:solidFill>
            <a:prstDash val="solid"/>
            <a:round/>
            <a:headEnd len="sm" w="sm" type="none"/>
            <a:tailEnd len="sm" w="sm" type="none"/>
          </a:ln>
        </p:spPr>
      </p:cxnSp>
      <p:cxnSp>
        <p:nvCxnSpPr>
          <p:cNvPr id="40" name="Google Shape;40;p48"/>
          <p:cNvCxnSpPr/>
          <p:nvPr/>
        </p:nvCxnSpPr>
        <p:spPr>
          <a:xfrm>
            <a:off x="8598817" y="283925"/>
            <a:ext cx="216300" cy="0"/>
          </a:xfrm>
          <a:prstGeom prst="straightConnector1">
            <a:avLst/>
          </a:prstGeom>
          <a:noFill/>
          <a:ln cap="flat" cmpd="sng" w="9525">
            <a:solidFill>
              <a:srgbClr val="B7B7B7"/>
            </a:solidFill>
            <a:prstDash val="solid"/>
            <a:round/>
            <a:headEnd len="sm" w="sm" type="none"/>
            <a:tailEnd len="sm" w="sm" type="none"/>
          </a:ln>
        </p:spPr>
      </p:cxnSp>
      <p:sp>
        <p:nvSpPr>
          <p:cNvPr id="41" name="Google Shape;41;p48"/>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p:txBody>
      </p:sp>
      <p:sp>
        <p:nvSpPr>
          <p:cNvPr id="42" name="Google Shape;42;p48"/>
          <p:cNvSpPr txBox="1"/>
          <p:nvPr>
            <p:ph idx="1" type="body"/>
          </p:nvPr>
        </p:nvSpPr>
        <p:spPr>
          <a:xfrm>
            <a:off x="729450" y="934450"/>
            <a:ext cx="7329300" cy="29388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3" name="Google Shape;43;p48"/>
          <p:cNvSpPr/>
          <p:nvPr/>
        </p:nvSpPr>
        <p:spPr>
          <a:xfrm>
            <a:off x="0" y="356975"/>
            <a:ext cx="645300" cy="261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8"/>
          <p:cNvSpPr/>
          <p:nvPr/>
        </p:nvSpPr>
        <p:spPr>
          <a:xfrm>
            <a:off x="508000" y="353450"/>
            <a:ext cx="137400" cy="261000"/>
          </a:xfrm>
          <a:prstGeom prst="rect">
            <a:avLst/>
          </a:prstGeom>
          <a:solidFill>
            <a:srgbClr val="0743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49"/>
          <p:cNvSpPr txBox="1"/>
          <p:nvPr>
            <p:ph idx="1" type="body"/>
          </p:nvPr>
        </p:nvSpPr>
        <p:spPr>
          <a:xfrm>
            <a:off x="803975" y="2341501"/>
            <a:ext cx="7697400" cy="4605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7" name="Google Shape;47;p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49"/>
          <p:cNvSpPr/>
          <p:nvPr/>
        </p:nvSpPr>
        <p:spPr>
          <a:xfrm>
            <a:off x="8280450" y="0"/>
            <a:ext cx="863400" cy="4542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 name="Google Shape;49;p49"/>
          <p:cNvCxnSpPr/>
          <p:nvPr/>
        </p:nvCxnSpPr>
        <p:spPr>
          <a:xfrm>
            <a:off x="8598817" y="216350"/>
            <a:ext cx="216300" cy="0"/>
          </a:xfrm>
          <a:prstGeom prst="straightConnector1">
            <a:avLst/>
          </a:prstGeom>
          <a:noFill/>
          <a:ln cap="flat" cmpd="sng" w="9525">
            <a:solidFill>
              <a:srgbClr val="B7B7B7"/>
            </a:solidFill>
            <a:prstDash val="solid"/>
            <a:round/>
            <a:headEnd len="sm" w="sm" type="none"/>
            <a:tailEnd len="sm" w="sm" type="none"/>
          </a:ln>
        </p:spPr>
      </p:cxnSp>
      <p:cxnSp>
        <p:nvCxnSpPr>
          <p:cNvPr id="50" name="Google Shape;50;p49"/>
          <p:cNvCxnSpPr/>
          <p:nvPr/>
        </p:nvCxnSpPr>
        <p:spPr>
          <a:xfrm>
            <a:off x="8598817" y="250138"/>
            <a:ext cx="216300" cy="0"/>
          </a:xfrm>
          <a:prstGeom prst="straightConnector1">
            <a:avLst/>
          </a:prstGeom>
          <a:noFill/>
          <a:ln cap="flat" cmpd="sng" w="9525">
            <a:solidFill>
              <a:srgbClr val="B7B7B7"/>
            </a:solidFill>
            <a:prstDash val="solid"/>
            <a:round/>
            <a:headEnd len="sm" w="sm" type="none"/>
            <a:tailEnd len="sm" w="sm" type="none"/>
          </a:ln>
        </p:spPr>
      </p:cxnSp>
      <p:cxnSp>
        <p:nvCxnSpPr>
          <p:cNvPr id="51" name="Google Shape;51;p49"/>
          <p:cNvCxnSpPr/>
          <p:nvPr/>
        </p:nvCxnSpPr>
        <p:spPr>
          <a:xfrm>
            <a:off x="8598817" y="283925"/>
            <a:ext cx="216300" cy="0"/>
          </a:xfrm>
          <a:prstGeom prst="straightConnector1">
            <a:avLst/>
          </a:prstGeom>
          <a:noFill/>
          <a:ln cap="flat" cmpd="sng" w="9525">
            <a:solidFill>
              <a:srgbClr val="B7B7B7"/>
            </a:solidFill>
            <a:prstDash val="solid"/>
            <a:round/>
            <a:headEnd len="sm" w="sm" type="none"/>
            <a:tailEnd len="sm" w="sm" type="none"/>
          </a:ln>
        </p:spPr>
      </p:cxnSp>
      <p:pic>
        <p:nvPicPr>
          <p:cNvPr id="52" name="Google Shape;52;p49"/>
          <p:cNvPicPr preferRelativeResize="0"/>
          <p:nvPr/>
        </p:nvPicPr>
        <p:blipFill rotWithShape="1">
          <a:blip r:embed="rId2">
            <a:alphaModFix/>
          </a:blip>
          <a:srcRect b="0" l="0" r="0" t="0"/>
          <a:stretch/>
        </p:blipFill>
        <p:spPr>
          <a:xfrm>
            <a:off x="3634800" y="0"/>
            <a:ext cx="1874399" cy="187439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Section">
  <p:cSld name="CUSTOM">
    <p:spTree>
      <p:nvGrpSpPr>
        <p:cNvPr id="53" name="Shape 53"/>
        <p:cNvGrpSpPr/>
        <p:nvPr/>
      </p:nvGrpSpPr>
      <p:grpSpPr>
        <a:xfrm>
          <a:off x="0" y="0"/>
          <a:ext cx="0" cy="0"/>
          <a:chOff x="0" y="0"/>
          <a:chExt cx="0" cy="0"/>
        </a:xfrm>
      </p:grpSpPr>
      <p:pic>
        <p:nvPicPr>
          <p:cNvPr id="54" name="Google Shape;54;p50"/>
          <p:cNvPicPr preferRelativeResize="0"/>
          <p:nvPr/>
        </p:nvPicPr>
        <p:blipFill rotWithShape="1">
          <a:blip r:embed="rId2">
            <a:alphaModFix/>
          </a:blip>
          <a:srcRect b="13539" l="0" r="0" t="0"/>
          <a:stretch/>
        </p:blipFill>
        <p:spPr>
          <a:xfrm>
            <a:off x="0" y="0"/>
            <a:ext cx="9144000" cy="4807626"/>
          </a:xfrm>
          <a:prstGeom prst="rect">
            <a:avLst/>
          </a:prstGeom>
          <a:noFill/>
          <a:ln>
            <a:noFill/>
          </a:ln>
          <a:effectLst>
            <a:outerShdw blurRad="57150" rotWithShape="0" algn="bl" dir="5400000" dist="19050">
              <a:srgbClr val="000000">
                <a:alpha val="49803"/>
              </a:srgbClr>
            </a:outerShdw>
          </a:effectLst>
        </p:spPr>
      </p:pic>
      <p:sp>
        <p:nvSpPr>
          <p:cNvPr id="55" name="Google Shape;55;p50"/>
          <p:cNvSpPr txBox="1"/>
          <p:nvPr>
            <p:ph type="title"/>
          </p:nvPr>
        </p:nvSpPr>
        <p:spPr>
          <a:xfrm>
            <a:off x="1352400" y="2018550"/>
            <a:ext cx="6439200" cy="1106400"/>
          </a:xfrm>
          <a:prstGeom prst="rect">
            <a:avLst/>
          </a:prstGeom>
          <a:solidFill>
            <a:schemeClr val="lt1"/>
          </a:solid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800"/>
              <a:buNone/>
              <a:defRPr sz="3600">
                <a:solidFill>
                  <a:srgbClr val="074364"/>
                </a:solidFill>
              </a:defRPr>
            </a:lvl1pPr>
            <a:lvl2pPr lvl="1" algn="r">
              <a:lnSpc>
                <a:spcPct val="100000"/>
              </a:lnSpc>
              <a:spcBef>
                <a:spcPts val="0"/>
              </a:spcBef>
              <a:spcAft>
                <a:spcPts val="0"/>
              </a:spcAft>
              <a:buSzPts val="2800"/>
              <a:buNone/>
              <a:defRPr sz="3600">
                <a:solidFill>
                  <a:srgbClr val="074364"/>
                </a:solidFill>
              </a:defRPr>
            </a:lvl2pPr>
            <a:lvl3pPr lvl="2" algn="r">
              <a:lnSpc>
                <a:spcPct val="100000"/>
              </a:lnSpc>
              <a:spcBef>
                <a:spcPts val="0"/>
              </a:spcBef>
              <a:spcAft>
                <a:spcPts val="0"/>
              </a:spcAft>
              <a:buSzPts val="2800"/>
              <a:buNone/>
              <a:defRPr sz="3600">
                <a:solidFill>
                  <a:srgbClr val="074364"/>
                </a:solidFill>
              </a:defRPr>
            </a:lvl3pPr>
            <a:lvl4pPr lvl="3" algn="r">
              <a:lnSpc>
                <a:spcPct val="100000"/>
              </a:lnSpc>
              <a:spcBef>
                <a:spcPts val="0"/>
              </a:spcBef>
              <a:spcAft>
                <a:spcPts val="0"/>
              </a:spcAft>
              <a:buSzPts val="2800"/>
              <a:buNone/>
              <a:defRPr sz="3600">
                <a:solidFill>
                  <a:srgbClr val="074364"/>
                </a:solidFill>
              </a:defRPr>
            </a:lvl4pPr>
            <a:lvl5pPr lvl="4" algn="r">
              <a:lnSpc>
                <a:spcPct val="100000"/>
              </a:lnSpc>
              <a:spcBef>
                <a:spcPts val="0"/>
              </a:spcBef>
              <a:spcAft>
                <a:spcPts val="0"/>
              </a:spcAft>
              <a:buSzPts val="2800"/>
              <a:buNone/>
              <a:defRPr sz="3600">
                <a:solidFill>
                  <a:srgbClr val="074364"/>
                </a:solidFill>
              </a:defRPr>
            </a:lvl5pPr>
            <a:lvl6pPr lvl="5" algn="r">
              <a:lnSpc>
                <a:spcPct val="100000"/>
              </a:lnSpc>
              <a:spcBef>
                <a:spcPts val="0"/>
              </a:spcBef>
              <a:spcAft>
                <a:spcPts val="0"/>
              </a:spcAft>
              <a:buSzPts val="2800"/>
              <a:buNone/>
              <a:defRPr sz="3600">
                <a:solidFill>
                  <a:srgbClr val="074364"/>
                </a:solidFill>
              </a:defRPr>
            </a:lvl6pPr>
            <a:lvl7pPr lvl="6" algn="r">
              <a:lnSpc>
                <a:spcPct val="100000"/>
              </a:lnSpc>
              <a:spcBef>
                <a:spcPts val="0"/>
              </a:spcBef>
              <a:spcAft>
                <a:spcPts val="0"/>
              </a:spcAft>
              <a:buSzPts val="2800"/>
              <a:buNone/>
              <a:defRPr sz="3600">
                <a:solidFill>
                  <a:srgbClr val="074364"/>
                </a:solidFill>
              </a:defRPr>
            </a:lvl7pPr>
            <a:lvl8pPr lvl="7" algn="r">
              <a:lnSpc>
                <a:spcPct val="100000"/>
              </a:lnSpc>
              <a:spcBef>
                <a:spcPts val="0"/>
              </a:spcBef>
              <a:spcAft>
                <a:spcPts val="0"/>
              </a:spcAft>
              <a:buSzPts val="2800"/>
              <a:buNone/>
              <a:defRPr sz="3600">
                <a:solidFill>
                  <a:srgbClr val="074364"/>
                </a:solidFill>
              </a:defRPr>
            </a:lvl8pPr>
            <a:lvl9pPr lvl="8" algn="r">
              <a:lnSpc>
                <a:spcPct val="100000"/>
              </a:lnSpc>
              <a:spcBef>
                <a:spcPts val="0"/>
              </a:spcBef>
              <a:spcAft>
                <a:spcPts val="0"/>
              </a:spcAft>
              <a:buSzPts val="2800"/>
              <a:buNone/>
              <a:defRPr sz="3600">
                <a:solidFill>
                  <a:srgbClr val="074364"/>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5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51"/>
          <p:cNvSpPr/>
          <p:nvPr/>
        </p:nvSpPr>
        <p:spPr>
          <a:xfrm>
            <a:off x="8280450" y="0"/>
            <a:ext cx="863400" cy="454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9" name="Google Shape;59;p51"/>
          <p:cNvCxnSpPr/>
          <p:nvPr/>
        </p:nvCxnSpPr>
        <p:spPr>
          <a:xfrm>
            <a:off x="8598817" y="216350"/>
            <a:ext cx="216300" cy="0"/>
          </a:xfrm>
          <a:prstGeom prst="straightConnector1">
            <a:avLst/>
          </a:prstGeom>
          <a:noFill/>
          <a:ln cap="flat" cmpd="sng" w="9525">
            <a:solidFill>
              <a:srgbClr val="B7B7B7"/>
            </a:solidFill>
            <a:prstDash val="solid"/>
            <a:round/>
            <a:headEnd len="sm" w="sm" type="none"/>
            <a:tailEnd len="sm" w="sm" type="none"/>
          </a:ln>
        </p:spPr>
      </p:cxnSp>
      <p:cxnSp>
        <p:nvCxnSpPr>
          <p:cNvPr id="60" name="Google Shape;60;p51"/>
          <p:cNvCxnSpPr/>
          <p:nvPr/>
        </p:nvCxnSpPr>
        <p:spPr>
          <a:xfrm>
            <a:off x="8598817" y="250138"/>
            <a:ext cx="216300" cy="0"/>
          </a:xfrm>
          <a:prstGeom prst="straightConnector1">
            <a:avLst/>
          </a:prstGeom>
          <a:noFill/>
          <a:ln cap="flat" cmpd="sng" w="9525">
            <a:solidFill>
              <a:srgbClr val="B7B7B7"/>
            </a:solidFill>
            <a:prstDash val="solid"/>
            <a:round/>
            <a:headEnd len="sm" w="sm" type="none"/>
            <a:tailEnd len="sm" w="sm" type="none"/>
          </a:ln>
        </p:spPr>
      </p:cxnSp>
      <p:cxnSp>
        <p:nvCxnSpPr>
          <p:cNvPr id="61" name="Google Shape;61;p51"/>
          <p:cNvCxnSpPr/>
          <p:nvPr/>
        </p:nvCxnSpPr>
        <p:spPr>
          <a:xfrm>
            <a:off x="8598817" y="283925"/>
            <a:ext cx="216300" cy="0"/>
          </a:xfrm>
          <a:prstGeom prst="straightConnector1">
            <a:avLst/>
          </a:prstGeom>
          <a:noFill/>
          <a:ln cap="flat" cmpd="sng" w="9525">
            <a:solidFill>
              <a:srgbClr val="B7B7B7"/>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Title">
  <p:cSld name="BLANK_1">
    <p:spTree>
      <p:nvGrpSpPr>
        <p:cNvPr id="62" name="Shape 62"/>
        <p:cNvGrpSpPr/>
        <p:nvPr/>
      </p:nvGrpSpPr>
      <p:grpSpPr>
        <a:xfrm>
          <a:off x="0" y="0"/>
          <a:ext cx="0" cy="0"/>
          <a:chOff x="0" y="0"/>
          <a:chExt cx="0" cy="0"/>
        </a:xfrm>
      </p:grpSpPr>
      <p:sp>
        <p:nvSpPr>
          <p:cNvPr id="63" name="Google Shape;63;p5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64" name="Google Shape;64;p52"/>
          <p:cNvSpPr/>
          <p:nvPr/>
        </p:nvSpPr>
        <p:spPr>
          <a:xfrm>
            <a:off x="8280450" y="0"/>
            <a:ext cx="863400" cy="454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5" name="Google Shape;65;p52"/>
          <p:cNvCxnSpPr/>
          <p:nvPr/>
        </p:nvCxnSpPr>
        <p:spPr>
          <a:xfrm>
            <a:off x="8598817" y="216350"/>
            <a:ext cx="216300" cy="0"/>
          </a:xfrm>
          <a:prstGeom prst="straightConnector1">
            <a:avLst/>
          </a:prstGeom>
          <a:noFill/>
          <a:ln cap="flat" cmpd="sng" w="9525">
            <a:solidFill>
              <a:srgbClr val="B7B7B7"/>
            </a:solidFill>
            <a:prstDash val="solid"/>
            <a:round/>
            <a:headEnd len="sm" w="sm" type="none"/>
            <a:tailEnd len="sm" w="sm" type="none"/>
          </a:ln>
        </p:spPr>
      </p:cxnSp>
      <p:cxnSp>
        <p:nvCxnSpPr>
          <p:cNvPr id="66" name="Google Shape;66;p52"/>
          <p:cNvCxnSpPr/>
          <p:nvPr/>
        </p:nvCxnSpPr>
        <p:spPr>
          <a:xfrm>
            <a:off x="8598817" y="250138"/>
            <a:ext cx="216300" cy="0"/>
          </a:xfrm>
          <a:prstGeom prst="straightConnector1">
            <a:avLst/>
          </a:prstGeom>
          <a:noFill/>
          <a:ln cap="flat" cmpd="sng" w="9525">
            <a:solidFill>
              <a:srgbClr val="B7B7B7"/>
            </a:solidFill>
            <a:prstDash val="solid"/>
            <a:round/>
            <a:headEnd len="sm" w="sm" type="none"/>
            <a:tailEnd len="sm" w="sm" type="none"/>
          </a:ln>
        </p:spPr>
      </p:cxnSp>
      <p:cxnSp>
        <p:nvCxnSpPr>
          <p:cNvPr id="67" name="Google Shape;67;p52"/>
          <p:cNvCxnSpPr/>
          <p:nvPr/>
        </p:nvCxnSpPr>
        <p:spPr>
          <a:xfrm>
            <a:off x="8598817" y="283925"/>
            <a:ext cx="216300" cy="0"/>
          </a:xfrm>
          <a:prstGeom prst="straightConnector1">
            <a:avLst/>
          </a:prstGeom>
          <a:noFill/>
          <a:ln cap="flat" cmpd="sng" w="9525">
            <a:solidFill>
              <a:srgbClr val="B7B7B7"/>
            </a:solidFill>
            <a:prstDash val="solid"/>
            <a:round/>
            <a:headEnd len="sm" w="sm" type="none"/>
            <a:tailEnd len="sm" w="sm" type="none"/>
          </a:ln>
        </p:spPr>
      </p:cxnSp>
      <p:sp>
        <p:nvSpPr>
          <p:cNvPr id="68" name="Google Shape;68;p52"/>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p:txBody>
      </p:sp>
      <p:sp>
        <p:nvSpPr>
          <p:cNvPr id="69" name="Google Shape;69;p52"/>
          <p:cNvSpPr/>
          <p:nvPr/>
        </p:nvSpPr>
        <p:spPr>
          <a:xfrm>
            <a:off x="0" y="356975"/>
            <a:ext cx="645300" cy="261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52"/>
          <p:cNvSpPr/>
          <p:nvPr/>
        </p:nvSpPr>
        <p:spPr>
          <a:xfrm>
            <a:off x="508000" y="353450"/>
            <a:ext cx="137400" cy="261000"/>
          </a:xfrm>
          <a:prstGeom prst="rect">
            <a:avLst/>
          </a:prstGeom>
          <a:solidFill>
            <a:srgbClr val="0743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ntent">
  <p:cSld name="BLANK_1_1_1">
    <p:spTree>
      <p:nvGrpSpPr>
        <p:cNvPr id="71" name="Shape 71"/>
        <p:cNvGrpSpPr/>
        <p:nvPr/>
      </p:nvGrpSpPr>
      <p:grpSpPr>
        <a:xfrm>
          <a:off x="0" y="0"/>
          <a:ext cx="0" cy="0"/>
          <a:chOff x="0" y="0"/>
          <a:chExt cx="0" cy="0"/>
        </a:xfrm>
      </p:grpSpPr>
      <p:sp>
        <p:nvSpPr>
          <p:cNvPr id="72" name="Google Shape;7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53"/>
          <p:cNvSpPr/>
          <p:nvPr/>
        </p:nvSpPr>
        <p:spPr>
          <a:xfrm>
            <a:off x="8280450" y="0"/>
            <a:ext cx="863400" cy="454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4" name="Google Shape;74;p53"/>
          <p:cNvCxnSpPr/>
          <p:nvPr/>
        </p:nvCxnSpPr>
        <p:spPr>
          <a:xfrm>
            <a:off x="8598817" y="216350"/>
            <a:ext cx="216300" cy="0"/>
          </a:xfrm>
          <a:prstGeom prst="straightConnector1">
            <a:avLst/>
          </a:prstGeom>
          <a:noFill/>
          <a:ln cap="flat" cmpd="sng" w="9525">
            <a:solidFill>
              <a:srgbClr val="B7B7B7"/>
            </a:solidFill>
            <a:prstDash val="solid"/>
            <a:round/>
            <a:headEnd len="sm" w="sm" type="none"/>
            <a:tailEnd len="sm" w="sm" type="none"/>
          </a:ln>
        </p:spPr>
      </p:cxnSp>
      <p:cxnSp>
        <p:nvCxnSpPr>
          <p:cNvPr id="75" name="Google Shape;75;p53"/>
          <p:cNvCxnSpPr/>
          <p:nvPr/>
        </p:nvCxnSpPr>
        <p:spPr>
          <a:xfrm>
            <a:off x="8598817" y="250138"/>
            <a:ext cx="216300" cy="0"/>
          </a:xfrm>
          <a:prstGeom prst="straightConnector1">
            <a:avLst/>
          </a:prstGeom>
          <a:noFill/>
          <a:ln cap="flat" cmpd="sng" w="9525">
            <a:solidFill>
              <a:srgbClr val="B7B7B7"/>
            </a:solidFill>
            <a:prstDash val="solid"/>
            <a:round/>
            <a:headEnd len="sm" w="sm" type="none"/>
            <a:tailEnd len="sm" w="sm" type="none"/>
          </a:ln>
        </p:spPr>
      </p:cxnSp>
      <p:cxnSp>
        <p:nvCxnSpPr>
          <p:cNvPr id="76" name="Google Shape;76;p53"/>
          <p:cNvCxnSpPr/>
          <p:nvPr/>
        </p:nvCxnSpPr>
        <p:spPr>
          <a:xfrm>
            <a:off x="8598817" y="283925"/>
            <a:ext cx="216300" cy="0"/>
          </a:xfrm>
          <a:prstGeom prst="straightConnector1">
            <a:avLst/>
          </a:prstGeom>
          <a:noFill/>
          <a:ln cap="flat" cmpd="sng" w="9525">
            <a:solidFill>
              <a:srgbClr val="B7B7B7"/>
            </a:solidFill>
            <a:prstDash val="solid"/>
            <a:round/>
            <a:headEnd len="sm" w="sm" type="none"/>
            <a:tailEnd len="sm" w="sm" type="none"/>
          </a:ln>
        </p:spPr>
      </p:cxnSp>
      <p:sp>
        <p:nvSpPr>
          <p:cNvPr id="77" name="Google Shape;77;p53"/>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p:txBody>
      </p:sp>
      <p:sp>
        <p:nvSpPr>
          <p:cNvPr id="78" name="Google Shape;78;p53"/>
          <p:cNvSpPr txBox="1"/>
          <p:nvPr>
            <p:ph idx="1" type="body"/>
          </p:nvPr>
        </p:nvSpPr>
        <p:spPr>
          <a:xfrm>
            <a:off x="729450" y="934450"/>
            <a:ext cx="3553500" cy="29388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79" name="Google Shape;79;p53"/>
          <p:cNvSpPr/>
          <p:nvPr/>
        </p:nvSpPr>
        <p:spPr>
          <a:xfrm>
            <a:off x="0" y="356975"/>
            <a:ext cx="645300" cy="261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53"/>
          <p:cNvSpPr/>
          <p:nvPr/>
        </p:nvSpPr>
        <p:spPr>
          <a:xfrm>
            <a:off x="508000" y="353450"/>
            <a:ext cx="137400" cy="261000"/>
          </a:xfrm>
          <a:prstGeom prst="rect">
            <a:avLst/>
          </a:prstGeom>
          <a:solidFill>
            <a:srgbClr val="0743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53"/>
          <p:cNvSpPr txBox="1"/>
          <p:nvPr>
            <p:ph idx="2" type="body"/>
          </p:nvPr>
        </p:nvSpPr>
        <p:spPr>
          <a:xfrm>
            <a:off x="4814525" y="934450"/>
            <a:ext cx="3553500" cy="29388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2" name="Shape 82"/>
        <p:cNvGrpSpPr/>
        <p:nvPr/>
      </p:nvGrpSpPr>
      <p:grpSpPr>
        <a:xfrm>
          <a:off x="0" y="0"/>
          <a:ext cx="0" cy="0"/>
          <a:chOff x="0" y="0"/>
          <a:chExt cx="0" cy="0"/>
        </a:xfrm>
      </p:grpSpPr>
      <p:sp>
        <p:nvSpPr>
          <p:cNvPr id="83" name="Google Shape;83;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4" name="Google Shape;84;p5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85" name="Google Shape;85;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2" Type="http://schemas.openxmlformats.org/officeDocument/2006/relationships/theme" Target="../theme/theme2.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Proxima Nova"/>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2pPr>
            <a:lvl3pPr lvl="2"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3pPr>
            <a:lvl4pPr lvl="3"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4pPr>
            <a:lvl5pPr lvl="4"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5pPr>
            <a:lvl6pPr lvl="5"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6pPr>
            <a:lvl7pPr lvl="6"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7pPr>
            <a:lvl8pPr lvl="7"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8pPr>
            <a:lvl9pPr lvl="8" marR="0" rtl="0" algn="l">
              <a:lnSpc>
                <a:spcPct val="100000"/>
              </a:lnSpc>
              <a:spcBef>
                <a:spcPts val="0"/>
              </a:spcBef>
              <a:spcAft>
                <a:spcPts val="0"/>
              </a:spcAft>
              <a:buClr>
                <a:srgbClr val="000000"/>
              </a:buClr>
              <a:buSzPts val="2800"/>
              <a:buFont typeface="Raleway"/>
              <a:buNone/>
              <a:defRPr b="1" i="0" sz="2800" u="none" cap="none" strike="noStrike">
                <a:solidFill>
                  <a:srgbClr val="000000"/>
                </a:solidFill>
                <a:latin typeface="Raleway"/>
                <a:ea typeface="Raleway"/>
                <a:cs typeface="Raleway"/>
                <a:sym typeface="Raleway"/>
              </a:defRPr>
            </a:lvl9pPr>
          </a:lstStyle>
          <a:p/>
        </p:txBody>
      </p:sp>
      <p:sp>
        <p:nvSpPr>
          <p:cNvPr id="7" name="Google Shape;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000000"/>
              </a:buClr>
              <a:buSzPts val="1800"/>
              <a:buFont typeface="Quattrocento Sans"/>
              <a:buChar char="●"/>
              <a:defRPr b="0" i="0" sz="1800" u="none" cap="none" strike="noStrike">
                <a:solidFill>
                  <a:srgbClr val="000000"/>
                </a:solidFill>
                <a:latin typeface="Quattrocento Sans"/>
                <a:ea typeface="Quattrocento Sans"/>
                <a:cs typeface="Quattrocento Sans"/>
                <a:sym typeface="Quattrocento Sans"/>
              </a:defRPr>
            </a:lvl1pPr>
            <a:lvl2pPr indent="-298450" lvl="1" marL="914400" marR="0" rtl="0" algn="l">
              <a:lnSpc>
                <a:spcPct val="115000"/>
              </a:lnSpc>
              <a:spcBef>
                <a:spcPts val="1600"/>
              </a:spcBef>
              <a:spcAft>
                <a:spcPts val="0"/>
              </a:spcAft>
              <a:buClr>
                <a:srgbClr val="000000"/>
              </a:buClr>
              <a:buSzPts val="1100"/>
              <a:buFont typeface="Quattrocento Sans"/>
              <a:buChar char="○"/>
              <a:defRPr b="0" i="0" sz="1100" u="none" cap="none" strike="noStrike">
                <a:solidFill>
                  <a:srgbClr val="000000"/>
                </a:solidFill>
                <a:latin typeface="Quattrocento Sans"/>
                <a:ea typeface="Quattrocento Sans"/>
                <a:cs typeface="Quattrocento Sans"/>
                <a:sym typeface="Quattrocento Sans"/>
              </a:defRPr>
            </a:lvl2pPr>
            <a:lvl3pPr indent="-298450" lvl="2" marL="1371600" marR="0" rtl="0" algn="l">
              <a:lnSpc>
                <a:spcPct val="115000"/>
              </a:lnSpc>
              <a:spcBef>
                <a:spcPts val="1600"/>
              </a:spcBef>
              <a:spcAft>
                <a:spcPts val="0"/>
              </a:spcAft>
              <a:buClr>
                <a:srgbClr val="000000"/>
              </a:buClr>
              <a:buSzPts val="1100"/>
              <a:buFont typeface="Quattrocento Sans"/>
              <a:buChar char="■"/>
              <a:defRPr b="0" i="0" sz="1100" u="none" cap="none" strike="noStrike">
                <a:solidFill>
                  <a:srgbClr val="000000"/>
                </a:solidFill>
                <a:latin typeface="Quattrocento Sans"/>
                <a:ea typeface="Quattrocento Sans"/>
                <a:cs typeface="Quattrocento Sans"/>
                <a:sym typeface="Quattrocento Sans"/>
              </a:defRPr>
            </a:lvl3pPr>
            <a:lvl4pPr indent="-298450" lvl="3" marL="1828800" marR="0" rtl="0" algn="l">
              <a:lnSpc>
                <a:spcPct val="115000"/>
              </a:lnSpc>
              <a:spcBef>
                <a:spcPts val="1600"/>
              </a:spcBef>
              <a:spcAft>
                <a:spcPts val="0"/>
              </a:spcAft>
              <a:buClr>
                <a:srgbClr val="000000"/>
              </a:buClr>
              <a:buSzPts val="1100"/>
              <a:buFont typeface="Quattrocento Sans"/>
              <a:buChar char="●"/>
              <a:defRPr b="0" i="0" sz="1100" u="none" cap="none" strike="noStrike">
                <a:solidFill>
                  <a:srgbClr val="000000"/>
                </a:solidFill>
                <a:latin typeface="Quattrocento Sans"/>
                <a:ea typeface="Quattrocento Sans"/>
                <a:cs typeface="Quattrocento Sans"/>
                <a:sym typeface="Quattrocento Sans"/>
              </a:defRPr>
            </a:lvl4pPr>
            <a:lvl5pPr indent="-298450" lvl="4" marL="2286000" marR="0" rtl="0" algn="l">
              <a:lnSpc>
                <a:spcPct val="115000"/>
              </a:lnSpc>
              <a:spcBef>
                <a:spcPts val="1600"/>
              </a:spcBef>
              <a:spcAft>
                <a:spcPts val="0"/>
              </a:spcAft>
              <a:buClr>
                <a:srgbClr val="000000"/>
              </a:buClr>
              <a:buSzPts val="1100"/>
              <a:buFont typeface="Quattrocento Sans"/>
              <a:buChar char="○"/>
              <a:defRPr b="0" i="0" sz="1100" u="none" cap="none" strike="noStrike">
                <a:solidFill>
                  <a:srgbClr val="000000"/>
                </a:solidFill>
                <a:latin typeface="Quattrocento Sans"/>
                <a:ea typeface="Quattrocento Sans"/>
                <a:cs typeface="Quattrocento Sans"/>
                <a:sym typeface="Quattrocento Sans"/>
              </a:defRPr>
            </a:lvl5pPr>
            <a:lvl6pPr indent="-298450" lvl="5" marL="2743200" marR="0" rtl="0" algn="l">
              <a:lnSpc>
                <a:spcPct val="115000"/>
              </a:lnSpc>
              <a:spcBef>
                <a:spcPts val="1600"/>
              </a:spcBef>
              <a:spcAft>
                <a:spcPts val="0"/>
              </a:spcAft>
              <a:buClr>
                <a:srgbClr val="000000"/>
              </a:buClr>
              <a:buSzPts val="1100"/>
              <a:buFont typeface="Quattrocento Sans"/>
              <a:buChar char="■"/>
              <a:defRPr b="0" i="0" sz="1100" u="none" cap="none" strike="noStrike">
                <a:solidFill>
                  <a:srgbClr val="000000"/>
                </a:solidFill>
                <a:latin typeface="Quattrocento Sans"/>
                <a:ea typeface="Quattrocento Sans"/>
                <a:cs typeface="Quattrocento Sans"/>
                <a:sym typeface="Quattrocento Sans"/>
              </a:defRPr>
            </a:lvl6pPr>
            <a:lvl7pPr indent="-298450" lvl="6" marL="3200400" marR="0" rtl="0" algn="l">
              <a:lnSpc>
                <a:spcPct val="115000"/>
              </a:lnSpc>
              <a:spcBef>
                <a:spcPts val="1600"/>
              </a:spcBef>
              <a:spcAft>
                <a:spcPts val="0"/>
              </a:spcAft>
              <a:buClr>
                <a:srgbClr val="000000"/>
              </a:buClr>
              <a:buSzPts val="1100"/>
              <a:buFont typeface="Quattrocento Sans"/>
              <a:buChar char="●"/>
              <a:defRPr b="0" i="0" sz="1100" u="none" cap="none" strike="noStrike">
                <a:solidFill>
                  <a:srgbClr val="000000"/>
                </a:solidFill>
                <a:latin typeface="Quattrocento Sans"/>
                <a:ea typeface="Quattrocento Sans"/>
                <a:cs typeface="Quattrocento Sans"/>
                <a:sym typeface="Quattrocento Sans"/>
              </a:defRPr>
            </a:lvl7pPr>
            <a:lvl8pPr indent="-298450" lvl="7" marL="3657600" marR="0" rtl="0" algn="l">
              <a:lnSpc>
                <a:spcPct val="115000"/>
              </a:lnSpc>
              <a:spcBef>
                <a:spcPts val="1600"/>
              </a:spcBef>
              <a:spcAft>
                <a:spcPts val="0"/>
              </a:spcAft>
              <a:buClr>
                <a:srgbClr val="000000"/>
              </a:buClr>
              <a:buSzPts val="1100"/>
              <a:buFont typeface="Quattrocento Sans"/>
              <a:buChar char="○"/>
              <a:defRPr b="0" i="0" sz="1100" u="none" cap="none" strike="noStrike">
                <a:solidFill>
                  <a:srgbClr val="000000"/>
                </a:solidFill>
                <a:latin typeface="Quattrocento Sans"/>
                <a:ea typeface="Quattrocento Sans"/>
                <a:cs typeface="Quattrocento Sans"/>
                <a:sym typeface="Quattrocento Sans"/>
              </a:defRPr>
            </a:lvl8pPr>
            <a:lvl9pPr indent="-298450" lvl="8" marL="4114800" marR="0" rtl="0" algn="l">
              <a:lnSpc>
                <a:spcPct val="115000"/>
              </a:lnSpc>
              <a:spcBef>
                <a:spcPts val="1600"/>
              </a:spcBef>
              <a:spcAft>
                <a:spcPts val="1600"/>
              </a:spcAft>
              <a:buClr>
                <a:srgbClr val="000000"/>
              </a:buClr>
              <a:buSzPts val="1100"/>
              <a:buFont typeface="Quattrocento Sans"/>
              <a:buChar char="■"/>
              <a:defRPr b="0" i="0" sz="1100" u="none" cap="none" strike="noStrike">
                <a:solidFill>
                  <a:srgbClr val="000000"/>
                </a:solidFill>
                <a:latin typeface="Quattrocento Sans"/>
                <a:ea typeface="Quattrocento Sans"/>
                <a:cs typeface="Quattrocento Sans"/>
                <a:sym typeface="Quattrocento Sans"/>
              </a:defRPr>
            </a:lvl9pPr>
          </a:lstStyle>
          <a:p/>
        </p:txBody>
      </p:sp>
      <p:sp>
        <p:nvSpPr>
          <p:cNvPr id="8" name="Google Shape;8;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9" name="Google Shape;9;p45"/>
          <p:cNvSpPr/>
          <p:nvPr/>
        </p:nvSpPr>
        <p:spPr>
          <a:xfrm>
            <a:off x="0" y="4814097"/>
            <a:ext cx="9144000" cy="329400"/>
          </a:xfrm>
          <a:prstGeom prst="rect">
            <a:avLst/>
          </a:prstGeom>
          <a:solidFill>
            <a:srgbClr val="F4F5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 name="Google Shape;10;p45"/>
          <p:cNvSpPr/>
          <p:nvPr/>
        </p:nvSpPr>
        <p:spPr>
          <a:xfrm>
            <a:off x="0" y="4814100"/>
            <a:ext cx="2339400" cy="329400"/>
          </a:xfrm>
          <a:prstGeom prst="rect">
            <a:avLst/>
          </a:prstGeom>
          <a:solidFill>
            <a:srgbClr val="0743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1" name="Google Shape;11;p45"/>
          <p:cNvSpPr txBox="1"/>
          <p:nvPr/>
        </p:nvSpPr>
        <p:spPr>
          <a:xfrm>
            <a:off x="479550" y="4807350"/>
            <a:ext cx="1380300" cy="342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Quattrocento Sans"/>
                <a:ea typeface="Quattrocento Sans"/>
                <a:cs typeface="Quattrocento Sans"/>
                <a:sym typeface="Quattrocento Sans"/>
              </a:rPr>
              <a:t>www.ugm.ac.id</a:t>
            </a:r>
            <a:endParaRPr b="1" i="0" sz="1200" u="none" cap="none" strike="noStrike">
              <a:solidFill>
                <a:srgbClr val="FFFFFF"/>
              </a:solidFill>
              <a:latin typeface="Quattrocento Sans"/>
              <a:ea typeface="Quattrocento Sans"/>
              <a:cs typeface="Quattrocento Sans"/>
              <a:sym typeface="Quattrocento Sans"/>
            </a:endParaRPr>
          </a:p>
        </p:txBody>
      </p:sp>
      <p:sp>
        <p:nvSpPr>
          <p:cNvPr id="12" name="Google Shape;12;p45"/>
          <p:cNvSpPr txBox="1"/>
          <p:nvPr/>
        </p:nvSpPr>
        <p:spPr>
          <a:xfrm>
            <a:off x="3207450" y="4807350"/>
            <a:ext cx="3450900" cy="342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74364"/>
                </a:solidFill>
                <a:latin typeface="Quattrocento Sans"/>
                <a:ea typeface="Quattrocento Sans"/>
                <a:cs typeface="Quattrocento Sans"/>
                <a:sym typeface="Quattrocento Sans"/>
              </a:rPr>
              <a:t>Locally Rooted, Globally Respected</a:t>
            </a:r>
            <a:endParaRPr b="0" i="0" sz="1200" u="none" cap="none" strike="noStrike">
              <a:solidFill>
                <a:srgbClr val="074364"/>
              </a:solidFill>
              <a:latin typeface="Quattrocento Sans"/>
              <a:ea typeface="Quattrocento Sans"/>
              <a:cs typeface="Quattrocento Sans"/>
              <a:sym typeface="Quattrocento Sans"/>
            </a:endParaRPr>
          </a:p>
        </p:txBody>
      </p:sp>
      <p:pic>
        <p:nvPicPr>
          <p:cNvPr id="13" name="Google Shape;13;p45"/>
          <p:cNvPicPr preferRelativeResize="0"/>
          <p:nvPr/>
        </p:nvPicPr>
        <p:blipFill rotWithShape="1">
          <a:blip r:embed="rId1">
            <a:alphaModFix/>
          </a:blip>
          <a:srcRect b="0" l="0" r="0" t="0"/>
          <a:stretch/>
        </p:blipFill>
        <p:spPr>
          <a:xfrm>
            <a:off x="7160464" y="4749850"/>
            <a:ext cx="1983535" cy="454775"/>
          </a:xfrm>
          <a:prstGeom prst="rect">
            <a:avLst/>
          </a:prstGeom>
          <a:noFill/>
          <a:ln>
            <a:noFill/>
          </a:ln>
        </p:spPr>
      </p:pic>
      <p:pic>
        <p:nvPicPr>
          <p:cNvPr id="14" name="Google Shape;14;p45"/>
          <p:cNvPicPr preferRelativeResize="0"/>
          <p:nvPr/>
        </p:nvPicPr>
        <p:blipFill rotWithShape="1">
          <a:blip r:embed="rId2">
            <a:alphaModFix amt="88000"/>
          </a:blip>
          <a:srcRect b="0" l="0" r="49315" t="0"/>
          <a:stretch/>
        </p:blipFill>
        <p:spPr>
          <a:xfrm>
            <a:off x="7193251" y="353600"/>
            <a:ext cx="1950750" cy="3991048"/>
          </a:xfrm>
          <a:prstGeom prst="rect">
            <a:avLst/>
          </a:prstGeom>
          <a:noFill/>
          <a:ln>
            <a:noFill/>
          </a:ln>
          <a:effectLst>
            <a:outerShdw blurRad="57150" rotWithShape="0" algn="bl" dir="5400000" dist="19050">
              <a:srgbClr val="000000">
                <a:alpha val="8627"/>
              </a:srgbClr>
            </a:outerShdw>
          </a:effectLst>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20.png"/><Relationship Id="rId6" Type="http://schemas.openxmlformats.org/officeDocument/2006/relationships/image" Target="../media/image24.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2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flipH="1">
            <a:off x="479550" y="0"/>
            <a:ext cx="1874400" cy="2945400"/>
          </a:xfrm>
          <a:prstGeom prst="rect">
            <a:avLst/>
          </a:prstGeom>
          <a:solidFill>
            <a:srgbClr val="F4F5FB"/>
          </a:solidFill>
          <a:ln>
            <a:noFill/>
          </a:ln>
          <a:effectLst>
            <a:outerShdw blurRad="57150" rotWithShape="0" algn="bl" dir="5400000" dist="19050">
              <a:srgbClr val="000000">
                <a:alpha val="109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
          <p:cNvSpPr/>
          <p:nvPr/>
        </p:nvSpPr>
        <p:spPr>
          <a:xfrm flipH="1">
            <a:off x="479550" y="2935650"/>
            <a:ext cx="1874400" cy="94200"/>
          </a:xfrm>
          <a:prstGeom prst="rect">
            <a:avLst/>
          </a:prstGeom>
          <a:solidFill>
            <a:srgbClr val="0743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479550" y="535500"/>
            <a:ext cx="1874399" cy="1874399"/>
          </a:xfrm>
          <a:prstGeom prst="rect">
            <a:avLst/>
          </a:prstGeom>
          <a:noFill/>
          <a:ln>
            <a:noFill/>
          </a:ln>
        </p:spPr>
      </p:pic>
      <p:sp>
        <p:nvSpPr>
          <p:cNvPr id="93" name="Google Shape;93;p1"/>
          <p:cNvSpPr/>
          <p:nvPr/>
        </p:nvSpPr>
        <p:spPr>
          <a:xfrm>
            <a:off x="2339275" y="4814100"/>
            <a:ext cx="6804600" cy="329400"/>
          </a:xfrm>
          <a:prstGeom prst="rect">
            <a:avLst/>
          </a:prstGeom>
          <a:solidFill>
            <a:srgbClr val="F4F5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0" y="4814100"/>
            <a:ext cx="2339400" cy="342900"/>
          </a:xfrm>
          <a:prstGeom prst="rect">
            <a:avLst/>
          </a:prstGeom>
          <a:solidFill>
            <a:srgbClr val="0743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5" name="Google Shape;95;p1"/>
          <p:cNvPicPr preferRelativeResize="0"/>
          <p:nvPr/>
        </p:nvPicPr>
        <p:blipFill rotWithShape="1">
          <a:blip r:embed="rId4">
            <a:alphaModFix/>
          </a:blip>
          <a:srcRect b="0" l="0" r="0" t="0"/>
          <a:stretch/>
        </p:blipFill>
        <p:spPr>
          <a:xfrm>
            <a:off x="6993207" y="4731013"/>
            <a:ext cx="2156631" cy="480257"/>
          </a:xfrm>
          <a:prstGeom prst="rect">
            <a:avLst/>
          </a:prstGeom>
          <a:noFill/>
          <a:ln>
            <a:noFill/>
          </a:ln>
        </p:spPr>
      </p:pic>
      <p:sp>
        <p:nvSpPr>
          <p:cNvPr id="96" name="Google Shape;96;p1"/>
          <p:cNvSpPr txBox="1"/>
          <p:nvPr/>
        </p:nvSpPr>
        <p:spPr>
          <a:xfrm>
            <a:off x="479550" y="4807350"/>
            <a:ext cx="1380300" cy="342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Quattrocento Sans"/>
                <a:ea typeface="Quattrocento Sans"/>
                <a:cs typeface="Quattrocento Sans"/>
                <a:sym typeface="Quattrocento Sans"/>
              </a:rPr>
              <a:t>www.ugm.ac.id</a:t>
            </a:r>
            <a:endParaRPr b="1" i="0" sz="1200" u="none" cap="none" strike="noStrike">
              <a:solidFill>
                <a:srgbClr val="FFFFFF"/>
              </a:solidFill>
              <a:latin typeface="Quattrocento Sans"/>
              <a:ea typeface="Quattrocento Sans"/>
              <a:cs typeface="Quattrocento Sans"/>
              <a:sym typeface="Quattrocento Sans"/>
            </a:endParaRPr>
          </a:p>
        </p:txBody>
      </p:sp>
      <p:sp>
        <p:nvSpPr>
          <p:cNvPr id="97" name="Google Shape;97;p1"/>
          <p:cNvSpPr txBox="1"/>
          <p:nvPr/>
        </p:nvSpPr>
        <p:spPr>
          <a:xfrm>
            <a:off x="3207450" y="4807350"/>
            <a:ext cx="3450900" cy="342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74364"/>
                </a:solidFill>
                <a:latin typeface="Quattrocento Sans"/>
                <a:ea typeface="Quattrocento Sans"/>
                <a:cs typeface="Quattrocento Sans"/>
                <a:sym typeface="Quattrocento Sans"/>
              </a:rPr>
              <a:t>Locally Rooted, Globally Respected</a:t>
            </a:r>
            <a:endParaRPr b="0" i="0" sz="1200" u="none" cap="none" strike="noStrike">
              <a:solidFill>
                <a:srgbClr val="074364"/>
              </a:solidFill>
              <a:latin typeface="Quattrocento Sans"/>
              <a:ea typeface="Quattrocento Sans"/>
              <a:cs typeface="Quattrocento Sans"/>
              <a:sym typeface="Quattrocento Sans"/>
            </a:endParaRPr>
          </a:p>
        </p:txBody>
      </p:sp>
      <p:sp>
        <p:nvSpPr>
          <p:cNvPr id="98" name="Google Shape;98;p1"/>
          <p:cNvSpPr txBox="1"/>
          <p:nvPr>
            <p:ph type="ctrTitle"/>
          </p:nvPr>
        </p:nvSpPr>
        <p:spPr>
          <a:xfrm>
            <a:off x="2582550" y="1621050"/>
            <a:ext cx="6491400" cy="164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US" sz="2600"/>
              <a:t>Lightweight Pneumothorax Segmentation with an Optimized U-Net and EfficientNet-B0 for X-Ray Analysis</a:t>
            </a:r>
            <a:endParaRPr sz="2600"/>
          </a:p>
          <a:p>
            <a:pPr indent="0" lvl="0" marL="0" rtl="0" algn="l">
              <a:lnSpc>
                <a:spcPct val="100000"/>
              </a:lnSpc>
              <a:spcBef>
                <a:spcPts val="0"/>
              </a:spcBef>
              <a:spcAft>
                <a:spcPts val="0"/>
              </a:spcAft>
              <a:buSzPts val="2400"/>
              <a:buNone/>
            </a:pPr>
            <a:r>
              <a:t/>
            </a:r>
            <a:endParaRPr sz="2600"/>
          </a:p>
          <a:p>
            <a:pPr indent="0" lvl="0" marL="0" rtl="0" algn="l">
              <a:lnSpc>
                <a:spcPct val="100000"/>
              </a:lnSpc>
              <a:spcBef>
                <a:spcPts val="0"/>
              </a:spcBef>
              <a:spcAft>
                <a:spcPts val="0"/>
              </a:spcAft>
              <a:buSzPts val="2400"/>
              <a:buNone/>
            </a:pPr>
            <a:r>
              <a:t/>
            </a:r>
            <a:endParaRPr sz="2600"/>
          </a:p>
        </p:txBody>
      </p:sp>
      <p:sp>
        <p:nvSpPr>
          <p:cNvPr id="99" name="Google Shape;99;p1"/>
          <p:cNvSpPr txBox="1"/>
          <p:nvPr>
            <p:ph idx="2" type="subTitle"/>
          </p:nvPr>
        </p:nvSpPr>
        <p:spPr>
          <a:xfrm>
            <a:off x="2601150" y="2941500"/>
            <a:ext cx="3941700" cy="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US" sz="1200"/>
              <a:t>Lecturer Advisor:</a:t>
            </a:r>
            <a:endParaRPr b="1" sz="1200"/>
          </a:p>
          <a:p>
            <a:pPr indent="0" lvl="0" marL="0" rtl="0" algn="l">
              <a:lnSpc>
                <a:spcPct val="115000"/>
              </a:lnSpc>
              <a:spcBef>
                <a:spcPts val="0"/>
              </a:spcBef>
              <a:spcAft>
                <a:spcPts val="0"/>
              </a:spcAft>
              <a:buSzPts val="1400"/>
              <a:buNone/>
            </a:pPr>
            <a:r>
              <a:rPr lang="en-US" sz="1200"/>
              <a:t>Wahyono, S.Kom., Ph.D.</a:t>
            </a:r>
            <a:endParaRPr sz="1200"/>
          </a:p>
          <a:p>
            <a:pPr indent="0" lvl="0" marL="0" rtl="0" algn="l">
              <a:lnSpc>
                <a:spcPct val="115000"/>
              </a:lnSpc>
              <a:spcBef>
                <a:spcPts val="0"/>
              </a:spcBef>
              <a:spcAft>
                <a:spcPts val="0"/>
              </a:spcAft>
              <a:buSzPts val="1400"/>
              <a:buNone/>
            </a:pPr>
            <a:r>
              <a:t/>
            </a:r>
            <a:endParaRPr b="1"/>
          </a:p>
        </p:txBody>
      </p:sp>
      <p:sp>
        <p:nvSpPr>
          <p:cNvPr id="100" name="Google Shape;100;p1"/>
          <p:cNvSpPr txBox="1"/>
          <p:nvPr>
            <p:ph idx="3" type="subTitle"/>
          </p:nvPr>
        </p:nvSpPr>
        <p:spPr>
          <a:xfrm>
            <a:off x="2582550" y="398025"/>
            <a:ext cx="35343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400"/>
              <a:buNone/>
            </a:pPr>
            <a:r>
              <a:rPr b="1" lang="en-US"/>
              <a:t>Thesis Proposal Defense</a:t>
            </a:r>
            <a:endParaRPr b="1"/>
          </a:p>
        </p:txBody>
      </p:sp>
      <p:sp>
        <p:nvSpPr>
          <p:cNvPr id="101" name="Google Shape;101;p1"/>
          <p:cNvSpPr txBox="1"/>
          <p:nvPr>
            <p:ph idx="2" type="subTitle"/>
          </p:nvPr>
        </p:nvSpPr>
        <p:spPr>
          <a:xfrm>
            <a:off x="2601150" y="3505488"/>
            <a:ext cx="3941700" cy="5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US" sz="1200"/>
              <a:t>Michael Satpelin Williamtu </a:t>
            </a:r>
            <a:r>
              <a:rPr lang="en-US" sz="1200"/>
              <a:t>(23/517103/PA/22151)</a:t>
            </a:r>
            <a:endParaRPr sz="1200"/>
          </a:p>
        </p:txBody>
      </p:sp>
      <p:sp>
        <p:nvSpPr>
          <p:cNvPr id="102" name="Google Shape;102;p1"/>
          <p:cNvSpPr txBox="1"/>
          <p:nvPr>
            <p:ph idx="2" type="subTitle"/>
          </p:nvPr>
        </p:nvSpPr>
        <p:spPr>
          <a:xfrm>
            <a:off x="4835875" y="383100"/>
            <a:ext cx="3941700" cy="5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SzPts val="1400"/>
              <a:buNone/>
            </a:pPr>
            <a:r>
              <a:rPr b="1" lang="en-US" sz="1200"/>
              <a:t>Examiner:</a:t>
            </a:r>
            <a:endParaRPr b="1" sz="1200"/>
          </a:p>
          <a:p>
            <a:pPr indent="0" lvl="0" marL="0" rtl="0" algn="r">
              <a:lnSpc>
                <a:spcPct val="115000"/>
              </a:lnSpc>
              <a:spcBef>
                <a:spcPts val="0"/>
              </a:spcBef>
              <a:spcAft>
                <a:spcPts val="0"/>
              </a:spcAft>
              <a:buSzPts val="1400"/>
              <a:buNone/>
            </a:pPr>
            <a:r>
              <a:rPr lang="en-US" sz="1200"/>
              <a:t>Dr. Mardhani Riasetiawan, SE Ak, M.T</a:t>
            </a:r>
            <a:endParaRPr/>
          </a:p>
          <a:p>
            <a:pPr indent="0" lvl="0" marL="0" rtl="0" algn="r">
              <a:lnSpc>
                <a:spcPct val="115000"/>
              </a:lnSpc>
              <a:spcBef>
                <a:spcPts val="0"/>
              </a:spcBef>
              <a:spcAft>
                <a:spcPts val="0"/>
              </a:spcAft>
              <a:buSzPts val="1400"/>
              <a:buNone/>
            </a:pPr>
            <a:r>
              <a:rPr lang="en-US" sz="1200"/>
              <a:t>Novera Istiqomah, S.T., M.T., Ph.D.</a:t>
            </a:r>
            <a:endParaRPr sz="1200">
              <a:latin typeface="Proxima Nova"/>
              <a:ea typeface="Proxima Nova"/>
              <a:cs typeface="Proxima Nova"/>
              <a:sym typeface="Proxima Nova"/>
            </a:endParaRPr>
          </a:p>
          <a:p>
            <a:pPr indent="0" lvl="0" marL="0" rtl="0" algn="r">
              <a:lnSpc>
                <a:spcPct val="115000"/>
              </a:lnSpc>
              <a:spcBef>
                <a:spcPts val="0"/>
              </a:spcBef>
              <a:spcAft>
                <a:spcPts val="0"/>
              </a:spcAft>
              <a:buSzPts val="1400"/>
              <a:buNone/>
            </a:pPr>
            <a:r>
              <a:t/>
            </a:r>
            <a:endParaRPr sz="1200"/>
          </a:p>
          <a:p>
            <a:pPr indent="0" lvl="0" marL="0" rtl="0" algn="l">
              <a:lnSpc>
                <a:spcPct val="115000"/>
              </a:lnSpc>
              <a:spcBef>
                <a:spcPts val="0"/>
              </a:spcBef>
              <a:spcAft>
                <a:spcPts val="0"/>
              </a:spcAft>
              <a:buSzPts val="1400"/>
              <a:buNone/>
            </a:pPr>
            <a:r>
              <a:t/>
            </a:r>
            <a:endParaRPr/>
          </a:p>
          <a:p>
            <a:pPr indent="0" lvl="0" marL="0" rtl="0" algn="l">
              <a:lnSpc>
                <a:spcPct val="115000"/>
              </a:lnSpc>
              <a:spcBef>
                <a:spcPts val="0"/>
              </a:spcBef>
              <a:spcAft>
                <a:spcPts val="0"/>
              </a:spcAft>
              <a:buSzPts val="1400"/>
              <a:buNone/>
            </a:pPr>
            <a:r>
              <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2"/>
          <p:cNvGrpSpPr/>
          <p:nvPr/>
        </p:nvGrpSpPr>
        <p:grpSpPr>
          <a:xfrm>
            <a:off x="750654" y="1056438"/>
            <a:ext cx="1342807" cy="3500456"/>
            <a:chOff x="750650" y="1373022"/>
            <a:chExt cx="1342807" cy="3179053"/>
          </a:xfrm>
        </p:grpSpPr>
        <p:sp>
          <p:nvSpPr>
            <p:cNvPr id="108" name="Google Shape;108;p2"/>
            <p:cNvSpPr/>
            <p:nvPr/>
          </p:nvSpPr>
          <p:spPr>
            <a:xfrm>
              <a:off x="750657" y="1373022"/>
              <a:ext cx="1342801" cy="3100656"/>
            </a:xfrm>
            <a:prstGeom prst="roundRect">
              <a:avLst>
                <a:gd fmla="val 16667" name="adj"/>
              </a:avLst>
            </a:prstGeom>
            <a:solidFill>
              <a:schemeClr val="accent5"/>
            </a:solidFill>
            <a:ln cap="flat" cmpd="sng" w="7225">
              <a:solidFill>
                <a:schemeClr val="accent5"/>
              </a:solidFill>
              <a:prstDash val="solid"/>
              <a:round/>
              <a:headEnd len="sm" w="sm" type="none"/>
              <a:tailEnd len="sm" w="sm" type="none"/>
            </a:ln>
            <a:effectLst>
              <a:outerShdw blurRad="57150" rotWithShape="0" algn="bl" dir="5400000" dist="19050">
                <a:srgbClr val="000000">
                  <a:alpha val="3999"/>
                </a:srgbClr>
              </a:outerShdw>
            </a:effectLst>
          </p:spPr>
          <p:txBody>
            <a:bodyPr anchorCtr="0" anchor="ctr" bIns="69225" lIns="69225" spcFirstLastPara="1" rIns="69225" wrap="square" tIns="69225">
              <a:noAutofit/>
            </a:bodyPr>
            <a:lstStyle/>
            <a:p>
              <a:pPr indent="0" lvl="0" marL="0" rtl="0" algn="ctr">
                <a:spcBef>
                  <a:spcPts val="0"/>
                </a:spcBef>
                <a:spcAft>
                  <a:spcPts val="0"/>
                </a:spcAft>
                <a:buNone/>
              </a:pPr>
              <a:r>
                <a:t/>
              </a:r>
              <a:endParaRPr sz="1060">
                <a:latin typeface="Quattrocento Sans"/>
                <a:ea typeface="Quattrocento Sans"/>
                <a:cs typeface="Quattrocento Sans"/>
                <a:sym typeface="Quattrocento Sans"/>
              </a:endParaRPr>
            </a:p>
          </p:txBody>
        </p:sp>
        <p:sp>
          <p:nvSpPr>
            <p:cNvPr id="109" name="Google Shape;109;p2"/>
            <p:cNvSpPr/>
            <p:nvPr/>
          </p:nvSpPr>
          <p:spPr>
            <a:xfrm>
              <a:off x="750650" y="1915375"/>
              <a:ext cx="1342800" cy="2636700"/>
            </a:xfrm>
            <a:prstGeom prst="roundRect">
              <a:avLst>
                <a:gd fmla="val 16667" name="adj"/>
              </a:avLst>
            </a:prstGeom>
            <a:solidFill>
              <a:srgbClr val="F4F5FB"/>
            </a:solidFill>
            <a:ln cap="flat" cmpd="sng" w="7225">
              <a:solidFill>
                <a:schemeClr val="accent5"/>
              </a:solidFill>
              <a:prstDash val="solid"/>
              <a:round/>
              <a:headEnd len="sm" w="sm" type="none"/>
              <a:tailEnd len="sm" w="sm" type="none"/>
            </a:ln>
            <a:effectLst>
              <a:outerShdw blurRad="57150" rotWithShape="0" algn="bl" dir="5400000" dist="19050">
                <a:srgbClr val="000000">
                  <a:alpha val="3999"/>
                </a:srgbClr>
              </a:outerShdw>
            </a:effectLst>
          </p:spPr>
          <p:txBody>
            <a:bodyPr anchorCtr="0" anchor="ctr" bIns="69225" lIns="69225" spcFirstLastPara="1" rIns="69225" wrap="square" tIns="69225">
              <a:noAutofit/>
            </a:bodyPr>
            <a:lstStyle/>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l">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rPr lang="en-US" sz="1060">
                  <a:latin typeface="Quattrocento Sans"/>
                  <a:ea typeface="Quattrocento Sans"/>
                  <a:cs typeface="Quattrocento Sans"/>
                  <a:sym typeface="Quattrocento Sans"/>
                </a:rPr>
                <a:t>What is pneumothorax and why does it matter clinically?</a:t>
              </a:r>
              <a:endParaRPr sz="1060">
                <a:latin typeface="Quattrocento Sans"/>
                <a:ea typeface="Quattrocento Sans"/>
                <a:cs typeface="Quattrocento Sans"/>
                <a:sym typeface="Quattrocento Sans"/>
              </a:endParaRPr>
            </a:p>
            <a:p>
              <a:pPr indent="0" lvl="0" marL="0" rtl="0" algn="ctr">
                <a:spcBef>
                  <a:spcPts val="0"/>
                </a:spcBef>
                <a:spcAft>
                  <a:spcPts val="0"/>
                </a:spcAft>
                <a:buNone/>
              </a:pPr>
              <a:r>
                <a:t/>
              </a:r>
              <a:endParaRPr sz="1060">
                <a:latin typeface="Quattrocento Sans"/>
                <a:ea typeface="Quattrocento Sans"/>
                <a:cs typeface="Quattrocento Sans"/>
                <a:sym typeface="Quattrocento Sans"/>
              </a:endParaRPr>
            </a:p>
          </p:txBody>
        </p:sp>
      </p:grpSp>
      <p:sp>
        <p:nvSpPr>
          <p:cNvPr id="110" name="Google Shape;110;p2"/>
          <p:cNvSpPr txBox="1"/>
          <p:nvPr>
            <p:ph type="title"/>
          </p:nvPr>
        </p:nvSpPr>
        <p:spPr>
          <a:xfrm>
            <a:off x="729450" y="216350"/>
            <a:ext cx="7688400" cy="535200"/>
          </a:xfrm>
          <a:prstGeom prst="rect">
            <a:avLst/>
          </a:prstGeom>
          <a:solidFill>
            <a:srgbClr val="F4F5FB"/>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US"/>
              <a:t>Presentation Outline</a:t>
            </a:r>
            <a:endParaRPr/>
          </a:p>
        </p:txBody>
      </p:sp>
      <p:grpSp>
        <p:nvGrpSpPr>
          <p:cNvPr id="111" name="Google Shape;111;p2"/>
          <p:cNvGrpSpPr/>
          <p:nvPr/>
        </p:nvGrpSpPr>
        <p:grpSpPr>
          <a:xfrm>
            <a:off x="2325629" y="1056452"/>
            <a:ext cx="1342807" cy="3500456"/>
            <a:chOff x="750650" y="1373022"/>
            <a:chExt cx="1342807" cy="3179053"/>
          </a:xfrm>
        </p:grpSpPr>
        <p:sp>
          <p:nvSpPr>
            <p:cNvPr id="112" name="Google Shape;112;p2"/>
            <p:cNvSpPr/>
            <p:nvPr/>
          </p:nvSpPr>
          <p:spPr>
            <a:xfrm>
              <a:off x="750657" y="1373022"/>
              <a:ext cx="1342800" cy="3100800"/>
            </a:xfrm>
            <a:prstGeom prst="roundRect">
              <a:avLst>
                <a:gd fmla="val 16667" name="adj"/>
              </a:avLst>
            </a:prstGeom>
            <a:solidFill>
              <a:schemeClr val="accent5"/>
            </a:solidFill>
            <a:ln cap="flat" cmpd="sng" w="7225">
              <a:solidFill>
                <a:schemeClr val="accent5"/>
              </a:solidFill>
              <a:prstDash val="solid"/>
              <a:round/>
              <a:headEnd len="sm" w="sm" type="none"/>
              <a:tailEnd len="sm" w="sm" type="none"/>
            </a:ln>
            <a:effectLst>
              <a:outerShdw blurRad="57150" rotWithShape="0" algn="bl" dir="5400000" dist="19050">
                <a:srgbClr val="000000">
                  <a:alpha val="3999"/>
                </a:srgbClr>
              </a:outerShdw>
            </a:effectLst>
          </p:spPr>
          <p:txBody>
            <a:bodyPr anchorCtr="0" anchor="ctr" bIns="69225" lIns="69225" spcFirstLastPara="1" rIns="69225" wrap="square" tIns="69225">
              <a:noAutofit/>
            </a:bodyPr>
            <a:lstStyle/>
            <a:p>
              <a:pPr indent="0" lvl="0" marL="0" rtl="0" algn="ctr">
                <a:spcBef>
                  <a:spcPts val="0"/>
                </a:spcBef>
                <a:spcAft>
                  <a:spcPts val="0"/>
                </a:spcAft>
                <a:buNone/>
              </a:pPr>
              <a:r>
                <a:t/>
              </a:r>
              <a:endParaRPr sz="1060">
                <a:latin typeface="Quattrocento Sans"/>
                <a:ea typeface="Quattrocento Sans"/>
                <a:cs typeface="Quattrocento Sans"/>
                <a:sym typeface="Quattrocento Sans"/>
              </a:endParaRPr>
            </a:p>
          </p:txBody>
        </p:sp>
        <p:sp>
          <p:nvSpPr>
            <p:cNvPr id="113" name="Google Shape;113;p2"/>
            <p:cNvSpPr/>
            <p:nvPr/>
          </p:nvSpPr>
          <p:spPr>
            <a:xfrm>
              <a:off x="750650" y="1915375"/>
              <a:ext cx="1342800" cy="2636700"/>
            </a:xfrm>
            <a:prstGeom prst="roundRect">
              <a:avLst>
                <a:gd fmla="val 16667" name="adj"/>
              </a:avLst>
            </a:prstGeom>
            <a:solidFill>
              <a:srgbClr val="F4F5FB"/>
            </a:solidFill>
            <a:ln cap="flat" cmpd="sng" w="7225">
              <a:solidFill>
                <a:schemeClr val="accent5"/>
              </a:solidFill>
              <a:prstDash val="solid"/>
              <a:round/>
              <a:headEnd len="sm" w="sm" type="none"/>
              <a:tailEnd len="sm" w="sm" type="none"/>
            </a:ln>
            <a:effectLst>
              <a:outerShdw blurRad="57150" rotWithShape="0" algn="bl" dir="5400000" dist="19050">
                <a:srgbClr val="000000">
                  <a:alpha val="3999"/>
                </a:srgbClr>
              </a:outerShdw>
            </a:effectLst>
          </p:spPr>
          <p:txBody>
            <a:bodyPr anchorCtr="0" anchor="ctr" bIns="69225" lIns="69225" spcFirstLastPara="1" rIns="69225" wrap="square" tIns="69225">
              <a:noAutofit/>
            </a:bodyPr>
            <a:lstStyle/>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l">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rPr lang="en-US" sz="1060">
                  <a:latin typeface="Quattrocento Sans"/>
                  <a:ea typeface="Quattrocento Sans"/>
                  <a:cs typeface="Quattrocento Sans"/>
                  <a:sym typeface="Quattrocento Sans"/>
                </a:rPr>
                <a:t>Limitations of current AI approaches</a:t>
              </a:r>
              <a:endParaRPr sz="1060">
                <a:latin typeface="Quattrocento Sans"/>
                <a:ea typeface="Quattrocento Sans"/>
                <a:cs typeface="Quattrocento Sans"/>
                <a:sym typeface="Quattrocento Sans"/>
              </a:endParaRPr>
            </a:p>
          </p:txBody>
        </p:sp>
      </p:grpSp>
      <p:grpSp>
        <p:nvGrpSpPr>
          <p:cNvPr id="114" name="Google Shape;114;p2"/>
          <p:cNvGrpSpPr/>
          <p:nvPr/>
        </p:nvGrpSpPr>
        <p:grpSpPr>
          <a:xfrm>
            <a:off x="3900604" y="1056452"/>
            <a:ext cx="1342807" cy="3500456"/>
            <a:chOff x="750650" y="1373022"/>
            <a:chExt cx="1342807" cy="3179053"/>
          </a:xfrm>
        </p:grpSpPr>
        <p:sp>
          <p:nvSpPr>
            <p:cNvPr id="115" name="Google Shape;115;p2"/>
            <p:cNvSpPr/>
            <p:nvPr/>
          </p:nvSpPr>
          <p:spPr>
            <a:xfrm>
              <a:off x="750657" y="1373022"/>
              <a:ext cx="1342800" cy="3100800"/>
            </a:xfrm>
            <a:prstGeom prst="roundRect">
              <a:avLst>
                <a:gd fmla="val 16667" name="adj"/>
              </a:avLst>
            </a:prstGeom>
            <a:solidFill>
              <a:schemeClr val="accent5"/>
            </a:solidFill>
            <a:ln cap="flat" cmpd="sng" w="7225">
              <a:solidFill>
                <a:schemeClr val="accent5"/>
              </a:solidFill>
              <a:prstDash val="solid"/>
              <a:round/>
              <a:headEnd len="sm" w="sm" type="none"/>
              <a:tailEnd len="sm" w="sm" type="none"/>
            </a:ln>
            <a:effectLst>
              <a:outerShdw blurRad="57150" rotWithShape="0" algn="bl" dir="5400000" dist="19050">
                <a:srgbClr val="000000">
                  <a:alpha val="3999"/>
                </a:srgbClr>
              </a:outerShdw>
            </a:effectLst>
          </p:spPr>
          <p:txBody>
            <a:bodyPr anchorCtr="0" anchor="ctr" bIns="69225" lIns="69225" spcFirstLastPara="1" rIns="69225" wrap="square" tIns="69225">
              <a:noAutofit/>
            </a:bodyPr>
            <a:lstStyle/>
            <a:p>
              <a:pPr indent="0" lvl="0" marL="0" rtl="0" algn="ctr">
                <a:spcBef>
                  <a:spcPts val="0"/>
                </a:spcBef>
                <a:spcAft>
                  <a:spcPts val="0"/>
                </a:spcAft>
                <a:buNone/>
              </a:pPr>
              <a:r>
                <a:t/>
              </a:r>
              <a:endParaRPr sz="1060">
                <a:latin typeface="Quattrocento Sans"/>
                <a:ea typeface="Quattrocento Sans"/>
                <a:cs typeface="Quattrocento Sans"/>
                <a:sym typeface="Quattrocento Sans"/>
              </a:endParaRPr>
            </a:p>
          </p:txBody>
        </p:sp>
        <p:sp>
          <p:nvSpPr>
            <p:cNvPr id="116" name="Google Shape;116;p2"/>
            <p:cNvSpPr/>
            <p:nvPr/>
          </p:nvSpPr>
          <p:spPr>
            <a:xfrm>
              <a:off x="750650" y="1915375"/>
              <a:ext cx="1342800" cy="2636700"/>
            </a:xfrm>
            <a:prstGeom prst="roundRect">
              <a:avLst>
                <a:gd fmla="val 16667" name="adj"/>
              </a:avLst>
            </a:prstGeom>
            <a:solidFill>
              <a:srgbClr val="F4F5FB"/>
            </a:solidFill>
            <a:ln cap="flat" cmpd="sng" w="7225">
              <a:solidFill>
                <a:schemeClr val="accent5"/>
              </a:solidFill>
              <a:prstDash val="solid"/>
              <a:round/>
              <a:headEnd len="sm" w="sm" type="none"/>
              <a:tailEnd len="sm" w="sm" type="none"/>
            </a:ln>
            <a:effectLst>
              <a:outerShdw blurRad="57150" rotWithShape="0" algn="bl" dir="5400000" dist="19050">
                <a:srgbClr val="000000">
                  <a:alpha val="3999"/>
                </a:srgbClr>
              </a:outerShdw>
            </a:effectLst>
          </p:spPr>
          <p:txBody>
            <a:bodyPr anchorCtr="0" anchor="ctr" bIns="69225" lIns="69225" spcFirstLastPara="1" rIns="69225" wrap="square" tIns="69225">
              <a:noAutofit/>
            </a:bodyPr>
            <a:lstStyle/>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l">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rPr lang="en-US" sz="1060">
                  <a:latin typeface="Quattrocento Sans"/>
                  <a:ea typeface="Quattrocento Sans"/>
                  <a:cs typeface="Quattrocento Sans"/>
                  <a:sym typeface="Quattrocento Sans"/>
                </a:rPr>
                <a:t>State-of-the-art CXR segmentation methods</a:t>
              </a:r>
              <a:endParaRPr sz="1060">
                <a:latin typeface="Quattrocento Sans"/>
                <a:ea typeface="Quattrocento Sans"/>
                <a:cs typeface="Quattrocento Sans"/>
                <a:sym typeface="Quattrocento Sans"/>
              </a:endParaRPr>
            </a:p>
          </p:txBody>
        </p:sp>
      </p:grpSp>
      <p:grpSp>
        <p:nvGrpSpPr>
          <p:cNvPr id="117" name="Google Shape;117;p2"/>
          <p:cNvGrpSpPr/>
          <p:nvPr/>
        </p:nvGrpSpPr>
        <p:grpSpPr>
          <a:xfrm>
            <a:off x="5475577" y="1056452"/>
            <a:ext cx="1342807" cy="3500456"/>
            <a:chOff x="750650" y="1373022"/>
            <a:chExt cx="1342807" cy="3179053"/>
          </a:xfrm>
        </p:grpSpPr>
        <p:sp>
          <p:nvSpPr>
            <p:cNvPr id="118" name="Google Shape;118;p2"/>
            <p:cNvSpPr/>
            <p:nvPr/>
          </p:nvSpPr>
          <p:spPr>
            <a:xfrm>
              <a:off x="750657" y="1373022"/>
              <a:ext cx="1342800" cy="3100800"/>
            </a:xfrm>
            <a:prstGeom prst="roundRect">
              <a:avLst>
                <a:gd fmla="val 16667" name="adj"/>
              </a:avLst>
            </a:prstGeom>
            <a:solidFill>
              <a:schemeClr val="accent5"/>
            </a:solidFill>
            <a:ln cap="flat" cmpd="sng" w="7225">
              <a:solidFill>
                <a:schemeClr val="accent5"/>
              </a:solidFill>
              <a:prstDash val="solid"/>
              <a:round/>
              <a:headEnd len="sm" w="sm" type="none"/>
              <a:tailEnd len="sm" w="sm" type="none"/>
            </a:ln>
            <a:effectLst>
              <a:outerShdw blurRad="57150" rotWithShape="0" algn="bl" dir="5400000" dist="19050">
                <a:srgbClr val="000000">
                  <a:alpha val="3999"/>
                </a:srgbClr>
              </a:outerShdw>
            </a:effectLst>
          </p:spPr>
          <p:txBody>
            <a:bodyPr anchorCtr="0" anchor="ctr" bIns="69225" lIns="69225" spcFirstLastPara="1" rIns="69225" wrap="square" tIns="69225">
              <a:noAutofit/>
            </a:bodyPr>
            <a:lstStyle/>
            <a:p>
              <a:pPr indent="0" lvl="0" marL="0" rtl="0" algn="ctr">
                <a:spcBef>
                  <a:spcPts val="0"/>
                </a:spcBef>
                <a:spcAft>
                  <a:spcPts val="0"/>
                </a:spcAft>
                <a:buNone/>
              </a:pPr>
              <a:r>
                <a:t/>
              </a:r>
              <a:endParaRPr sz="1060">
                <a:latin typeface="Quattrocento Sans"/>
                <a:ea typeface="Quattrocento Sans"/>
                <a:cs typeface="Quattrocento Sans"/>
                <a:sym typeface="Quattrocento Sans"/>
              </a:endParaRPr>
            </a:p>
          </p:txBody>
        </p:sp>
        <p:sp>
          <p:nvSpPr>
            <p:cNvPr id="119" name="Google Shape;119;p2"/>
            <p:cNvSpPr/>
            <p:nvPr/>
          </p:nvSpPr>
          <p:spPr>
            <a:xfrm>
              <a:off x="750650" y="1915375"/>
              <a:ext cx="1342800" cy="2636700"/>
            </a:xfrm>
            <a:prstGeom prst="roundRect">
              <a:avLst>
                <a:gd fmla="val 16667" name="adj"/>
              </a:avLst>
            </a:prstGeom>
            <a:solidFill>
              <a:srgbClr val="F4F5FB"/>
            </a:solidFill>
            <a:ln cap="flat" cmpd="sng" w="7225">
              <a:solidFill>
                <a:schemeClr val="accent5"/>
              </a:solidFill>
              <a:prstDash val="solid"/>
              <a:round/>
              <a:headEnd len="sm" w="sm" type="none"/>
              <a:tailEnd len="sm" w="sm" type="none"/>
            </a:ln>
            <a:effectLst>
              <a:outerShdw blurRad="57150" rotWithShape="0" algn="bl" dir="5400000" dist="19050">
                <a:srgbClr val="000000">
                  <a:alpha val="3999"/>
                </a:srgbClr>
              </a:outerShdw>
            </a:effectLst>
          </p:spPr>
          <p:txBody>
            <a:bodyPr anchorCtr="0" anchor="ctr" bIns="69225" lIns="69225" spcFirstLastPara="1" rIns="69225" wrap="square" tIns="69225">
              <a:noAutofit/>
            </a:bodyPr>
            <a:lstStyle/>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rPr lang="en-US" sz="1060">
                  <a:latin typeface="Quattrocento Sans"/>
                  <a:ea typeface="Quattrocento Sans"/>
                  <a:cs typeface="Quattrocento Sans"/>
                  <a:sym typeface="Quattrocento Sans"/>
                </a:rPr>
                <a:t>Dataset, architecture, training pipeline</a:t>
              </a:r>
              <a:endParaRPr sz="1060">
                <a:latin typeface="Quattrocento Sans"/>
                <a:ea typeface="Quattrocento Sans"/>
                <a:cs typeface="Quattrocento Sans"/>
                <a:sym typeface="Quattrocento Sans"/>
              </a:endParaRPr>
            </a:p>
          </p:txBody>
        </p:sp>
      </p:grpSp>
      <p:grpSp>
        <p:nvGrpSpPr>
          <p:cNvPr id="120" name="Google Shape;120;p2"/>
          <p:cNvGrpSpPr/>
          <p:nvPr/>
        </p:nvGrpSpPr>
        <p:grpSpPr>
          <a:xfrm>
            <a:off x="7050548" y="1056452"/>
            <a:ext cx="1342807" cy="3500456"/>
            <a:chOff x="750650" y="1373022"/>
            <a:chExt cx="1342807" cy="3179053"/>
          </a:xfrm>
        </p:grpSpPr>
        <p:sp>
          <p:nvSpPr>
            <p:cNvPr id="121" name="Google Shape;121;p2"/>
            <p:cNvSpPr/>
            <p:nvPr/>
          </p:nvSpPr>
          <p:spPr>
            <a:xfrm>
              <a:off x="750657" y="1373022"/>
              <a:ext cx="1342800" cy="3100800"/>
            </a:xfrm>
            <a:prstGeom prst="roundRect">
              <a:avLst>
                <a:gd fmla="val 16667" name="adj"/>
              </a:avLst>
            </a:prstGeom>
            <a:solidFill>
              <a:schemeClr val="accent5"/>
            </a:solidFill>
            <a:ln cap="flat" cmpd="sng" w="7225">
              <a:solidFill>
                <a:schemeClr val="accent5"/>
              </a:solidFill>
              <a:prstDash val="solid"/>
              <a:round/>
              <a:headEnd len="sm" w="sm" type="none"/>
              <a:tailEnd len="sm" w="sm" type="none"/>
            </a:ln>
            <a:effectLst>
              <a:outerShdw blurRad="57150" rotWithShape="0" algn="bl" dir="5400000" dist="19050">
                <a:srgbClr val="000000">
                  <a:alpha val="3999"/>
                </a:srgbClr>
              </a:outerShdw>
            </a:effectLst>
          </p:spPr>
          <p:txBody>
            <a:bodyPr anchorCtr="0" anchor="ctr" bIns="69225" lIns="69225" spcFirstLastPara="1" rIns="69225" wrap="square" tIns="69225">
              <a:noAutofit/>
            </a:bodyPr>
            <a:lstStyle/>
            <a:p>
              <a:pPr indent="0" lvl="0" marL="0" rtl="0" algn="ctr">
                <a:spcBef>
                  <a:spcPts val="0"/>
                </a:spcBef>
                <a:spcAft>
                  <a:spcPts val="0"/>
                </a:spcAft>
                <a:buNone/>
              </a:pPr>
              <a:r>
                <a:t/>
              </a:r>
              <a:endParaRPr sz="1060">
                <a:latin typeface="Quattrocento Sans"/>
                <a:ea typeface="Quattrocento Sans"/>
                <a:cs typeface="Quattrocento Sans"/>
                <a:sym typeface="Quattrocento Sans"/>
              </a:endParaRPr>
            </a:p>
          </p:txBody>
        </p:sp>
        <p:sp>
          <p:nvSpPr>
            <p:cNvPr id="122" name="Google Shape;122;p2"/>
            <p:cNvSpPr/>
            <p:nvPr/>
          </p:nvSpPr>
          <p:spPr>
            <a:xfrm>
              <a:off x="750650" y="1915375"/>
              <a:ext cx="1342800" cy="2636700"/>
            </a:xfrm>
            <a:prstGeom prst="roundRect">
              <a:avLst>
                <a:gd fmla="val 16667" name="adj"/>
              </a:avLst>
            </a:prstGeom>
            <a:solidFill>
              <a:srgbClr val="F4F5FB"/>
            </a:solidFill>
            <a:ln cap="flat" cmpd="sng" w="7225">
              <a:solidFill>
                <a:schemeClr val="accent5"/>
              </a:solidFill>
              <a:prstDash val="solid"/>
              <a:round/>
              <a:headEnd len="sm" w="sm" type="none"/>
              <a:tailEnd len="sm" w="sm" type="none"/>
            </a:ln>
            <a:effectLst>
              <a:outerShdw blurRad="57150" rotWithShape="0" algn="bl" dir="5400000" dist="19050">
                <a:srgbClr val="000000">
                  <a:alpha val="3999"/>
                </a:srgbClr>
              </a:outerShdw>
            </a:effectLst>
          </p:spPr>
          <p:txBody>
            <a:bodyPr anchorCtr="0" anchor="ctr" bIns="69225" lIns="69225" spcFirstLastPara="1" rIns="69225" wrap="square" tIns="69225">
              <a:noAutofit/>
            </a:bodyPr>
            <a:lstStyle/>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t/>
              </a:r>
              <a:endParaRPr sz="1060">
                <a:latin typeface="Quattrocento Sans"/>
                <a:ea typeface="Quattrocento Sans"/>
                <a:cs typeface="Quattrocento Sans"/>
                <a:sym typeface="Quattrocento Sans"/>
              </a:endParaRPr>
            </a:p>
            <a:p>
              <a:pPr indent="0" lvl="0" marL="0" rtl="0" algn="ctr">
                <a:spcBef>
                  <a:spcPts val="0"/>
                </a:spcBef>
                <a:spcAft>
                  <a:spcPts val="0"/>
                </a:spcAft>
                <a:buNone/>
              </a:pPr>
              <a:r>
                <a:rPr lang="en-US" sz="1060">
                  <a:latin typeface="Quattrocento Sans"/>
                  <a:ea typeface="Quattrocento Sans"/>
                  <a:cs typeface="Quattrocento Sans"/>
                  <a:sym typeface="Quattrocento Sans"/>
                </a:rPr>
                <a:t>Evaluation Metrics</a:t>
              </a:r>
              <a:endParaRPr sz="1060">
                <a:latin typeface="Quattrocento Sans"/>
                <a:ea typeface="Quattrocento Sans"/>
                <a:cs typeface="Quattrocento Sans"/>
                <a:sym typeface="Quattrocento Sans"/>
              </a:endParaRPr>
            </a:p>
            <a:p>
              <a:pPr indent="0" lvl="0" marL="0" rtl="0" algn="ctr">
                <a:spcBef>
                  <a:spcPts val="0"/>
                </a:spcBef>
                <a:spcAft>
                  <a:spcPts val="0"/>
                </a:spcAft>
                <a:buNone/>
              </a:pPr>
              <a:r>
                <a:t/>
              </a:r>
              <a:endParaRPr sz="1060">
                <a:latin typeface="Quattrocento Sans"/>
                <a:ea typeface="Quattrocento Sans"/>
                <a:cs typeface="Quattrocento Sans"/>
                <a:sym typeface="Quattrocento Sans"/>
              </a:endParaRPr>
            </a:p>
          </p:txBody>
        </p:sp>
      </p:grpSp>
      <p:sp>
        <p:nvSpPr>
          <p:cNvPr id="123" name="Google Shape;123;p2"/>
          <p:cNvSpPr txBox="1"/>
          <p:nvPr/>
        </p:nvSpPr>
        <p:spPr>
          <a:xfrm>
            <a:off x="958100" y="1056425"/>
            <a:ext cx="9279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solidFill>
                  <a:schemeClr val="accent4"/>
                </a:solidFill>
                <a:latin typeface="Lato Black"/>
                <a:ea typeface="Lato Black"/>
                <a:cs typeface="Lato Black"/>
                <a:sym typeface="Lato Black"/>
              </a:rPr>
              <a:t>1</a:t>
            </a:r>
            <a:endParaRPr sz="2600">
              <a:solidFill>
                <a:schemeClr val="accent4"/>
              </a:solidFill>
              <a:latin typeface="Lato Black"/>
              <a:ea typeface="Lato Black"/>
              <a:cs typeface="Lato Black"/>
              <a:sym typeface="Lato Black"/>
            </a:endParaRPr>
          </a:p>
        </p:txBody>
      </p:sp>
      <p:sp>
        <p:nvSpPr>
          <p:cNvPr id="124" name="Google Shape;124;p2"/>
          <p:cNvSpPr txBox="1"/>
          <p:nvPr/>
        </p:nvSpPr>
        <p:spPr>
          <a:xfrm>
            <a:off x="2533075" y="1056425"/>
            <a:ext cx="9279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solidFill>
                  <a:schemeClr val="accent4"/>
                </a:solidFill>
                <a:latin typeface="Lato Black"/>
                <a:ea typeface="Lato Black"/>
                <a:cs typeface="Lato Black"/>
                <a:sym typeface="Lato Black"/>
              </a:rPr>
              <a:t>2</a:t>
            </a:r>
            <a:endParaRPr sz="2600">
              <a:solidFill>
                <a:schemeClr val="accent4"/>
              </a:solidFill>
              <a:latin typeface="Lato Black"/>
              <a:ea typeface="Lato Black"/>
              <a:cs typeface="Lato Black"/>
              <a:sym typeface="Lato Black"/>
            </a:endParaRPr>
          </a:p>
        </p:txBody>
      </p:sp>
      <p:sp>
        <p:nvSpPr>
          <p:cNvPr id="125" name="Google Shape;125;p2"/>
          <p:cNvSpPr txBox="1"/>
          <p:nvPr/>
        </p:nvSpPr>
        <p:spPr>
          <a:xfrm>
            <a:off x="4108050" y="1056425"/>
            <a:ext cx="9279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solidFill>
                  <a:schemeClr val="accent4"/>
                </a:solidFill>
                <a:latin typeface="Lato Black"/>
                <a:ea typeface="Lato Black"/>
                <a:cs typeface="Lato Black"/>
                <a:sym typeface="Lato Black"/>
              </a:rPr>
              <a:t>3</a:t>
            </a:r>
            <a:endParaRPr sz="2600">
              <a:solidFill>
                <a:schemeClr val="accent4"/>
              </a:solidFill>
              <a:latin typeface="Lato Black"/>
              <a:ea typeface="Lato Black"/>
              <a:cs typeface="Lato Black"/>
              <a:sym typeface="Lato Black"/>
            </a:endParaRPr>
          </a:p>
        </p:txBody>
      </p:sp>
      <p:sp>
        <p:nvSpPr>
          <p:cNvPr id="126" name="Google Shape;126;p2"/>
          <p:cNvSpPr txBox="1"/>
          <p:nvPr/>
        </p:nvSpPr>
        <p:spPr>
          <a:xfrm>
            <a:off x="5683025" y="1056425"/>
            <a:ext cx="9279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solidFill>
                  <a:schemeClr val="accent4"/>
                </a:solidFill>
                <a:latin typeface="Lato Black"/>
                <a:ea typeface="Lato Black"/>
                <a:cs typeface="Lato Black"/>
                <a:sym typeface="Lato Black"/>
              </a:rPr>
              <a:t>4</a:t>
            </a:r>
            <a:endParaRPr sz="2600">
              <a:solidFill>
                <a:schemeClr val="accent4"/>
              </a:solidFill>
              <a:latin typeface="Lato Black"/>
              <a:ea typeface="Lato Black"/>
              <a:cs typeface="Lato Black"/>
              <a:sym typeface="Lato Black"/>
            </a:endParaRPr>
          </a:p>
        </p:txBody>
      </p:sp>
      <p:sp>
        <p:nvSpPr>
          <p:cNvPr id="127" name="Google Shape;127;p2"/>
          <p:cNvSpPr txBox="1"/>
          <p:nvPr/>
        </p:nvSpPr>
        <p:spPr>
          <a:xfrm>
            <a:off x="7258000" y="1056425"/>
            <a:ext cx="9279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solidFill>
                  <a:schemeClr val="accent4"/>
                </a:solidFill>
                <a:latin typeface="Lato Black"/>
                <a:ea typeface="Lato Black"/>
                <a:cs typeface="Lato Black"/>
                <a:sym typeface="Lato Black"/>
              </a:rPr>
              <a:t>5</a:t>
            </a:r>
            <a:endParaRPr sz="2600">
              <a:solidFill>
                <a:schemeClr val="accent4"/>
              </a:solidFill>
              <a:latin typeface="Lato Black"/>
              <a:ea typeface="Lato Black"/>
              <a:cs typeface="Lato Black"/>
              <a:sym typeface="Lato Black"/>
            </a:endParaRPr>
          </a:p>
        </p:txBody>
      </p:sp>
      <p:sp>
        <p:nvSpPr>
          <p:cNvPr id="128" name="Google Shape;128;p2"/>
          <p:cNvSpPr txBox="1"/>
          <p:nvPr/>
        </p:nvSpPr>
        <p:spPr>
          <a:xfrm>
            <a:off x="750650" y="2389800"/>
            <a:ext cx="134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latin typeface="Raleway Medium"/>
                <a:ea typeface="Raleway Medium"/>
                <a:cs typeface="Raleway Medium"/>
                <a:sym typeface="Raleway Medium"/>
              </a:rPr>
              <a:t>Background</a:t>
            </a:r>
            <a:endParaRPr sz="1300">
              <a:latin typeface="Raleway Medium"/>
              <a:ea typeface="Raleway Medium"/>
              <a:cs typeface="Raleway Medium"/>
              <a:sym typeface="Raleway Medium"/>
            </a:endParaRPr>
          </a:p>
        </p:txBody>
      </p:sp>
      <p:sp>
        <p:nvSpPr>
          <p:cNvPr id="129" name="Google Shape;129;p2"/>
          <p:cNvSpPr txBox="1"/>
          <p:nvPr/>
        </p:nvSpPr>
        <p:spPr>
          <a:xfrm>
            <a:off x="2325625" y="2304150"/>
            <a:ext cx="13428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latin typeface="Raleway Medium"/>
                <a:ea typeface="Raleway Medium"/>
                <a:cs typeface="Raleway Medium"/>
                <a:sym typeface="Raleway Medium"/>
              </a:rPr>
              <a:t>Research</a:t>
            </a:r>
            <a:endParaRPr sz="1300">
              <a:latin typeface="Raleway Medium"/>
              <a:ea typeface="Raleway Medium"/>
              <a:cs typeface="Raleway Medium"/>
              <a:sym typeface="Raleway Medium"/>
            </a:endParaRPr>
          </a:p>
          <a:p>
            <a:pPr indent="0" lvl="0" marL="0" rtl="0" algn="ctr">
              <a:spcBef>
                <a:spcPts val="0"/>
              </a:spcBef>
              <a:spcAft>
                <a:spcPts val="0"/>
              </a:spcAft>
              <a:buNone/>
            </a:pPr>
            <a:r>
              <a:rPr lang="en-US" sz="1300">
                <a:latin typeface="Raleway Medium"/>
                <a:ea typeface="Raleway Medium"/>
                <a:cs typeface="Raleway Medium"/>
                <a:sym typeface="Raleway Medium"/>
              </a:rPr>
              <a:t>Problem</a:t>
            </a:r>
            <a:endParaRPr sz="1300">
              <a:latin typeface="Raleway Medium"/>
              <a:ea typeface="Raleway Medium"/>
              <a:cs typeface="Raleway Medium"/>
              <a:sym typeface="Raleway Medium"/>
            </a:endParaRPr>
          </a:p>
        </p:txBody>
      </p:sp>
      <p:sp>
        <p:nvSpPr>
          <p:cNvPr id="130" name="Google Shape;130;p2"/>
          <p:cNvSpPr txBox="1"/>
          <p:nvPr/>
        </p:nvSpPr>
        <p:spPr>
          <a:xfrm>
            <a:off x="3900600" y="2304150"/>
            <a:ext cx="13428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latin typeface="Raleway Medium"/>
                <a:ea typeface="Raleway Medium"/>
                <a:cs typeface="Raleway Medium"/>
                <a:sym typeface="Raleway Medium"/>
              </a:rPr>
              <a:t>Literature</a:t>
            </a:r>
            <a:endParaRPr sz="1300">
              <a:latin typeface="Raleway Medium"/>
              <a:ea typeface="Raleway Medium"/>
              <a:cs typeface="Raleway Medium"/>
              <a:sym typeface="Raleway Medium"/>
            </a:endParaRPr>
          </a:p>
          <a:p>
            <a:pPr indent="0" lvl="0" marL="0" rtl="0" algn="ctr">
              <a:spcBef>
                <a:spcPts val="0"/>
              </a:spcBef>
              <a:spcAft>
                <a:spcPts val="0"/>
              </a:spcAft>
              <a:buNone/>
            </a:pPr>
            <a:r>
              <a:rPr lang="en-US" sz="1300">
                <a:latin typeface="Raleway Medium"/>
                <a:ea typeface="Raleway Medium"/>
                <a:cs typeface="Raleway Medium"/>
                <a:sym typeface="Raleway Medium"/>
              </a:rPr>
              <a:t>Review</a:t>
            </a:r>
            <a:endParaRPr sz="1300">
              <a:latin typeface="Raleway Medium"/>
              <a:ea typeface="Raleway Medium"/>
              <a:cs typeface="Raleway Medium"/>
              <a:sym typeface="Raleway Medium"/>
            </a:endParaRPr>
          </a:p>
        </p:txBody>
      </p:sp>
      <p:sp>
        <p:nvSpPr>
          <p:cNvPr id="131" name="Google Shape;131;p2"/>
          <p:cNvSpPr txBox="1"/>
          <p:nvPr/>
        </p:nvSpPr>
        <p:spPr>
          <a:xfrm>
            <a:off x="5475575" y="2389800"/>
            <a:ext cx="134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latin typeface="Raleway Medium"/>
                <a:ea typeface="Raleway Medium"/>
                <a:cs typeface="Raleway Medium"/>
                <a:sym typeface="Raleway Medium"/>
              </a:rPr>
              <a:t>Methodology</a:t>
            </a:r>
            <a:endParaRPr sz="1300">
              <a:latin typeface="Raleway Medium"/>
              <a:ea typeface="Raleway Medium"/>
              <a:cs typeface="Raleway Medium"/>
              <a:sym typeface="Raleway Medium"/>
            </a:endParaRPr>
          </a:p>
        </p:txBody>
      </p:sp>
      <p:sp>
        <p:nvSpPr>
          <p:cNvPr id="132" name="Google Shape;132;p2"/>
          <p:cNvSpPr txBox="1"/>
          <p:nvPr/>
        </p:nvSpPr>
        <p:spPr>
          <a:xfrm>
            <a:off x="7050550" y="2389800"/>
            <a:ext cx="134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latin typeface="Raleway Medium"/>
                <a:ea typeface="Raleway Medium"/>
                <a:cs typeface="Raleway Medium"/>
                <a:sym typeface="Raleway Medium"/>
              </a:rPr>
              <a:t>Evaluation</a:t>
            </a:r>
            <a:endParaRPr sz="1300">
              <a:latin typeface="Raleway Medium"/>
              <a:ea typeface="Raleway Medium"/>
              <a:cs typeface="Raleway Medium"/>
              <a:sym typeface="Raleway Medium"/>
            </a:endParaRPr>
          </a:p>
        </p:txBody>
      </p:sp>
      <p:pic>
        <p:nvPicPr>
          <p:cNvPr id="133" name="Google Shape;133;p2" title="lungs.png"/>
          <p:cNvPicPr preferRelativeResize="0"/>
          <p:nvPr/>
        </p:nvPicPr>
        <p:blipFill>
          <a:blip r:embed="rId3">
            <a:alphaModFix/>
          </a:blip>
          <a:stretch>
            <a:fillRect/>
          </a:stretch>
        </p:blipFill>
        <p:spPr>
          <a:xfrm>
            <a:off x="1154450" y="1725200"/>
            <a:ext cx="535200" cy="535200"/>
          </a:xfrm>
          <a:prstGeom prst="rect">
            <a:avLst/>
          </a:prstGeom>
          <a:noFill/>
          <a:ln>
            <a:noFill/>
          </a:ln>
        </p:spPr>
      </p:pic>
      <p:pic>
        <p:nvPicPr>
          <p:cNvPr id="134" name="Google Shape;134;p2" title="warning.png"/>
          <p:cNvPicPr preferRelativeResize="0"/>
          <p:nvPr/>
        </p:nvPicPr>
        <p:blipFill>
          <a:blip r:embed="rId4">
            <a:alphaModFix/>
          </a:blip>
          <a:stretch>
            <a:fillRect/>
          </a:stretch>
        </p:blipFill>
        <p:spPr>
          <a:xfrm>
            <a:off x="2729425" y="1725200"/>
            <a:ext cx="535200" cy="535223"/>
          </a:xfrm>
          <a:prstGeom prst="rect">
            <a:avLst/>
          </a:prstGeom>
          <a:noFill/>
          <a:ln>
            <a:noFill/>
          </a:ln>
        </p:spPr>
      </p:pic>
      <p:pic>
        <p:nvPicPr>
          <p:cNvPr id="135" name="Google Shape;135;p2" title="research.png"/>
          <p:cNvPicPr preferRelativeResize="0"/>
          <p:nvPr/>
        </p:nvPicPr>
        <p:blipFill>
          <a:blip r:embed="rId5">
            <a:alphaModFix/>
          </a:blip>
          <a:stretch>
            <a:fillRect/>
          </a:stretch>
        </p:blipFill>
        <p:spPr>
          <a:xfrm>
            <a:off x="4304400" y="1725200"/>
            <a:ext cx="535200" cy="535200"/>
          </a:xfrm>
          <a:prstGeom prst="rect">
            <a:avLst/>
          </a:prstGeom>
          <a:noFill/>
          <a:ln>
            <a:noFill/>
          </a:ln>
        </p:spPr>
      </p:pic>
      <p:pic>
        <p:nvPicPr>
          <p:cNvPr id="136" name="Google Shape;136;p2" title="Gemini_Generated_Image_frm4nkfrm4nkfrm4-removebg-preview.png"/>
          <p:cNvPicPr preferRelativeResize="0"/>
          <p:nvPr/>
        </p:nvPicPr>
        <p:blipFill>
          <a:blip r:embed="rId6">
            <a:alphaModFix/>
          </a:blip>
          <a:stretch>
            <a:fillRect/>
          </a:stretch>
        </p:blipFill>
        <p:spPr>
          <a:xfrm>
            <a:off x="5744112" y="1640875"/>
            <a:ext cx="805725" cy="805725"/>
          </a:xfrm>
          <a:prstGeom prst="rect">
            <a:avLst/>
          </a:prstGeom>
          <a:noFill/>
          <a:ln>
            <a:noFill/>
          </a:ln>
        </p:spPr>
      </p:pic>
      <p:pic>
        <p:nvPicPr>
          <p:cNvPr id="137" name="Google Shape;137;p2" title="bar-chart.png"/>
          <p:cNvPicPr preferRelativeResize="0"/>
          <p:nvPr/>
        </p:nvPicPr>
        <p:blipFill>
          <a:blip r:embed="rId7">
            <a:alphaModFix/>
          </a:blip>
          <a:stretch>
            <a:fillRect/>
          </a:stretch>
        </p:blipFill>
        <p:spPr>
          <a:xfrm>
            <a:off x="7486350" y="1757200"/>
            <a:ext cx="471200" cy="471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p:nvPr/>
        </p:nvSpPr>
        <p:spPr>
          <a:xfrm>
            <a:off x="727800" y="1859850"/>
            <a:ext cx="3232200" cy="920700"/>
          </a:xfrm>
          <a:prstGeom prst="rect">
            <a:avLst/>
          </a:prstGeom>
          <a:solidFill>
            <a:srgbClr val="07436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143" name="Google Shape;143;p3"/>
          <p:cNvSpPr txBox="1"/>
          <p:nvPr>
            <p:ph type="title"/>
          </p:nvPr>
        </p:nvSpPr>
        <p:spPr>
          <a:xfrm>
            <a:off x="804000" y="1901400"/>
            <a:ext cx="3116400" cy="87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sz="4000">
                <a:solidFill>
                  <a:schemeClr val="lt1"/>
                </a:solidFill>
              </a:rPr>
              <a:t>Background</a:t>
            </a:r>
            <a:endParaRPr sz="40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4" title="x-ray.png"/>
          <p:cNvPicPr preferRelativeResize="0"/>
          <p:nvPr/>
        </p:nvPicPr>
        <p:blipFill>
          <a:blip r:embed="rId3">
            <a:alphaModFix/>
          </a:blip>
          <a:stretch>
            <a:fillRect/>
          </a:stretch>
        </p:blipFill>
        <p:spPr>
          <a:xfrm>
            <a:off x="4825825" y="3215250"/>
            <a:ext cx="535200" cy="535200"/>
          </a:xfrm>
          <a:prstGeom prst="rect">
            <a:avLst/>
          </a:prstGeom>
          <a:noFill/>
          <a:ln>
            <a:noFill/>
          </a:ln>
        </p:spPr>
      </p:pic>
      <p:sp>
        <p:nvSpPr>
          <p:cNvPr id="149" name="Google Shape;149;p4"/>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What is Pneumothorax?</a:t>
            </a:r>
            <a:endParaRPr/>
          </a:p>
        </p:txBody>
      </p:sp>
      <p:sp>
        <p:nvSpPr>
          <p:cNvPr id="150" name="Google Shape;150;p4"/>
          <p:cNvSpPr/>
          <p:nvPr/>
        </p:nvSpPr>
        <p:spPr>
          <a:xfrm>
            <a:off x="293975" y="963325"/>
            <a:ext cx="4414200" cy="3550200"/>
          </a:xfrm>
          <a:prstGeom prst="roundRect">
            <a:avLst>
              <a:gd fmla="val 16667" name="adj"/>
            </a:avLst>
          </a:prstGeom>
          <a:solidFill>
            <a:srgbClr val="F4F5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151" name="Google Shape;151;p4"/>
          <p:cNvSpPr/>
          <p:nvPr/>
        </p:nvSpPr>
        <p:spPr>
          <a:xfrm>
            <a:off x="4871575" y="963325"/>
            <a:ext cx="3993900" cy="1480500"/>
          </a:xfrm>
          <a:prstGeom prst="roundRect">
            <a:avLst>
              <a:gd fmla="val 16667" name="adj"/>
            </a:avLst>
          </a:prstGeom>
          <a:solidFill>
            <a:srgbClr val="F4F5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152" name="Google Shape;152;p4"/>
          <p:cNvSpPr/>
          <p:nvPr/>
        </p:nvSpPr>
        <p:spPr>
          <a:xfrm>
            <a:off x="5363400" y="2580950"/>
            <a:ext cx="3502200" cy="443700"/>
          </a:xfrm>
          <a:prstGeom prst="roundRect">
            <a:avLst>
              <a:gd fmla="val 16667" name="adj"/>
            </a:avLst>
          </a:prstGeom>
          <a:solidFill>
            <a:srgbClr val="F4F5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rPr lang="en-US" sz="1200">
                <a:latin typeface="Lato"/>
                <a:ea typeface="Lato"/>
                <a:cs typeface="Lato"/>
                <a:sym typeface="Lato"/>
              </a:rPr>
              <a:t>     of cases </a:t>
            </a:r>
            <a:r>
              <a:rPr b="1" lang="en-US" sz="1200">
                <a:solidFill>
                  <a:schemeClr val="lt1"/>
                </a:solidFill>
                <a:highlight>
                  <a:schemeClr val="accent5"/>
                </a:highlight>
                <a:latin typeface="Lato"/>
                <a:ea typeface="Lato"/>
                <a:cs typeface="Lato"/>
                <a:sym typeface="Lato"/>
              </a:rPr>
              <a:t>MISSED</a:t>
            </a:r>
            <a:r>
              <a:rPr lang="en-US" sz="1200">
                <a:latin typeface="Lato"/>
                <a:ea typeface="Lato"/>
                <a:cs typeface="Lato"/>
                <a:sym typeface="Lato"/>
              </a:rPr>
              <a:t> during standard exams</a:t>
            </a:r>
            <a:endParaRPr sz="1200">
              <a:latin typeface="Lato"/>
              <a:ea typeface="Lato"/>
              <a:cs typeface="Lato"/>
              <a:sym typeface="Lato"/>
            </a:endParaRPr>
          </a:p>
        </p:txBody>
      </p:sp>
      <p:sp>
        <p:nvSpPr>
          <p:cNvPr id="153" name="Google Shape;153;p4"/>
          <p:cNvSpPr/>
          <p:nvPr/>
        </p:nvSpPr>
        <p:spPr>
          <a:xfrm>
            <a:off x="504088" y="1761608"/>
            <a:ext cx="1745400" cy="443700"/>
          </a:xfrm>
          <a:prstGeom prst="rect">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Air </a:t>
            </a:r>
            <a:r>
              <a:rPr b="1" lang="en-US" sz="1200">
                <a:solidFill>
                  <a:schemeClr val="lt1"/>
                </a:solidFill>
                <a:highlight>
                  <a:schemeClr val="accent5"/>
                </a:highlight>
                <a:latin typeface="Lato"/>
                <a:ea typeface="Lato"/>
                <a:cs typeface="Lato"/>
                <a:sym typeface="Lato"/>
              </a:rPr>
              <a:t>trapped</a:t>
            </a:r>
            <a:r>
              <a:rPr b="1" lang="en-US" sz="1200">
                <a:solidFill>
                  <a:schemeClr val="lt1"/>
                </a:solidFill>
                <a:latin typeface="Lato"/>
                <a:ea typeface="Lato"/>
                <a:cs typeface="Lato"/>
                <a:sym typeface="Lato"/>
              </a:rPr>
              <a:t> </a:t>
            </a:r>
            <a:r>
              <a:rPr lang="en-US" sz="1200">
                <a:latin typeface="Lato"/>
                <a:ea typeface="Lato"/>
                <a:cs typeface="Lato"/>
                <a:sym typeface="Lato"/>
              </a:rPr>
              <a:t>in the pleural space</a:t>
            </a:r>
            <a:endParaRPr sz="1200">
              <a:latin typeface="Lato"/>
              <a:ea typeface="Lato"/>
              <a:cs typeface="Lato"/>
              <a:sym typeface="Lato"/>
            </a:endParaRPr>
          </a:p>
        </p:txBody>
      </p:sp>
      <p:sp>
        <p:nvSpPr>
          <p:cNvPr id="154" name="Google Shape;154;p4"/>
          <p:cNvSpPr/>
          <p:nvPr/>
        </p:nvSpPr>
        <p:spPr>
          <a:xfrm>
            <a:off x="2431198" y="1761708"/>
            <a:ext cx="229200" cy="443700"/>
          </a:xfrm>
          <a:prstGeom prst="homePlate">
            <a:avLst>
              <a:gd fmla="val 50000"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155" name="Google Shape;155;p4"/>
          <p:cNvSpPr/>
          <p:nvPr/>
        </p:nvSpPr>
        <p:spPr>
          <a:xfrm>
            <a:off x="2752654" y="1761608"/>
            <a:ext cx="1745400" cy="443700"/>
          </a:xfrm>
          <a:prstGeom prst="rect">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partial or complete </a:t>
            </a:r>
            <a:r>
              <a:rPr b="1" lang="en-US" sz="1200">
                <a:solidFill>
                  <a:schemeClr val="lt1"/>
                </a:solidFill>
                <a:highlight>
                  <a:schemeClr val="accent5"/>
                </a:highlight>
                <a:latin typeface="Lato"/>
                <a:ea typeface="Lato"/>
                <a:cs typeface="Lato"/>
                <a:sym typeface="Lato"/>
              </a:rPr>
              <a:t>lung collapse</a:t>
            </a:r>
            <a:endParaRPr b="1" sz="1200">
              <a:solidFill>
                <a:schemeClr val="lt1"/>
              </a:solidFill>
              <a:highlight>
                <a:schemeClr val="accent5"/>
              </a:highlight>
              <a:latin typeface="Lato"/>
              <a:ea typeface="Lato"/>
              <a:cs typeface="Lato"/>
              <a:sym typeface="Lato"/>
            </a:endParaRPr>
          </a:p>
        </p:txBody>
      </p:sp>
      <p:sp>
        <p:nvSpPr>
          <p:cNvPr id="156" name="Google Shape;156;p4"/>
          <p:cNvSpPr/>
          <p:nvPr/>
        </p:nvSpPr>
        <p:spPr>
          <a:xfrm>
            <a:off x="504125" y="2443825"/>
            <a:ext cx="3993900" cy="616525"/>
          </a:xfrm>
          <a:prstGeom prst="flowChartOffpageConnector">
            <a:avLst/>
          </a:pr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Lato"/>
                <a:ea typeface="Lato"/>
                <a:cs typeface="Lato"/>
                <a:sym typeface="Lato"/>
              </a:rPr>
              <a:t>Can escalate to </a:t>
            </a:r>
            <a:r>
              <a:rPr b="1" lang="en-US" sz="1100">
                <a:solidFill>
                  <a:schemeClr val="dk2"/>
                </a:solidFill>
                <a:highlight>
                  <a:srgbClr val="A8CFE7"/>
                </a:highlight>
                <a:latin typeface="Lato"/>
                <a:ea typeface="Lato"/>
                <a:cs typeface="Lato"/>
                <a:sym typeface="Lato"/>
              </a:rPr>
              <a:t>tension pneumothorax</a:t>
            </a:r>
            <a:br>
              <a:rPr b="1" lang="en-US" sz="1100">
                <a:solidFill>
                  <a:srgbClr val="FFFFFF"/>
                </a:solidFill>
                <a:latin typeface="Lato"/>
                <a:ea typeface="Lato"/>
                <a:cs typeface="Lato"/>
                <a:sym typeface="Lato"/>
              </a:rPr>
            </a:br>
            <a:r>
              <a:rPr b="1" lang="en-US" sz="1100">
                <a:solidFill>
                  <a:srgbClr val="FFFFFF"/>
                </a:solidFill>
                <a:latin typeface="Lato"/>
                <a:ea typeface="Lato"/>
                <a:cs typeface="Lato"/>
                <a:sym typeface="Lato"/>
              </a:rPr>
              <a:t>a </a:t>
            </a:r>
            <a:r>
              <a:rPr b="1" lang="en-US" sz="1100">
                <a:solidFill>
                  <a:schemeClr val="dk2"/>
                </a:solidFill>
                <a:highlight>
                  <a:srgbClr val="A8CFE7"/>
                </a:highlight>
                <a:latin typeface="Lato"/>
                <a:ea typeface="Lato"/>
                <a:cs typeface="Lato"/>
                <a:sym typeface="Lato"/>
              </a:rPr>
              <a:t>life-threatening</a:t>
            </a:r>
            <a:r>
              <a:rPr b="1" lang="en-US" sz="1100">
                <a:solidFill>
                  <a:schemeClr val="dk2"/>
                </a:solidFill>
                <a:latin typeface="Lato"/>
                <a:ea typeface="Lato"/>
                <a:cs typeface="Lato"/>
                <a:sym typeface="Lato"/>
              </a:rPr>
              <a:t> </a:t>
            </a:r>
            <a:r>
              <a:rPr b="1" lang="en-US" sz="1100">
                <a:solidFill>
                  <a:srgbClr val="FFFFFF"/>
                </a:solidFill>
                <a:latin typeface="Lato"/>
                <a:ea typeface="Lato"/>
                <a:cs typeface="Lato"/>
                <a:sym typeface="Lato"/>
              </a:rPr>
              <a:t>emergency</a:t>
            </a:r>
            <a:endParaRPr b="1" sz="1100">
              <a:solidFill>
                <a:srgbClr val="FFFFFF"/>
              </a:solidFill>
              <a:latin typeface="Lato"/>
              <a:ea typeface="Lato"/>
              <a:cs typeface="Lato"/>
              <a:sym typeface="Lato"/>
            </a:endParaRPr>
          </a:p>
        </p:txBody>
      </p:sp>
      <p:sp>
        <p:nvSpPr>
          <p:cNvPr id="157" name="Google Shape;157;p4"/>
          <p:cNvSpPr/>
          <p:nvPr/>
        </p:nvSpPr>
        <p:spPr>
          <a:xfrm>
            <a:off x="541734" y="3217550"/>
            <a:ext cx="1745400" cy="9609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highlight>
                  <a:schemeClr val="accent5"/>
                </a:highlight>
                <a:latin typeface="Lato"/>
                <a:ea typeface="Lato"/>
                <a:cs typeface="Lato"/>
                <a:sym typeface="Lato"/>
              </a:rPr>
              <a:t>Chest X-ray</a:t>
            </a:r>
            <a:r>
              <a:rPr lang="en-US">
                <a:latin typeface="Lato"/>
                <a:ea typeface="Lato"/>
                <a:cs typeface="Lato"/>
                <a:sym typeface="Lato"/>
              </a:rPr>
              <a:t> (CXR) is the </a:t>
            </a:r>
            <a:r>
              <a:rPr b="1" lang="en-US">
                <a:solidFill>
                  <a:schemeClr val="lt1"/>
                </a:solidFill>
                <a:highlight>
                  <a:schemeClr val="accent5"/>
                </a:highlight>
                <a:latin typeface="Lato"/>
                <a:ea typeface="Lato"/>
                <a:cs typeface="Lato"/>
                <a:sym typeface="Lato"/>
              </a:rPr>
              <a:t>primary </a:t>
            </a:r>
            <a:r>
              <a:rPr lang="en-US">
                <a:latin typeface="Lato"/>
                <a:ea typeface="Lato"/>
                <a:cs typeface="Lato"/>
                <a:sym typeface="Lato"/>
              </a:rPr>
              <a:t>diagnostic tool</a:t>
            </a:r>
            <a:endParaRPr>
              <a:latin typeface="Lato"/>
              <a:ea typeface="Lato"/>
              <a:cs typeface="Lato"/>
              <a:sym typeface="Lato"/>
            </a:endParaRPr>
          </a:p>
        </p:txBody>
      </p:sp>
      <p:sp>
        <p:nvSpPr>
          <p:cNvPr id="158" name="Google Shape;158;p4"/>
          <p:cNvSpPr/>
          <p:nvPr/>
        </p:nvSpPr>
        <p:spPr>
          <a:xfrm>
            <a:off x="2706650" y="3217550"/>
            <a:ext cx="1745400" cy="9609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ACR mandates urgent communication within </a:t>
            </a:r>
            <a:r>
              <a:rPr b="1" lang="en-US" sz="1200">
                <a:solidFill>
                  <a:schemeClr val="lt1"/>
                </a:solidFill>
                <a:highlight>
                  <a:schemeClr val="accent5"/>
                </a:highlight>
                <a:latin typeface="Lato"/>
                <a:ea typeface="Lato"/>
                <a:cs typeface="Lato"/>
                <a:sym typeface="Lato"/>
              </a:rPr>
              <a:t>minutes of suspicion</a:t>
            </a:r>
            <a:endParaRPr b="1" sz="1200">
              <a:solidFill>
                <a:schemeClr val="lt1"/>
              </a:solidFill>
              <a:highlight>
                <a:schemeClr val="accent5"/>
              </a:highlight>
              <a:latin typeface="Lato"/>
              <a:ea typeface="Lato"/>
              <a:cs typeface="Lato"/>
              <a:sym typeface="Lato"/>
            </a:endParaRPr>
          </a:p>
        </p:txBody>
      </p:sp>
      <p:pic>
        <p:nvPicPr>
          <p:cNvPr id="159" name="Google Shape;159;p4" title="image-removebg-preview.png"/>
          <p:cNvPicPr preferRelativeResize="0"/>
          <p:nvPr/>
        </p:nvPicPr>
        <p:blipFill>
          <a:blip r:embed="rId4">
            <a:alphaModFix/>
          </a:blip>
          <a:stretch>
            <a:fillRect/>
          </a:stretch>
        </p:blipFill>
        <p:spPr>
          <a:xfrm>
            <a:off x="5032277" y="1018932"/>
            <a:ext cx="3672500" cy="1341100"/>
          </a:xfrm>
          <a:prstGeom prst="rect">
            <a:avLst/>
          </a:prstGeom>
          <a:noFill/>
          <a:ln>
            <a:noFill/>
          </a:ln>
        </p:spPr>
      </p:pic>
      <p:pic>
        <p:nvPicPr>
          <p:cNvPr id="160" name="Google Shape;160;p4" title="lungs.png"/>
          <p:cNvPicPr preferRelativeResize="0"/>
          <p:nvPr/>
        </p:nvPicPr>
        <p:blipFill>
          <a:blip r:embed="rId5">
            <a:alphaModFix/>
          </a:blip>
          <a:stretch>
            <a:fillRect/>
          </a:stretch>
        </p:blipFill>
        <p:spPr>
          <a:xfrm>
            <a:off x="541725" y="1117650"/>
            <a:ext cx="535200" cy="535200"/>
          </a:xfrm>
          <a:prstGeom prst="rect">
            <a:avLst/>
          </a:prstGeom>
          <a:noFill/>
          <a:ln>
            <a:noFill/>
          </a:ln>
        </p:spPr>
      </p:pic>
      <p:sp>
        <p:nvSpPr>
          <p:cNvPr id="161" name="Google Shape;161;p4"/>
          <p:cNvSpPr txBox="1"/>
          <p:nvPr/>
        </p:nvSpPr>
        <p:spPr>
          <a:xfrm>
            <a:off x="1103389" y="1247072"/>
            <a:ext cx="1806900" cy="3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latin typeface="Lato"/>
                <a:ea typeface="Lato"/>
                <a:cs typeface="Lato"/>
                <a:sym typeface="Lato"/>
              </a:rPr>
              <a:t>The Condition</a:t>
            </a:r>
            <a:endParaRPr b="1" sz="1800">
              <a:latin typeface="Lato"/>
              <a:ea typeface="Lato"/>
              <a:cs typeface="Lato"/>
              <a:sym typeface="Lato"/>
            </a:endParaRPr>
          </a:p>
        </p:txBody>
      </p:sp>
      <p:pic>
        <p:nvPicPr>
          <p:cNvPr id="162" name="Google Shape;162;p4" title="error.png"/>
          <p:cNvPicPr preferRelativeResize="0"/>
          <p:nvPr/>
        </p:nvPicPr>
        <p:blipFill>
          <a:blip r:embed="rId6">
            <a:alphaModFix/>
          </a:blip>
          <a:stretch>
            <a:fillRect/>
          </a:stretch>
        </p:blipFill>
        <p:spPr>
          <a:xfrm>
            <a:off x="4835900" y="2580950"/>
            <a:ext cx="443700" cy="443700"/>
          </a:xfrm>
          <a:prstGeom prst="rect">
            <a:avLst/>
          </a:prstGeom>
          <a:noFill/>
          <a:ln>
            <a:noFill/>
          </a:ln>
        </p:spPr>
      </p:pic>
      <p:sp>
        <p:nvSpPr>
          <p:cNvPr id="163" name="Google Shape;163;p4"/>
          <p:cNvSpPr txBox="1"/>
          <p:nvPr/>
        </p:nvSpPr>
        <p:spPr>
          <a:xfrm>
            <a:off x="5407316" y="2564194"/>
            <a:ext cx="734700" cy="3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accent5"/>
                </a:solidFill>
                <a:latin typeface="Lato Black"/>
                <a:ea typeface="Lato Black"/>
                <a:cs typeface="Lato Black"/>
                <a:sym typeface="Lato Black"/>
              </a:rPr>
              <a:t>20%</a:t>
            </a:r>
            <a:endParaRPr sz="2000">
              <a:solidFill>
                <a:schemeClr val="accent5"/>
              </a:solidFill>
              <a:latin typeface="Lato Black"/>
              <a:ea typeface="Lato Black"/>
              <a:cs typeface="Lato Black"/>
              <a:sym typeface="Lato Black"/>
            </a:endParaRPr>
          </a:p>
        </p:txBody>
      </p:sp>
      <p:sp>
        <p:nvSpPr>
          <p:cNvPr id="164" name="Google Shape;164;p4"/>
          <p:cNvSpPr/>
          <p:nvPr/>
        </p:nvSpPr>
        <p:spPr>
          <a:xfrm>
            <a:off x="5363400" y="3261000"/>
            <a:ext cx="3502200" cy="443700"/>
          </a:xfrm>
          <a:prstGeom prst="roundRect">
            <a:avLst>
              <a:gd fmla="val 16667" name="adj"/>
            </a:avLst>
          </a:prstGeom>
          <a:solidFill>
            <a:srgbClr val="F4F5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Chest X-ray (CXR) is the 	      diagnostic tool</a:t>
            </a:r>
            <a:endParaRPr sz="1200">
              <a:latin typeface="Lato"/>
              <a:ea typeface="Lato"/>
              <a:cs typeface="Lato"/>
              <a:sym typeface="Lato"/>
            </a:endParaRPr>
          </a:p>
        </p:txBody>
      </p:sp>
      <p:sp>
        <p:nvSpPr>
          <p:cNvPr id="165" name="Google Shape;165;p4"/>
          <p:cNvSpPr txBox="1"/>
          <p:nvPr/>
        </p:nvSpPr>
        <p:spPr>
          <a:xfrm>
            <a:off x="7028103" y="3208998"/>
            <a:ext cx="568800" cy="3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accent5"/>
                </a:solidFill>
                <a:latin typeface="Lato Black"/>
                <a:ea typeface="Lato Black"/>
                <a:cs typeface="Lato Black"/>
                <a:sym typeface="Lato Black"/>
              </a:rPr>
              <a:t>#1</a:t>
            </a:r>
            <a:endParaRPr sz="2000">
              <a:solidFill>
                <a:schemeClr val="accent5"/>
              </a:solidFill>
              <a:latin typeface="Lato Black"/>
              <a:ea typeface="Lato Black"/>
              <a:cs typeface="Lato Black"/>
              <a:sym typeface="Lato Black"/>
            </a:endParaRPr>
          </a:p>
        </p:txBody>
      </p:sp>
      <p:pic>
        <p:nvPicPr>
          <p:cNvPr id="166" name="Google Shape;166;p4" title="three.png"/>
          <p:cNvPicPr preferRelativeResize="0"/>
          <p:nvPr/>
        </p:nvPicPr>
        <p:blipFill>
          <a:blip r:embed="rId7">
            <a:alphaModFix/>
          </a:blip>
          <a:stretch>
            <a:fillRect/>
          </a:stretch>
        </p:blipFill>
        <p:spPr>
          <a:xfrm>
            <a:off x="4838522" y="3941050"/>
            <a:ext cx="443700" cy="443700"/>
          </a:xfrm>
          <a:prstGeom prst="rect">
            <a:avLst/>
          </a:prstGeom>
          <a:noFill/>
          <a:ln>
            <a:noFill/>
          </a:ln>
        </p:spPr>
      </p:pic>
      <p:sp>
        <p:nvSpPr>
          <p:cNvPr id="167" name="Google Shape;167;p4"/>
          <p:cNvSpPr/>
          <p:nvPr/>
        </p:nvSpPr>
        <p:spPr>
          <a:xfrm>
            <a:off x="5363400" y="3941050"/>
            <a:ext cx="1432500" cy="616500"/>
          </a:xfrm>
          <a:prstGeom prst="roundRect">
            <a:avLst>
              <a:gd fmla="val 16667" name="adj"/>
            </a:avLst>
          </a:prstGeom>
          <a:solidFill>
            <a:srgbClr val="F4F5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2D projection of 3D anatomy</a:t>
            </a:r>
            <a:endParaRPr sz="1200">
              <a:latin typeface="Lato"/>
              <a:ea typeface="Lato"/>
              <a:cs typeface="Lato"/>
              <a:sym typeface="Lato"/>
            </a:endParaRPr>
          </a:p>
        </p:txBody>
      </p:sp>
      <p:sp>
        <p:nvSpPr>
          <p:cNvPr id="168" name="Google Shape;168;p4"/>
          <p:cNvSpPr/>
          <p:nvPr/>
        </p:nvSpPr>
        <p:spPr>
          <a:xfrm>
            <a:off x="7433100" y="3941050"/>
            <a:ext cx="1432500" cy="616500"/>
          </a:xfrm>
          <a:prstGeom prst="roundRect">
            <a:avLst>
              <a:gd fmla="val 16667" name="adj"/>
            </a:avLst>
          </a:prstGeom>
          <a:solidFill>
            <a:srgbClr val="F4F5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200">
                <a:solidFill>
                  <a:schemeClr val="lt1"/>
                </a:solidFill>
                <a:highlight>
                  <a:schemeClr val="accent5"/>
                </a:highlight>
                <a:latin typeface="Lato"/>
                <a:ea typeface="Lato"/>
                <a:cs typeface="Lato"/>
                <a:sym typeface="Lato"/>
              </a:rPr>
              <a:t>Overlapping</a:t>
            </a:r>
            <a:r>
              <a:rPr b="1" lang="en-US" sz="1200">
                <a:solidFill>
                  <a:schemeClr val="lt1"/>
                </a:solidFill>
                <a:highlight>
                  <a:schemeClr val="accent5"/>
                </a:highlight>
                <a:latin typeface="Lato"/>
                <a:ea typeface="Lato"/>
                <a:cs typeface="Lato"/>
                <a:sym typeface="Lato"/>
              </a:rPr>
              <a:t> </a:t>
            </a:r>
            <a:r>
              <a:rPr lang="en-US" sz="1200">
                <a:latin typeface="Lato"/>
                <a:ea typeface="Lato"/>
                <a:cs typeface="Lato"/>
                <a:sym typeface="Lato"/>
              </a:rPr>
              <a:t>Structures</a:t>
            </a:r>
            <a:endParaRPr sz="1200">
              <a:latin typeface="Lato"/>
              <a:ea typeface="Lato"/>
              <a:cs typeface="Lato"/>
              <a:sym typeface="Lato"/>
            </a:endParaRPr>
          </a:p>
        </p:txBody>
      </p:sp>
      <p:sp>
        <p:nvSpPr>
          <p:cNvPr id="169" name="Google Shape;169;p4"/>
          <p:cNvSpPr/>
          <p:nvPr/>
        </p:nvSpPr>
        <p:spPr>
          <a:xfrm>
            <a:off x="6957000" y="4006300"/>
            <a:ext cx="315000" cy="486000"/>
          </a:xfrm>
          <a:prstGeom prst="chevron">
            <a:avLst>
              <a:gd fmla="val 50000"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eeceee4a1b_0_5"/>
          <p:cNvSpPr/>
          <p:nvPr/>
        </p:nvSpPr>
        <p:spPr>
          <a:xfrm>
            <a:off x="727800" y="1859850"/>
            <a:ext cx="4716600" cy="920700"/>
          </a:xfrm>
          <a:prstGeom prst="rect">
            <a:avLst/>
          </a:prstGeom>
          <a:solidFill>
            <a:srgbClr val="07436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175" name="Google Shape;175;g3eeceee4a1b_0_5"/>
          <p:cNvSpPr txBox="1"/>
          <p:nvPr>
            <p:ph type="title"/>
          </p:nvPr>
        </p:nvSpPr>
        <p:spPr>
          <a:xfrm>
            <a:off x="804000" y="1901400"/>
            <a:ext cx="5252100" cy="87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sz="4000">
                <a:solidFill>
                  <a:schemeClr val="lt1"/>
                </a:solidFill>
              </a:rPr>
              <a:t>Research </a:t>
            </a:r>
            <a:r>
              <a:rPr lang="en-US" sz="4000">
                <a:solidFill>
                  <a:schemeClr val="lt1"/>
                </a:solidFill>
              </a:rPr>
              <a:t>Problem</a:t>
            </a:r>
            <a:endParaRPr sz="40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eec8756d02_0_123"/>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Why Existing AI Approaches Fall Short?</a:t>
            </a:r>
            <a:endParaRPr/>
          </a:p>
        </p:txBody>
      </p:sp>
      <p:sp>
        <p:nvSpPr>
          <p:cNvPr id="181" name="Google Shape;181;g3eec8756d02_0_123"/>
          <p:cNvSpPr/>
          <p:nvPr/>
        </p:nvSpPr>
        <p:spPr>
          <a:xfrm>
            <a:off x="384285" y="963325"/>
            <a:ext cx="4088700" cy="1790400"/>
          </a:xfrm>
          <a:prstGeom prst="roundRect">
            <a:avLst>
              <a:gd fmla="val 16667" name="adj"/>
            </a:avLst>
          </a:prstGeom>
          <a:solidFill>
            <a:srgbClr val="F4F5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182" name="Google Shape;182;g3eec8756d02_0_123"/>
          <p:cNvSpPr/>
          <p:nvPr/>
        </p:nvSpPr>
        <p:spPr>
          <a:xfrm>
            <a:off x="412860" y="2903952"/>
            <a:ext cx="4088700" cy="17904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183" name="Google Shape;183;g3eec8756d02_0_123"/>
          <p:cNvSpPr/>
          <p:nvPr/>
        </p:nvSpPr>
        <p:spPr>
          <a:xfrm>
            <a:off x="4642435" y="963325"/>
            <a:ext cx="4088700" cy="17904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184" name="Google Shape;184;g3eec8756d02_0_123"/>
          <p:cNvSpPr/>
          <p:nvPr/>
        </p:nvSpPr>
        <p:spPr>
          <a:xfrm>
            <a:off x="4642435" y="2903952"/>
            <a:ext cx="4088700" cy="17904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pic>
        <p:nvPicPr>
          <p:cNvPr id="185" name="Google Shape;185;g3eec8756d02_0_123" title="Gemini_Generated_Image_wyk0omwyk0omwyk0-removebg-preview.png"/>
          <p:cNvPicPr preferRelativeResize="0"/>
          <p:nvPr/>
        </p:nvPicPr>
        <p:blipFill rotWithShape="1">
          <a:blip r:embed="rId3">
            <a:alphaModFix/>
          </a:blip>
          <a:srcRect b="16335" l="12688" r="12680" t="9514"/>
          <a:stretch/>
        </p:blipFill>
        <p:spPr>
          <a:xfrm>
            <a:off x="549175" y="1045971"/>
            <a:ext cx="446622" cy="443700"/>
          </a:xfrm>
          <a:prstGeom prst="rect">
            <a:avLst/>
          </a:prstGeom>
          <a:noFill/>
          <a:ln>
            <a:noFill/>
          </a:ln>
        </p:spPr>
      </p:pic>
      <p:sp>
        <p:nvSpPr>
          <p:cNvPr id="186" name="Google Shape;186;g3eec8756d02_0_123"/>
          <p:cNvSpPr txBox="1"/>
          <p:nvPr/>
        </p:nvSpPr>
        <p:spPr>
          <a:xfrm>
            <a:off x="1005532" y="1029469"/>
            <a:ext cx="2799300" cy="3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latin typeface="Lato"/>
                <a:ea typeface="Lato"/>
                <a:cs typeface="Lato"/>
                <a:sym typeface="Lato"/>
              </a:rPr>
              <a:t>Hidden Stratification</a:t>
            </a:r>
            <a:endParaRPr b="1" sz="1800">
              <a:latin typeface="Lato"/>
              <a:ea typeface="Lato"/>
              <a:cs typeface="Lato"/>
              <a:sym typeface="Lato"/>
            </a:endParaRPr>
          </a:p>
        </p:txBody>
      </p:sp>
      <p:sp>
        <p:nvSpPr>
          <p:cNvPr id="187" name="Google Shape;187;g3eec8756d02_0_123"/>
          <p:cNvSpPr/>
          <p:nvPr/>
        </p:nvSpPr>
        <p:spPr>
          <a:xfrm>
            <a:off x="549163" y="1603208"/>
            <a:ext cx="1745400" cy="4437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Classification models learn false </a:t>
            </a:r>
            <a:r>
              <a:rPr b="1" lang="en-US" sz="1200">
                <a:solidFill>
                  <a:schemeClr val="lt1"/>
                </a:solidFill>
                <a:highlight>
                  <a:schemeClr val="accent5"/>
                </a:highlight>
                <a:latin typeface="Lato"/>
                <a:ea typeface="Lato"/>
                <a:cs typeface="Lato"/>
                <a:sym typeface="Lato"/>
              </a:rPr>
              <a:t>shortcuts</a:t>
            </a:r>
            <a:endParaRPr b="1" sz="1200">
              <a:solidFill>
                <a:schemeClr val="lt1"/>
              </a:solidFill>
              <a:highlight>
                <a:schemeClr val="accent5"/>
              </a:highlight>
              <a:latin typeface="Lato"/>
              <a:ea typeface="Lato"/>
              <a:cs typeface="Lato"/>
              <a:sym typeface="Lato"/>
            </a:endParaRPr>
          </a:p>
        </p:txBody>
      </p:sp>
      <p:cxnSp>
        <p:nvCxnSpPr>
          <p:cNvPr id="188" name="Google Shape;188;g3eec8756d02_0_123"/>
          <p:cNvCxnSpPr/>
          <p:nvPr/>
        </p:nvCxnSpPr>
        <p:spPr>
          <a:xfrm>
            <a:off x="2408100" y="1561375"/>
            <a:ext cx="1800" cy="520500"/>
          </a:xfrm>
          <a:prstGeom prst="straightConnector1">
            <a:avLst/>
          </a:prstGeom>
          <a:noFill/>
          <a:ln cap="flat" cmpd="sng" w="19050">
            <a:solidFill>
              <a:srgbClr val="595959"/>
            </a:solidFill>
            <a:prstDash val="dash"/>
            <a:round/>
            <a:headEnd len="med" w="med" type="none"/>
            <a:tailEnd len="med" w="med" type="none"/>
          </a:ln>
        </p:spPr>
      </p:cxnSp>
      <p:sp>
        <p:nvSpPr>
          <p:cNvPr id="189" name="Google Shape;189;g3eec8756d02_0_123"/>
          <p:cNvSpPr/>
          <p:nvPr/>
        </p:nvSpPr>
        <p:spPr>
          <a:xfrm>
            <a:off x="2510075" y="1603200"/>
            <a:ext cx="687300" cy="4437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lt1"/>
                </a:solidFill>
                <a:latin typeface="Lato"/>
                <a:ea typeface="Lato"/>
                <a:cs typeface="Lato"/>
                <a:sym typeface="Lato"/>
              </a:rPr>
              <a:t>Chest Tube</a:t>
            </a:r>
            <a:endParaRPr sz="1200">
              <a:solidFill>
                <a:schemeClr val="lt1"/>
              </a:solidFill>
              <a:latin typeface="Lato"/>
              <a:ea typeface="Lato"/>
              <a:cs typeface="Lato"/>
              <a:sym typeface="Lato"/>
            </a:endParaRPr>
          </a:p>
        </p:txBody>
      </p:sp>
      <p:sp>
        <p:nvSpPr>
          <p:cNvPr id="190" name="Google Shape;190;g3eec8756d02_0_123"/>
          <p:cNvSpPr/>
          <p:nvPr/>
        </p:nvSpPr>
        <p:spPr>
          <a:xfrm>
            <a:off x="3284650" y="1661850"/>
            <a:ext cx="146700" cy="326400"/>
          </a:xfrm>
          <a:prstGeom prst="chevron">
            <a:avLst>
              <a:gd fmla="val 50000" name="adj"/>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191" name="Google Shape;191;g3eec8756d02_0_123"/>
          <p:cNvSpPr/>
          <p:nvPr/>
        </p:nvSpPr>
        <p:spPr>
          <a:xfrm>
            <a:off x="3518625" y="1603200"/>
            <a:ext cx="846600" cy="4437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lt1"/>
                </a:solidFill>
                <a:latin typeface="Lato"/>
                <a:ea typeface="Lato"/>
                <a:cs typeface="Lato"/>
                <a:sym typeface="Lato"/>
              </a:rPr>
              <a:t>Positive</a:t>
            </a:r>
            <a:endParaRPr sz="1200">
              <a:solidFill>
                <a:schemeClr val="lt1"/>
              </a:solidFill>
              <a:latin typeface="Lato"/>
              <a:ea typeface="Lato"/>
              <a:cs typeface="Lato"/>
              <a:sym typeface="Lato"/>
            </a:endParaRPr>
          </a:p>
        </p:txBody>
      </p:sp>
      <p:sp>
        <p:nvSpPr>
          <p:cNvPr id="192" name="Google Shape;192;g3eec8756d02_0_123"/>
          <p:cNvSpPr/>
          <p:nvPr/>
        </p:nvSpPr>
        <p:spPr>
          <a:xfrm>
            <a:off x="549200" y="2160425"/>
            <a:ext cx="3816000" cy="443700"/>
          </a:xfrm>
          <a:prstGeom prst="roundRect">
            <a:avLst>
              <a:gd fmla="val 16667" name="adj"/>
            </a:avLst>
          </a:prstGeom>
          <a:solidFill>
            <a:srgbClr val="3264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lt1"/>
                </a:solidFill>
                <a:latin typeface="Lato"/>
                <a:ea typeface="Lato"/>
                <a:cs typeface="Lato"/>
                <a:sym typeface="Lato"/>
              </a:rPr>
              <a:t>Inflates fake </a:t>
            </a:r>
            <a:r>
              <a:rPr b="1" lang="en-US" sz="1200">
                <a:solidFill>
                  <a:schemeClr val="dk2"/>
                </a:solidFill>
                <a:highlight>
                  <a:srgbClr val="A8CFE7"/>
                </a:highlight>
                <a:latin typeface="Lato"/>
                <a:ea typeface="Lato"/>
                <a:cs typeface="Lato"/>
                <a:sym typeface="Lato"/>
              </a:rPr>
              <a:t>validation accuracy</a:t>
            </a:r>
            <a:r>
              <a:rPr b="1" lang="en-US" sz="1200">
                <a:solidFill>
                  <a:schemeClr val="dk2"/>
                </a:solidFill>
                <a:latin typeface="Lato"/>
                <a:ea typeface="Lato"/>
                <a:cs typeface="Lato"/>
                <a:sym typeface="Lato"/>
              </a:rPr>
              <a:t> </a:t>
            </a:r>
            <a:r>
              <a:rPr lang="en-US" sz="1200">
                <a:solidFill>
                  <a:schemeClr val="lt1"/>
                </a:solidFill>
                <a:latin typeface="Lato"/>
                <a:ea typeface="Lato"/>
                <a:cs typeface="Lato"/>
                <a:sym typeface="Lato"/>
              </a:rPr>
              <a:t>and </a:t>
            </a:r>
            <a:endParaRPr sz="1200">
              <a:solidFill>
                <a:schemeClr val="lt1"/>
              </a:solidFill>
              <a:latin typeface="Lato"/>
              <a:ea typeface="Lato"/>
              <a:cs typeface="Lato"/>
              <a:sym typeface="Lato"/>
            </a:endParaRPr>
          </a:p>
          <a:p>
            <a:pPr indent="0" lvl="0" marL="0" rtl="0" algn="ctr">
              <a:spcBef>
                <a:spcPts val="0"/>
              </a:spcBef>
              <a:spcAft>
                <a:spcPts val="0"/>
              </a:spcAft>
              <a:buNone/>
            </a:pPr>
            <a:r>
              <a:rPr lang="en-US" sz="1200">
                <a:solidFill>
                  <a:schemeClr val="lt1"/>
                </a:solidFill>
                <a:latin typeface="Lato"/>
                <a:ea typeface="Lato"/>
                <a:cs typeface="Lato"/>
                <a:sym typeface="Lato"/>
              </a:rPr>
              <a:t>fails on </a:t>
            </a:r>
            <a:r>
              <a:rPr b="1" lang="en-US" sz="1200">
                <a:solidFill>
                  <a:schemeClr val="dk2"/>
                </a:solidFill>
                <a:highlight>
                  <a:srgbClr val="A8CFE7"/>
                </a:highlight>
                <a:latin typeface="Lato"/>
                <a:ea typeface="Lato"/>
                <a:cs typeface="Lato"/>
                <a:sym typeface="Lato"/>
              </a:rPr>
              <a:t>untreated patients</a:t>
            </a:r>
            <a:endParaRPr b="1" sz="1200">
              <a:solidFill>
                <a:schemeClr val="dk2"/>
              </a:solidFill>
              <a:highlight>
                <a:srgbClr val="A8CFE7"/>
              </a:highlight>
              <a:latin typeface="Lato"/>
              <a:ea typeface="Lato"/>
              <a:cs typeface="Lato"/>
              <a:sym typeface="Lato"/>
            </a:endParaRPr>
          </a:p>
        </p:txBody>
      </p:sp>
      <p:sp>
        <p:nvSpPr>
          <p:cNvPr id="193" name="Google Shape;193;g3eec8756d02_0_123"/>
          <p:cNvSpPr txBox="1"/>
          <p:nvPr/>
        </p:nvSpPr>
        <p:spPr>
          <a:xfrm>
            <a:off x="5271100" y="943457"/>
            <a:ext cx="3261000" cy="5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latin typeface="Lato"/>
                <a:ea typeface="Lato"/>
                <a:cs typeface="Lato"/>
                <a:sym typeface="Lato"/>
              </a:rPr>
              <a:t>SIIM-ACR Dataset </a:t>
            </a:r>
            <a:endParaRPr b="1" sz="1600">
              <a:latin typeface="Lato"/>
              <a:ea typeface="Lato"/>
              <a:cs typeface="Lato"/>
              <a:sym typeface="Lato"/>
            </a:endParaRPr>
          </a:p>
          <a:p>
            <a:pPr indent="0" lvl="0" marL="0" rtl="0" algn="l">
              <a:spcBef>
                <a:spcPts val="0"/>
              </a:spcBef>
              <a:spcAft>
                <a:spcPts val="0"/>
              </a:spcAft>
              <a:buNone/>
            </a:pPr>
            <a:r>
              <a:rPr b="1" lang="en-US" sz="1600">
                <a:latin typeface="Lato"/>
                <a:ea typeface="Lato"/>
                <a:cs typeface="Lato"/>
                <a:sym typeface="Lato"/>
              </a:rPr>
              <a:t>Extreme Class Imbalance</a:t>
            </a:r>
            <a:endParaRPr b="1" sz="1600">
              <a:latin typeface="Lato"/>
              <a:ea typeface="Lato"/>
              <a:cs typeface="Lato"/>
              <a:sym typeface="Lato"/>
            </a:endParaRPr>
          </a:p>
          <a:p>
            <a:pPr indent="0" lvl="0" marL="0" rtl="0" algn="l">
              <a:spcBef>
                <a:spcPts val="0"/>
              </a:spcBef>
              <a:spcAft>
                <a:spcPts val="0"/>
              </a:spcAft>
              <a:buNone/>
            </a:pPr>
            <a:r>
              <a:t/>
            </a:r>
            <a:endParaRPr b="1" sz="1200">
              <a:latin typeface="Lato"/>
              <a:ea typeface="Lato"/>
              <a:cs typeface="Lato"/>
              <a:sym typeface="Lato"/>
            </a:endParaRPr>
          </a:p>
        </p:txBody>
      </p:sp>
      <p:pic>
        <p:nvPicPr>
          <p:cNvPr id="194" name="Google Shape;194;g3eec8756d02_0_123" title="imbalance.png"/>
          <p:cNvPicPr preferRelativeResize="0"/>
          <p:nvPr/>
        </p:nvPicPr>
        <p:blipFill>
          <a:blip r:embed="rId4">
            <a:alphaModFix/>
          </a:blip>
          <a:stretch>
            <a:fillRect/>
          </a:stretch>
        </p:blipFill>
        <p:spPr>
          <a:xfrm>
            <a:off x="4750575" y="1050357"/>
            <a:ext cx="520525" cy="520525"/>
          </a:xfrm>
          <a:prstGeom prst="rect">
            <a:avLst/>
          </a:prstGeom>
          <a:noFill/>
          <a:ln>
            <a:noFill/>
          </a:ln>
        </p:spPr>
      </p:pic>
      <p:sp>
        <p:nvSpPr>
          <p:cNvPr id="195" name="Google Shape;195;g3eec8756d02_0_123"/>
          <p:cNvSpPr/>
          <p:nvPr/>
        </p:nvSpPr>
        <p:spPr>
          <a:xfrm>
            <a:off x="5515700" y="1636675"/>
            <a:ext cx="1258800" cy="443700"/>
          </a:xfrm>
          <a:prstGeom prst="roundRect">
            <a:avLst>
              <a:gd fmla="val 16667" name="adj"/>
            </a:avLst>
          </a:prstGeom>
          <a:solidFill>
            <a:srgbClr val="3264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lt1"/>
                </a:solidFill>
                <a:latin typeface="Lato"/>
                <a:ea typeface="Lato"/>
                <a:cs typeface="Lato"/>
                <a:sym typeface="Lato"/>
              </a:rPr>
              <a:t>of images have pneumothorax</a:t>
            </a:r>
            <a:endParaRPr b="1" sz="1200">
              <a:solidFill>
                <a:schemeClr val="lt1"/>
              </a:solidFill>
              <a:highlight>
                <a:schemeClr val="accent5"/>
              </a:highlight>
              <a:latin typeface="Lato"/>
              <a:ea typeface="Lato"/>
              <a:cs typeface="Lato"/>
              <a:sym typeface="Lato"/>
            </a:endParaRPr>
          </a:p>
        </p:txBody>
      </p:sp>
      <p:sp>
        <p:nvSpPr>
          <p:cNvPr id="196" name="Google Shape;196;g3eec8756d02_0_123"/>
          <p:cNvSpPr/>
          <p:nvPr/>
        </p:nvSpPr>
        <p:spPr>
          <a:xfrm>
            <a:off x="4750575" y="1636675"/>
            <a:ext cx="687300" cy="4437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Lato Black"/>
                <a:ea typeface="Lato Black"/>
                <a:cs typeface="Lato Black"/>
                <a:sym typeface="Lato Black"/>
              </a:rPr>
              <a:t>22%</a:t>
            </a:r>
            <a:endParaRPr sz="1800">
              <a:solidFill>
                <a:schemeClr val="lt1"/>
              </a:solidFill>
              <a:latin typeface="Lato Black"/>
              <a:ea typeface="Lato Black"/>
              <a:cs typeface="Lato Black"/>
              <a:sym typeface="Lato Black"/>
            </a:endParaRPr>
          </a:p>
        </p:txBody>
      </p:sp>
      <p:sp>
        <p:nvSpPr>
          <p:cNvPr id="197" name="Google Shape;197;g3eec8756d02_0_123"/>
          <p:cNvSpPr/>
          <p:nvPr/>
        </p:nvSpPr>
        <p:spPr>
          <a:xfrm>
            <a:off x="5515700" y="2160425"/>
            <a:ext cx="1258800" cy="443700"/>
          </a:xfrm>
          <a:prstGeom prst="roundRect">
            <a:avLst>
              <a:gd fmla="val 16667" name="adj"/>
            </a:avLst>
          </a:prstGeom>
          <a:solidFill>
            <a:srgbClr val="3264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lt1"/>
                </a:solidFill>
                <a:latin typeface="Lato"/>
                <a:ea typeface="Lato"/>
                <a:cs typeface="Lato"/>
                <a:sym typeface="Lato"/>
              </a:rPr>
              <a:t>pneumothorax </a:t>
            </a:r>
            <a:endParaRPr sz="1200">
              <a:solidFill>
                <a:schemeClr val="lt1"/>
              </a:solidFill>
              <a:latin typeface="Lato"/>
              <a:ea typeface="Lato"/>
              <a:cs typeface="Lato"/>
              <a:sym typeface="Lato"/>
            </a:endParaRPr>
          </a:p>
          <a:p>
            <a:pPr indent="0" lvl="0" marL="0" rtl="0" algn="ctr">
              <a:spcBef>
                <a:spcPts val="0"/>
              </a:spcBef>
              <a:spcAft>
                <a:spcPts val="0"/>
              </a:spcAft>
              <a:buNone/>
            </a:pPr>
            <a:r>
              <a:rPr lang="en-US" sz="1200">
                <a:solidFill>
                  <a:schemeClr val="lt1"/>
                </a:solidFill>
                <a:latin typeface="Lato"/>
                <a:ea typeface="Lato"/>
                <a:cs typeface="Lato"/>
                <a:sym typeface="Lato"/>
              </a:rPr>
              <a:t>lesion pixels</a:t>
            </a:r>
            <a:endParaRPr sz="1200">
              <a:solidFill>
                <a:schemeClr val="lt1"/>
              </a:solidFill>
              <a:latin typeface="Lato"/>
              <a:ea typeface="Lato"/>
              <a:cs typeface="Lato"/>
              <a:sym typeface="Lato"/>
            </a:endParaRPr>
          </a:p>
        </p:txBody>
      </p:sp>
      <p:sp>
        <p:nvSpPr>
          <p:cNvPr id="198" name="Google Shape;198;g3eec8756d02_0_123"/>
          <p:cNvSpPr/>
          <p:nvPr/>
        </p:nvSpPr>
        <p:spPr>
          <a:xfrm>
            <a:off x="4750575" y="2160425"/>
            <a:ext cx="687300" cy="4437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Lato Black"/>
                <a:ea typeface="Lato Black"/>
                <a:cs typeface="Lato Black"/>
                <a:sym typeface="Lato Black"/>
              </a:rPr>
              <a:t>&lt;2%</a:t>
            </a:r>
            <a:endParaRPr sz="1800">
              <a:solidFill>
                <a:schemeClr val="lt1"/>
              </a:solidFill>
              <a:latin typeface="Lato Black"/>
              <a:ea typeface="Lato Black"/>
              <a:cs typeface="Lato Black"/>
              <a:sym typeface="Lato Black"/>
            </a:endParaRPr>
          </a:p>
        </p:txBody>
      </p:sp>
      <p:cxnSp>
        <p:nvCxnSpPr>
          <p:cNvPr id="199" name="Google Shape;199;g3eec8756d02_0_123"/>
          <p:cNvCxnSpPr/>
          <p:nvPr/>
        </p:nvCxnSpPr>
        <p:spPr>
          <a:xfrm>
            <a:off x="6900700" y="1655850"/>
            <a:ext cx="0" cy="961200"/>
          </a:xfrm>
          <a:prstGeom prst="straightConnector1">
            <a:avLst/>
          </a:prstGeom>
          <a:noFill/>
          <a:ln cap="flat" cmpd="sng" w="19050">
            <a:solidFill>
              <a:srgbClr val="595959"/>
            </a:solidFill>
            <a:prstDash val="dash"/>
            <a:round/>
            <a:headEnd len="med" w="med" type="none"/>
            <a:tailEnd len="med" w="med" type="none"/>
          </a:ln>
        </p:spPr>
      </p:cxnSp>
      <p:sp>
        <p:nvSpPr>
          <p:cNvPr id="200" name="Google Shape;200;g3eec8756d02_0_123"/>
          <p:cNvSpPr/>
          <p:nvPr/>
        </p:nvSpPr>
        <p:spPr>
          <a:xfrm>
            <a:off x="7026900" y="1636675"/>
            <a:ext cx="1585200" cy="9612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100">
                <a:solidFill>
                  <a:schemeClr val="lt1"/>
                </a:solidFill>
                <a:latin typeface="Lato"/>
                <a:ea typeface="Lato"/>
                <a:cs typeface="Lato"/>
                <a:sym typeface="Lato"/>
              </a:rPr>
              <a:t>Standard loss functions (BCE) learn to predict </a:t>
            </a:r>
            <a:r>
              <a:rPr b="1" lang="en-US" sz="1100">
                <a:solidFill>
                  <a:schemeClr val="dk2"/>
                </a:solidFill>
                <a:highlight>
                  <a:srgbClr val="A8CFE7"/>
                </a:highlight>
                <a:latin typeface="Lato"/>
                <a:ea typeface="Lato"/>
                <a:cs typeface="Lato"/>
                <a:sym typeface="Lato"/>
              </a:rPr>
              <a:t>background everywhere</a:t>
            </a:r>
            <a:endParaRPr b="1" sz="1100">
              <a:solidFill>
                <a:schemeClr val="lt1"/>
              </a:solidFill>
              <a:highlight>
                <a:schemeClr val="accent5"/>
              </a:highlight>
              <a:latin typeface="Lato"/>
              <a:ea typeface="Lato"/>
              <a:cs typeface="Lato"/>
              <a:sym typeface="Lato"/>
            </a:endParaRPr>
          </a:p>
        </p:txBody>
      </p:sp>
      <p:pic>
        <p:nvPicPr>
          <p:cNvPr id="201" name="Google Shape;201;g3eec8756d02_0_123" title="Gemini_Generated_Image_q6srw0q6srw0q6sr-removebg-preview (1).png"/>
          <p:cNvPicPr preferRelativeResize="0"/>
          <p:nvPr/>
        </p:nvPicPr>
        <p:blipFill>
          <a:blip r:embed="rId5">
            <a:alphaModFix/>
          </a:blip>
          <a:stretch>
            <a:fillRect/>
          </a:stretch>
        </p:blipFill>
        <p:spPr>
          <a:xfrm>
            <a:off x="4750576" y="2965500"/>
            <a:ext cx="607125" cy="607125"/>
          </a:xfrm>
          <a:prstGeom prst="rect">
            <a:avLst/>
          </a:prstGeom>
          <a:noFill/>
          <a:ln>
            <a:noFill/>
          </a:ln>
        </p:spPr>
      </p:pic>
      <p:sp>
        <p:nvSpPr>
          <p:cNvPr id="202" name="Google Shape;202;g3eec8756d02_0_123"/>
          <p:cNvSpPr txBox="1"/>
          <p:nvPr/>
        </p:nvSpPr>
        <p:spPr>
          <a:xfrm>
            <a:off x="5357699" y="3034150"/>
            <a:ext cx="3261000" cy="3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chemeClr val="lt1"/>
                </a:solidFill>
                <a:latin typeface="Lato"/>
                <a:ea typeface="Lato"/>
                <a:cs typeface="Lato"/>
                <a:sym typeface="Lato"/>
              </a:rPr>
              <a:t>Heavy Computational Cost</a:t>
            </a:r>
            <a:endParaRPr b="1" sz="1800">
              <a:solidFill>
                <a:schemeClr val="lt1"/>
              </a:solidFill>
              <a:latin typeface="Lato"/>
              <a:ea typeface="Lato"/>
              <a:cs typeface="Lato"/>
              <a:sym typeface="Lato"/>
            </a:endParaRPr>
          </a:p>
        </p:txBody>
      </p:sp>
      <p:sp>
        <p:nvSpPr>
          <p:cNvPr id="203" name="Google Shape;203;g3eec8756d02_0_123"/>
          <p:cNvSpPr/>
          <p:nvPr/>
        </p:nvSpPr>
        <p:spPr>
          <a:xfrm>
            <a:off x="4750575" y="3506975"/>
            <a:ext cx="1794000" cy="4437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dk2"/>
                </a:solidFill>
                <a:latin typeface="Lato"/>
                <a:ea typeface="Lato"/>
                <a:cs typeface="Lato"/>
                <a:sym typeface="Lato"/>
              </a:rPr>
              <a:t>State-of-the-art models </a:t>
            </a:r>
            <a:endParaRPr b="1" sz="1200">
              <a:solidFill>
                <a:schemeClr val="dk2"/>
              </a:solidFill>
              <a:latin typeface="Lato"/>
              <a:ea typeface="Lato"/>
              <a:cs typeface="Lato"/>
              <a:sym typeface="Lato"/>
            </a:endParaRPr>
          </a:p>
        </p:txBody>
      </p:sp>
      <p:sp>
        <p:nvSpPr>
          <p:cNvPr id="204" name="Google Shape;204;g3eec8756d02_0_123"/>
          <p:cNvSpPr/>
          <p:nvPr/>
        </p:nvSpPr>
        <p:spPr>
          <a:xfrm>
            <a:off x="4750575" y="4013000"/>
            <a:ext cx="1794000" cy="535200"/>
          </a:xfrm>
          <a:prstGeom prst="roundRect">
            <a:avLst>
              <a:gd fmla="val 16667" name="adj"/>
            </a:avLst>
          </a:prstGeom>
          <a:solidFill>
            <a:srgbClr val="3264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lt1"/>
                </a:solidFill>
                <a:latin typeface="Calibri"/>
                <a:ea typeface="Calibri"/>
                <a:cs typeface="Calibri"/>
                <a:sym typeface="Calibri"/>
              </a:rPr>
              <a:t>TGAPneumoSeg, ATRC-Net, ViT-based architectures</a:t>
            </a:r>
            <a:r>
              <a:rPr lang="en-US" sz="1100">
                <a:solidFill>
                  <a:schemeClr val="lt1"/>
                </a:solidFill>
              </a:rPr>
              <a:t> </a:t>
            </a:r>
            <a:endParaRPr b="1" sz="1100">
              <a:solidFill>
                <a:schemeClr val="lt1"/>
              </a:solidFill>
              <a:highlight>
                <a:schemeClr val="accent5"/>
              </a:highlight>
              <a:latin typeface="Lato"/>
              <a:ea typeface="Lato"/>
              <a:cs typeface="Lato"/>
              <a:sym typeface="Lato"/>
            </a:endParaRPr>
          </a:p>
        </p:txBody>
      </p:sp>
      <p:sp>
        <p:nvSpPr>
          <p:cNvPr id="205" name="Google Shape;205;g3eec8756d02_0_123"/>
          <p:cNvSpPr/>
          <p:nvPr/>
        </p:nvSpPr>
        <p:spPr>
          <a:xfrm>
            <a:off x="6645513" y="3521350"/>
            <a:ext cx="286800" cy="1014600"/>
          </a:xfrm>
          <a:prstGeom prst="chevron">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06" name="Google Shape;206;g3eec8756d02_0_123"/>
          <p:cNvSpPr/>
          <p:nvPr/>
        </p:nvSpPr>
        <p:spPr>
          <a:xfrm>
            <a:off x="7033500" y="3483000"/>
            <a:ext cx="1585200" cy="443700"/>
          </a:xfrm>
          <a:prstGeom prst="flowChartOffpageConnector">
            <a:avLst/>
          </a:prstGeom>
          <a:solidFill>
            <a:srgbClr val="07436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lt1"/>
                </a:solidFill>
                <a:latin typeface="Lato"/>
                <a:ea typeface="Lato"/>
                <a:cs typeface="Lato"/>
                <a:sym typeface="Lato"/>
              </a:rPr>
              <a:t>require </a:t>
            </a:r>
            <a:r>
              <a:rPr b="1" lang="en-US" sz="1100">
                <a:solidFill>
                  <a:schemeClr val="dk2"/>
                </a:solidFill>
                <a:highlight>
                  <a:srgbClr val="A8CFE7"/>
                </a:highlight>
                <a:latin typeface="Lato"/>
                <a:ea typeface="Lato"/>
                <a:cs typeface="Lato"/>
                <a:sym typeface="Lato"/>
              </a:rPr>
              <a:t>massive</a:t>
            </a:r>
            <a:r>
              <a:rPr lang="en-US" sz="1100">
                <a:solidFill>
                  <a:schemeClr val="lt1"/>
                </a:solidFill>
                <a:latin typeface="Lato"/>
                <a:ea typeface="Lato"/>
                <a:cs typeface="Lato"/>
                <a:sym typeface="Lato"/>
              </a:rPr>
              <a:t> GPU resources</a:t>
            </a:r>
            <a:endParaRPr b="1" sz="1000">
              <a:solidFill>
                <a:srgbClr val="FFFFFF"/>
              </a:solidFill>
              <a:latin typeface="Lato"/>
              <a:ea typeface="Lato"/>
              <a:cs typeface="Lato"/>
              <a:sym typeface="Lato"/>
            </a:endParaRPr>
          </a:p>
        </p:txBody>
      </p:sp>
      <p:pic>
        <p:nvPicPr>
          <p:cNvPr id="207" name="Google Shape;207;g3eec8756d02_0_123" title="Gemini_Generated_Image_vliv16vliv16vliv-removebg-preview.png"/>
          <p:cNvPicPr preferRelativeResize="0"/>
          <p:nvPr/>
        </p:nvPicPr>
        <p:blipFill>
          <a:blip r:embed="rId6">
            <a:alphaModFix/>
          </a:blip>
          <a:stretch>
            <a:fillRect/>
          </a:stretch>
        </p:blipFill>
        <p:spPr>
          <a:xfrm>
            <a:off x="549175" y="3034150"/>
            <a:ext cx="446625" cy="446625"/>
          </a:xfrm>
          <a:prstGeom prst="rect">
            <a:avLst/>
          </a:prstGeom>
          <a:noFill/>
          <a:ln>
            <a:noFill/>
          </a:ln>
        </p:spPr>
      </p:pic>
      <p:sp>
        <p:nvSpPr>
          <p:cNvPr id="208" name="Google Shape;208;g3eec8756d02_0_123"/>
          <p:cNvSpPr txBox="1"/>
          <p:nvPr/>
        </p:nvSpPr>
        <p:spPr>
          <a:xfrm>
            <a:off x="1057642" y="3046194"/>
            <a:ext cx="3261000" cy="3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chemeClr val="lt1"/>
                </a:solidFill>
                <a:latin typeface="Lato"/>
                <a:ea typeface="Lato"/>
                <a:cs typeface="Lato"/>
                <a:sym typeface="Lato"/>
              </a:rPr>
              <a:t>Low-Contrast Boundaries</a:t>
            </a:r>
            <a:endParaRPr b="1" sz="1800">
              <a:solidFill>
                <a:schemeClr val="lt1"/>
              </a:solidFill>
              <a:latin typeface="Lato"/>
              <a:ea typeface="Lato"/>
              <a:cs typeface="Lato"/>
              <a:sym typeface="Lato"/>
            </a:endParaRPr>
          </a:p>
        </p:txBody>
      </p:sp>
      <p:sp>
        <p:nvSpPr>
          <p:cNvPr id="209" name="Google Shape;209;g3eec8756d02_0_123"/>
          <p:cNvSpPr/>
          <p:nvPr/>
        </p:nvSpPr>
        <p:spPr>
          <a:xfrm>
            <a:off x="7033250" y="3981925"/>
            <a:ext cx="1585200" cy="5205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chemeClr val="dk2"/>
                </a:solidFill>
                <a:latin typeface="Lato"/>
                <a:ea typeface="Lato"/>
                <a:cs typeface="Lato"/>
                <a:sym typeface="Lato"/>
              </a:rPr>
              <a:t>not available in </a:t>
            </a:r>
            <a:r>
              <a:rPr b="1" lang="en-US" sz="1000">
                <a:solidFill>
                  <a:schemeClr val="lt1"/>
                </a:solidFill>
                <a:highlight>
                  <a:schemeClr val="accent5"/>
                </a:highlight>
                <a:latin typeface="Lato"/>
                <a:ea typeface="Lato"/>
                <a:cs typeface="Lato"/>
                <a:sym typeface="Lato"/>
              </a:rPr>
              <a:t>standard clinical settings</a:t>
            </a:r>
            <a:endParaRPr b="1" sz="1000">
              <a:solidFill>
                <a:schemeClr val="lt1"/>
              </a:solidFill>
              <a:highlight>
                <a:schemeClr val="accent5"/>
              </a:highlight>
              <a:latin typeface="Lato"/>
              <a:ea typeface="Lato"/>
              <a:cs typeface="Lato"/>
              <a:sym typeface="Lato"/>
            </a:endParaRPr>
          </a:p>
        </p:txBody>
      </p:sp>
      <p:sp>
        <p:nvSpPr>
          <p:cNvPr id="210" name="Google Shape;210;g3eec8756d02_0_123"/>
          <p:cNvSpPr/>
          <p:nvPr/>
        </p:nvSpPr>
        <p:spPr>
          <a:xfrm>
            <a:off x="549175" y="3521350"/>
            <a:ext cx="1745400" cy="382350"/>
          </a:xfrm>
          <a:prstGeom prst="flowChartOffpageConnector">
            <a:avLst/>
          </a:prstGeom>
          <a:solidFill>
            <a:srgbClr val="32648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lt1"/>
                </a:solidFill>
                <a:latin typeface="Lato"/>
                <a:ea typeface="Lato"/>
                <a:cs typeface="Lato"/>
                <a:sym typeface="Lato"/>
              </a:rPr>
              <a:t>Pleural air interface</a:t>
            </a:r>
            <a:endParaRPr b="1" sz="1000">
              <a:solidFill>
                <a:srgbClr val="FFFFFF"/>
              </a:solidFill>
              <a:latin typeface="Lato"/>
              <a:ea typeface="Lato"/>
              <a:cs typeface="Lato"/>
              <a:sym typeface="Lato"/>
            </a:endParaRPr>
          </a:p>
        </p:txBody>
      </p:sp>
      <p:sp>
        <p:nvSpPr>
          <p:cNvPr id="211" name="Google Shape;211;g3eec8756d02_0_123"/>
          <p:cNvSpPr/>
          <p:nvPr/>
        </p:nvSpPr>
        <p:spPr>
          <a:xfrm>
            <a:off x="524875" y="3954100"/>
            <a:ext cx="1794000" cy="6072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chemeClr val="dk2"/>
                </a:solidFill>
                <a:latin typeface="Lato"/>
                <a:ea typeface="Lato"/>
                <a:cs typeface="Lato"/>
                <a:sym typeface="Lato"/>
              </a:rPr>
              <a:t>subtle, low-gradient transition, not a sharp edge</a:t>
            </a:r>
            <a:endParaRPr b="1" sz="1000">
              <a:solidFill>
                <a:schemeClr val="dk2"/>
              </a:solidFill>
              <a:latin typeface="Lato"/>
              <a:ea typeface="Lato"/>
              <a:cs typeface="Lato"/>
              <a:sym typeface="Lato"/>
            </a:endParaRPr>
          </a:p>
        </p:txBody>
      </p:sp>
      <p:cxnSp>
        <p:nvCxnSpPr>
          <p:cNvPr id="212" name="Google Shape;212;g3eec8756d02_0_123"/>
          <p:cNvCxnSpPr/>
          <p:nvPr/>
        </p:nvCxnSpPr>
        <p:spPr>
          <a:xfrm>
            <a:off x="2449110" y="3535000"/>
            <a:ext cx="0" cy="987300"/>
          </a:xfrm>
          <a:prstGeom prst="straightConnector1">
            <a:avLst/>
          </a:prstGeom>
          <a:noFill/>
          <a:ln cap="flat" cmpd="sng" w="19050">
            <a:solidFill>
              <a:schemeClr val="lt1"/>
            </a:solidFill>
            <a:prstDash val="dash"/>
            <a:round/>
            <a:headEnd len="med" w="med" type="none"/>
            <a:tailEnd len="med" w="med" type="none"/>
          </a:ln>
        </p:spPr>
      </p:cxnSp>
      <p:sp>
        <p:nvSpPr>
          <p:cNvPr id="213" name="Google Shape;213;g3eec8756d02_0_123"/>
          <p:cNvSpPr/>
          <p:nvPr/>
        </p:nvSpPr>
        <p:spPr>
          <a:xfrm>
            <a:off x="2627015" y="3537650"/>
            <a:ext cx="1745400" cy="382350"/>
          </a:xfrm>
          <a:prstGeom prst="flowChartOffpageConnector">
            <a:avLst/>
          </a:prstGeom>
          <a:solidFill>
            <a:srgbClr val="32648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chemeClr val="lt1"/>
                </a:solidFill>
                <a:latin typeface="Lato"/>
                <a:ea typeface="Lato"/>
                <a:cs typeface="Lato"/>
                <a:sym typeface="Lato"/>
              </a:rPr>
              <a:t>Superimposed ribs and vessel shadows</a:t>
            </a:r>
            <a:endParaRPr b="1" sz="900">
              <a:solidFill>
                <a:srgbClr val="FFFFFF"/>
              </a:solidFill>
              <a:latin typeface="Lato"/>
              <a:ea typeface="Lato"/>
              <a:cs typeface="Lato"/>
              <a:sym typeface="Lato"/>
            </a:endParaRPr>
          </a:p>
        </p:txBody>
      </p:sp>
      <p:sp>
        <p:nvSpPr>
          <p:cNvPr id="214" name="Google Shape;214;g3eec8756d02_0_123"/>
          <p:cNvSpPr/>
          <p:nvPr/>
        </p:nvSpPr>
        <p:spPr>
          <a:xfrm>
            <a:off x="2614865" y="3954100"/>
            <a:ext cx="1794000" cy="6072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chemeClr val="dk2"/>
                </a:solidFill>
                <a:latin typeface="Lato"/>
                <a:ea typeface="Lato"/>
                <a:cs typeface="Lato"/>
                <a:sym typeface="Lato"/>
              </a:rPr>
              <a:t>extremely hard for a model to learn the correct decision boundary.</a:t>
            </a:r>
            <a:endParaRPr b="1" sz="1000">
              <a:solidFill>
                <a:schemeClr val="dk2"/>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6"/>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What This Study Aims to Achieve</a:t>
            </a:r>
            <a:endParaRPr/>
          </a:p>
          <a:p>
            <a:pPr indent="0" lvl="0" marL="0" rtl="0" algn="l">
              <a:lnSpc>
                <a:spcPct val="100000"/>
              </a:lnSpc>
              <a:spcBef>
                <a:spcPts val="0"/>
              </a:spcBef>
              <a:spcAft>
                <a:spcPts val="0"/>
              </a:spcAft>
              <a:buSzPts val="2600"/>
              <a:buNone/>
            </a:pPr>
            <a:r>
              <a:t/>
            </a:r>
            <a:endParaRPr/>
          </a:p>
        </p:txBody>
      </p:sp>
      <p:sp>
        <p:nvSpPr>
          <p:cNvPr id="220" name="Google Shape;220;p6"/>
          <p:cNvSpPr/>
          <p:nvPr/>
        </p:nvSpPr>
        <p:spPr>
          <a:xfrm>
            <a:off x="1111500" y="963325"/>
            <a:ext cx="7688400" cy="995100"/>
          </a:xfrm>
          <a:prstGeom prst="roundRect">
            <a:avLst>
              <a:gd fmla="val 16667" name="adj"/>
            </a:avLst>
          </a:prstGeom>
          <a:solidFill>
            <a:srgbClr val="F4F5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Lato"/>
                <a:ea typeface="Lato"/>
                <a:cs typeface="Lato"/>
                <a:sym typeface="Lato"/>
              </a:rPr>
              <a:t>Develop a </a:t>
            </a:r>
            <a:r>
              <a:rPr b="1" lang="en-US">
                <a:solidFill>
                  <a:schemeClr val="lt1"/>
                </a:solidFill>
                <a:highlight>
                  <a:schemeClr val="accent5"/>
                </a:highlight>
                <a:latin typeface="Lato"/>
                <a:ea typeface="Lato"/>
                <a:cs typeface="Lato"/>
                <a:sym typeface="Lato"/>
              </a:rPr>
              <a:t>U-Net</a:t>
            </a:r>
            <a:r>
              <a:rPr lang="en-US">
                <a:latin typeface="Lato"/>
                <a:ea typeface="Lato"/>
                <a:cs typeface="Lato"/>
                <a:sym typeface="Lato"/>
              </a:rPr>
              <a:t> semantic segmentation model with </a:t>
            </a:r>
            <a:r>
              <a:rPr b="1" lang="en-US">
                <a:solidFill>
                  <a:schemeClr val="lt1"/>
                </a:solidFill>
                <a:highlight>
                  <a:schemeClr val="accent5"/>
                </a:highlight>
                <a:latin typeface="Lato"/>
                <a:ea typeface="Lato"/>
                <a:cs typeface="Lato"/>
                <a:sym typeface="Lato"/>
              </a:rPr>
              <a:t>EfficientNet-B0</a:t>
            </a:r>
            <a:r>
              <a:rPr lang="en-US">
                <a:latin typeface="Lato"/>
                <a:ea typeface="Lato"/>
                <a:cs typeface="Lato"/>
                <a:sym typeface="Lato"/>
              </a:rPr>
              <a:t> encoder, optimized for subtle </a:t>
            </a:r>
            <a:r>
              <a:rPr b="1" lang="en-US">
                <a:solidFill>
                  <a:schemeClr val="lt1"/>
                </a:solidFill>
                <a:highlight>
                  <a:schemeClr val="accent5"/>
                </a:highlight>
                <a:latin typeface="Lato"/>
                <a:ea typeface="Lato"/>
                <a:cs typeface="Lato"/>
                <a:sym typeface="Lato"/>
              </a:rPr>
              <a:t>low-contrast pneumothorax</a:t>
            </a:r>
            <a:r>
              <a:rPr lang="en-US">
                <a:latin typeface="Lato"/>
                <a:ea typeface="Lato"/>
                <a:cs typeface="Lato"/>
                <a:sym typeface="Lato"/>
              </a:rPr>
              <a:t> boundaries in the SIIM-ACR dataset.</a:t>
            </a:r>
            <a:endParaRPr>
              <a:latin typeface="Lato"/>
              <a:ea typeface="Lato"/>
              <a:cs typeface="Lato"/>
              <a:sym typeface="Lato"/>
            </a:endParaRPr>
          </a:p>
        </p:txBody>
      </p:sp>
      <p:sp>
        <p:nvSpPr>
          <p:cNvPr id="221" name="Google Shape;221;p6"/>
          <p:cNvSpPr/>
          <p:nvPr/>
        </p:nvSpPr>
        <p:spPr>
          <a:xfrm>
            <a:off x="1111500" y="2247800"/>
            <a:ext cx="7688400" cy="9951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Lato"/>
                <a:ea typeface="Lato"/>
                <a:cs typeface="Lato"/>
                <a:sym typeface="Lato"/>
              </a:rPr>
              <a:t>Solve extreme </a:t>
            </a:r>
            <a:r>
              <a:rPr b="1" lang="en-US">
                <a:solidFill>
                  <a:schemeClr val="lt1"/>
                </a:solidFill>
                <a:highlight>
                  <a:schemeClr val="accent5"/>
                </a:highlight>
                <a:latin typeface="Lato"/>
                <a:ea typeface="Lato"/>
                <a:cs typeface="Lato"/>
                <a:sym typeface="Lato"/>
              </a:rPr>
              <a:t>pixel-level class imbalance</a:t>
            </a:r>
            <a:r>
              <a:rPr lang="en-US">
                <a:latin typeface="Lato"/>
                <a:ea typeface="Lato"/>
                <a:cs typeface="Lato"/>
                <a:sym typeface="Lato"/>
              </a:rPr>
              <a:t> by integrating </a:t>
            </a:r>
            <a:r>
              <a:rPr b="1" lang="en-US">
                <a:solidFill>
                  <a:schemeClr val="lt1"/>
                </a:solidFill>
                <a:highlight>
                  <a:schemeClr val="accent5"/>
                </a:highlight>
                <a:latin typeface="Lato"/>
                <a:ea typeface="Lato"/>
                <a:cs typeface="Lato"/>
                <a:sym typeface="Lato"/>
              </a:rPr>
              <a:t>CLAHE</a:t>
            </a:r>
            <a:r>
              <a:rPr lang="en-US">
                <a:latin typeface="Lato"/>
                <a:ea typeface="Lato"/>
                <a:cs typeface="Lato"/>
                <a:sym typeface="Lato"/>
              </a:rPr>
              <a:t> preprocessing and a Focal </a:t>
            </a:r>
            <a:r>
              <a:rPr b="1" lang="en-US">
                <a:solidFill>
                  <a:schemeClr val="lt1"/>
                </a:solidFill>
                <a:highlight>
                  <a:schemeClr val="accent5"/>
                </a:highlight>
                <a:latin typeface="Lato"/>
                <a:ea typeface="Lato"/>
                <a:cs typeface="Lato"/>
                <a:sym typeface="Lato"/>
              </a:rPr>
              <a:t>Tversky Loss</a:t>
            </a:r>
            <a:r>
              <a:rPr lang="en-US">
                <a:latin typeface="Lato"/>
                <a:ea typeface="Lato"/>
                <a:cs typeface="Lato"/>
                <a:sym typeface="Lato"/>
              </a:rPr>
              <a:t> function into the training pipeline.</a:t>
            </a:r>
            <a:endParaRPr>
              <a:latin typeface="Lato"/>
              <a:ea typeface="Lato"/>
              <a:cs typeface="Lato"/>
              <a:sym typeface="Lato"/>
            </a:endParaRPr>
          </a:p>
        </p:txBody>
      </p:sp>
      <p:sp>
        <p:nvSpPr>
          <p:cNvPr id="222" name="Google Shape;222;p6"/>
          <p:cNvSpPr/>
          <p:nvPr/>
        </p:nvSpPr>
        <p:spPr>
          <a:xfrm>
            <a:off x="1113150" y="3532275"/>
            <a:ext cx="7688400" cy="995100"/>
          </a:xfrm>
          <a:prstGeom prst="roundRect">
            <a:avLst>
              <a:gd fmla="val 16667" name="adj"/>
            </a:avLst>
          </a:prstGeom>
          <a:solidFill>
            <a:srgbClr val="6BB1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Lato"/>
                <a:ea typeface="Lato"/>
                <a:cs typeface="Lato"/>
                <a:sym typeface="Lato"/>
              </a:rPr>
              <a:t>Measure segmentation accuracy using </a:t>
            </a:r>
            <a:r>
              <a:rPr b="1" lang="en-US">
                <a:solidFill>
                  <a:schemeClr val="lt1"/>
                </a:solidFill>
                <a:highlight>
                  <a:schemeClr val="accent5"/>
                </a:highlight>
                <a:latin typeface="Lato"/>
                <a:ea typeface="Lato"/>
                <a:cs typeface="Lato"/>
                <a:sym typeface="Lato"/>
              </a:rPr>
              <a:t>Dice Score</a:t>
            </a:r>
            <a:r>
              <a:rPr lang="en-US">
                <a:latin typeface="Lato"/>
                <a:ea typeface="Lato"/>
                <a:cs typeface="Lato"/>
                <a:sym typeface="Lato"/>
              </a:rPr>
              <a:t> and </a:t>
            </a:r>
            <a:r>
              <a:rPr b="1" lang="en-US">
                <a:solidFill>
                  <a:schemeClr val="lt1"/>
                </a:solidFill>
                <a:highlight>
                  <a:schemeClr val="accent5"/>
                </a:highlight>
                <a:latin typeface="Lato"/>
                <a:ea typeface="Lato"/>
                <a:cs typeface="Lato"/>
                <a:sym typeface="Lato"/>
              </a:rPr>
              <a:t>Intersection over Union</a:t>
            </a:r>
            <a:r>
              <a:rPr lang="en-US">
                <a:latin typeface="Lato"/>
                <a:ea typeface="Lato"/>
                <a:cs typeface="Lato"/>
                <a:sym typeface="Lato"/>
              </a:rPr>
              <a:t> (IoU), metrics that correctly evaluate lesion localization, not inflated by background pixels.</a:t>
            </a:r>
            <a:endParaRPr>
              <a:latin typeface="Lato"/>
              <a:ea typeface="Lato"/>
              <a:cs typeface="Lato"/>
              <a:sym typeface="Lato"/>
            </a:endParaRPr>
          </a:p>
        </p:txBody>
      </p:sp>
      <p:sp>
        <p:nvSpPr>
          <p:cNvPr id="223" name="Google Shape;223;p6"/>
          <p:cNvSpPr/>
          <p:nvPr/>
        </p:nvSpPr>
        <p:spPr>
          <a:xfrm>
            <a:off x="321475" y="963325"/>
            <a:ext cx="631200" cy="995100"/>
          </a:xfrm>
          <a:prstGeom prst="roundRect">
            <a:avLst>
              <a:gd fmla="val 16667" name="adj"/>
            </a:avLst>
          </a:prstGeom>
          <a:solidFill>
            <a:srgbClr val="F4F5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4100">
                <a:latin typeface="Lato"/>
                <a:ea typeface="Lato"/>
                <a:cs typeface="Lato"/>
                <a:sym typeface="Lato"/>
              </a:rPr>
              <a:t>1</a:t>
            </a:r>
            <a:endParaRPr sz="4100">
              <a:latin typeface="Lato"/>
              <a:ea typeface="Lato"/>
              <a:cs typeface="Lato"/>
              <a:sym typeface="Lato"/>
            </a:endParaRPr>
          </a:p>
        </p:txBody>
      </p:sp>
      <p:sp>
        <p:nvSpPr>
          <p:cNvPr id="224" name="Google Shape;224;p6"/>
          <p:cNvSpPr/>
          <p:nvPr/>
        </p:nvSpPr>
        <p:spPr>
          <a:xfrm>
            <a:off x="321475" y="2247800"/>
            <a:ext cx="631200" cy="9951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4100">
                <a:latin typeface="Lato"/>
                <a:ea typeface="Lato"/>
                <a:cs typeface="Lato"/>
                <a:sym typeface="Lato"/>
              </a:rPr>
              <a:t>2</a:t>
            </a:r>
            <a:endParaRPr sz="4100">
              <a:latin typeface="Lato"/>
              <a:ea typeface="Lato"/>
              <a:cs typeface="Lato"/>
              <a:sym typeface="Lato"/>
            </a:endParaRPr>
          </a:p>
        </p:txBody>
      </p:sp>
      <p:sp>
        <p:nvSpPr>
          <p:cNvPr id="225" name="Google Shape;225;p6"/>
          <p:cNvSpPr/>
          <p:nvPr/>
        </p:nvSpPr>
        <p:spPr>
          <a:xfrm>
            <a:off x="321475" y="3532275"/>
            <a:ext cx="631200" cy="995100"/>
          </a:xfrm>
          <a:prstGeom prst="roundRect">
            <a:avLst>
              <a:gd fmla="val 16667" name="adj"/>
            </a:avLst>
          </a:prstGeom>
          <a:solidFill>
            <a:srgbClr val="6BB1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4100">
                <a:latin typeface="Lato"/>
                <a:ea typeface="Lato"/>
                <a:cs typeface="Lato"/>
                <a:sym typeface="Lato"/>
              </a:rPr>
              <a:t>3</a:t>
            </a:r>
            <a:endParaRPr sz="4100">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6437c9ff21d91e0e_0"/>
          <p:cNvSpPr/>
          <p:nvPr/>
        </p:nvSpPr>
        <p:spPr>
          <a:xfrm>
            <a:off x="727800" y="1859850"/>
            <a:ext cx="4716600" cy="920700"/>
          </a:xfrm>
          <a:prstGeom prst="rect">
            <a:avLst/>
          </a:prstGeom>
          <a:solidFill>
            <a:srgbClr val="07436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231" name="Google Shape;231;g6437c9ff21d91e0e_0"/>
          <p:cNvSpPr txBox="1"/>
          <p:nvPr>
            <p:ph type="title"/>
          </p:nvPr>
        </p:nvSpPr>
        <p:spPr>
          <a:xfrm>
            <a:off x="804000" y="1901400"/>
            <a:ext cx="5252100" cy="87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sz="4000">
                <a:solidFill>
                  <a:schemeClr val="lt1"/>
                </a:solidFill>
              </a:rPr>
              <a:t>Literature Review</a:t>
            </a:r>
            <a:endParaRPr sz="40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7"/>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Architecture Evolution in CXR Segmentation</a:t>
            </a:r>
            <a:endParaRPr/>
          </a:p>
          <a:p>
            <a:pPr indent="0" lvl="0" marL="0" rtl="0" algn="l">
              <a:lnSpc>
                <a:spcPct val="100000"/>
              </a:lnSpc>
              <a:spcBef>
                <a:spcPts val="0"/>
              </a:spcBef>
              <a:spcAft>
                <a:spcPts val="0"/>
              </a:spcAft>
              <a:buSzPts val="2600"/>
              <a:buNone/>
            </a:pPr>
            <a:r>
              <a:t/>
            </a:r>
            <a:endParaRPr/>
          </a:p>
        </p:txBody>
      </p:sp>
      <p:cxnSp>
        <p:nvCxnSpPr>
          <p:cNvPr id="237" name="Google Shape;237;p7"/>
          <p:cNvCxnSpPr/>
          <p:nvPr/>
        </p:nvCxnSpPr>
        <p:spPr>
          <a:xfrm>
            <a:off x="751800" y="2452714"/>
            <a:ext cx="7982100" cy="0"/>
          </a:xfrm>
          <a:prstGeom prst="straightConnector1">
            <a:avLst/>
          </a:prstGeom>
          <a:noFill/>
          <a:ln cap="flat" cmpd="sng" w="19050">
            <a:solidFill>
              <a:srgbClr val="595959"/>
            </a:solidFill>
            <a:prstDash val="dash"/>
            <a:round/>
            <a:headEnd len="med" w="med" type="none"/>
            <a:tailEnd len="med" w="med" type="none"/>
          </a:ln>
        </p:spPr>
      </p:cxnSp>
      <p:sp>
        <p:nvSpPr>
          <p:cNvPr id="238" name="Google Shape;238;p7"/>
          <p:cNvSpPr/>
          <p:nvPr/>
        </p:nvSpPr>
        <p:spPr>
          <a:xfrm>
            <a:off x="6614700" y="903150"/>
            <a:ext cx="2119200" cy="1166100"/>
          </a:xfrm>
          <a:prstGeom prst="roundRect">
            <a:avLst>
              <a:gd fmla="val 16667" name="adj"/>
            </a:avLst>
          </a:prstGeom>
          <a:solidFill>
            <a:srgbClr val="5E9D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solidFill>
                  <a:schemeClr val="lt1"/>
                </a:solidFill>
                <a:highlight>
                  <a:schemeClr val="accent5"/>
                </a:highlight>
                <a:latin typeface="Lato"/>
                <a:ea typeface="Lato"/>
                <a:cs typeface="Lato"/>
                <a:sym typeface="Lato"/>
              </a:rPr>
              <a:t>Advanced</a:t>
            </a:r>
            <a:endParaRPr b="1" sz="1800">
              <a:solidFill>
                <a:schemeClr val="lt1"/>
              </a:solidFill>
              <a:highlight>
                <a:schemeClr val="accent5"/>
              </a:highlight>
              <a:latin typeface="Lato"/>
              <a:ea typeface="Lato"/>
              <a:cs typeface="Lato"/>
              <a:sym typeface="Lato"/>
            </a:endParaRPr>
          </a:p>
          <a:p>
            <a:pPr indent="0" lvl="0" marL="0" rtl="0" algn="ctr">
              <a:spcBef>
                <a:spcPts val="0"/>
              </a:spcBef>
              <a:spcAft>
                <a:spcPts val="0"/>
              </a:spcAft>
              <a:buNone/>
            </a:pPr>
            <a:r>
              <a:t/>
            </a:r>
            <a:endParaRPr b="1" sz="2000">
              <a:solidFill>
                <a:schemeClr val="lt1"/>
              </a:solidFill>
              <a:highlight>
                <a:schemeClr val="accent5"/>
              </a:highlight>
              <a:latin typeface="Lato"/>
              <a:ea typeface="Lato"/>
              <a:cs typeface="Lato"/>
              <a:sym typeface="Lato"/>
            </a:endParaRPr>
          </a:p>
          <a:p>
            <a:pPr indent="0" lvl="0" marL="0" rtl="0" algn="ctr">
              <a:spcBef>
                <a:spcPts val="0"/>
              </a:spcBef>
              <a:spcAft>
                <a:spcPts val="0"/>
              </a:spcAft>
              <a:buNone/>
            </a:pPr>
            <a:r>
              <a:rPr lang="en-US" sz="1200">
                <a:solidFill>
                  <a:schemeClr val="lt1"/>
                </a:solidFill>
                <a:latin typeface="Lato"/>
                <a:ea typeface="Lato"/>
                <a:cs typeface="Lato"/>
                <a:sym typeface="Lato"/>
              </a:rPr>
              <a:t>GAN (Pix2Pix)</a:t>
            </a:r>
            <a:endParaRPr sz="1200">
              <a:solidFill>
                <a:schemeClr val="lt1"/>
              </a:solidFill>
              <a:latin typeface="Lato"/>
              <a:ea typeface="Lato"/>
              <a:cs typeface="Lato"/>
              <a:sym typeface="Lato"/>
            </a:endParaRPr>
          </a:p>
          <a:p>
            <a:pPr indent="0" lvl="0" marL="0" rtl="0" algn="ctr">
              <a:spcBef>
                <a:spcPts val="0"/>
              </a:spcBef>
              <a:spcAft>
                <a:spcPts val="0"/>
              </a:spcAft>
              <a:buNone/>
            </a:pPr>
            <a:r>
              <a:rPr lang="en-US" sz="1200">
                <a:solidFill>
                  <a:schemeClr val="lt1"/>
                </a:solidFill>
                <a:latin typeface="Lato"/>
                <a:ea typeface="Lato"/>
                <a:cs typeface="Lato"/>
                <a:sym typeface="Lato"/>
              </a:rPr>
              <a:t>Transformer</a:t>
            </a:r>
            <a:endParaRPr sz="1200">
              <a:solidFill>
                <a:schemeClr val="lt1"/>
              </a:solidFill>
              <a:latin typeface="Lato"/>
              <a:ea typeface="Lato"/>
              <a:cs typeface="Lato"/>
              <a:sym typeface="Lato"/>
            </a:endParaRPr>
          </a:p>
          <a:p>
            <a:pPr indent="0" lvl="0" marL="0" rtl="0" algn="ctr">
              <a:spcBef>
                <a:spcPts val="0"/>
              </a:spcBef>
              <a:spcAft>
                <a:spcPts val="0"/>
              </a:spcAft>
              <a:buNone/>
            </a:pPr>
            <a:r>
              <a:rPr lang="en-US" sz="1200">
                <a:solidFill>
                  <a:schemeClr val="lt1"/>
                </a:solidFill>
                <a:latin typeface="Lato"/>
                <a:ea typeface="Lato"/>
                <a:cs typeface="Lato"/>
                <a:sym typeface="Lato"/>
              </a:rPr>
              <a:t>Multi-task</a:t>
            </a:r>
            <a:endParaRPr sz="1200">
              <a:solidFill>
                <a:schemeClr val="lt1"/>
              </a:solidFill>
              <a:latin typeface="Lato"/>
              <a:ea typeface="Lato"/>
              <a:cs typeface="Lato"/>
              <a:sym typeface="Lato"/>
            </a:endParaRPr>
          </a:p>
        </p:txBody>
      </p:sp>
      <p:sp>
        <p:nvSpPr>
          <p:cNvPr id="239" name="Google Shape;239;p7"/>
          <p:cNvSpPr/>
          <p:nvPr/>
        </p:nvSpPr>
        <p:spPr>
          <a:xfrm>
            <a:off x="3683252" y="903150"/>
            <a:ext cx="2119200" cy="11661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solidFill>
                  <a:schemeClr val="lt1"/>
                </a:solidFill>
                <a:highlight>
                  <a:schemeClr val="accent5"/>
                </a:highlight>
                <a:latin typeface="Lato"/>
                <a:ea typeface="Lato"/>
                <a:cs typeface="Lato"/>
                <a:sym typeface="Lato"/>
              </a:rPr>
              <a:t>Early DL</a:t>
            </a:r>
            <a:endParaRPr b="1" sz="1800">
              <a:solidFill>
                <a:schemeClr val="lt1"/>
              </a:solidFill>
              <a:highlight>
                <a:schemeClr val="accent5"/>
              </a:highlight>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U-Net</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Attention U-Net</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U-Net++</a:t>
            </a:r>
            <a:endParaRPr sz="1200">
              <a:latin typeface="Lato"/>
              <a:ea typeface="Lato"/>
              <a:cs typeface="Lato"/>
              <a:sym typeface="Lato"/>
            </a:endParaRPr>
          </a:p>
        </p:txBody>
      </p:sp>
      <p:sp>
        <p:nvSpPr>
          <p:cNvPr id="240" name="Google Shape;240;p7"/>
          <p:cNvSpPr/>
          <p:nvPr/>
        </p:nvSpPr>
        <p:spPr>
          <a:xfrm>
            <a:off x="751800" y="903150"/>
            <a:ext cx="2119200" cy="1166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solidFill>
                  <a:schemeClr val="lt1"/>
                </a:solidFill>
                <a:highlight>
                  <a:schemeClr val="accent5"/>
                </a:highlight>
                <a:latin typeface="Lato"/>
                <a:ea typeface="Lato"/>
                <a:cs typeface="Lato"/>
                <a:sym typeface="Lato"/>
              </a:rPr>
              <a:t>Classical</a:t>
            </a:r>
            <a:endParaRPr b="1" sz="1800">
              <a:solidFill>
                <a:schemeClr val="lt1"/>
              </a:solidFill>
              <a:highlight>
                <a:schemeClr val="accent5"/>
              </a:highlight>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Thresholding</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Watershed</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PCA-LDA</a:t>
            </a:r>
            <a:endParaRPr sz="1200">
              <a:latin typeface="Lato"/>
              <a:ea typeface="Lato"/>
              <a:cs typeface="Lato"/>
              <a:sym typeface="Lato"/>
            </a:endParaRPr>
          </a:p>
        </p:txBody>
      </p:sp>
      <p:cxnSp>
        <p:nvCxnSpPr>
          <p:cNvPr id="241" name="Google Shape;241;p7"/>
          <p:cNvCxnSpPr>
            <a:stCxn id="240" idx="2"/>
          </p:cNvCxnSpPr>
          <p:nvPr/>
        </p:nvCxnSpPr>
        <p:spPr>
          <a:xfrm>
            <a:off x="1811400" y="2069250"/>
            <a:ext cx="0" cy="383400"/>
          </a:xfrm>
          <a:prstGeom prst="straightConnector1">
            <a:avLst/>
          </a:prstGeom>
          <a:noFill/>
          <a:ln cap="flat" cmpd="sng" w="9525">
            <a:solidFill>
              <a:schemeClr val="dk2"/>
            </a:solidFill>
            <a:prstDash val="solid"/>
            <a:round/>
            <a:headEnd len="med" w="med" type="none"/>
            <a:tailEnd len="med" w="med" type="none"/>
          </a:ln>
        </p:spPr>
      </p:cxnSp>
      <p:cxnSp>
        <p:nvCxnSpPr>
          <p:cNvPr id="242" name="Google Shape;242;p7"/>
          <p:cNvCxnSpPr>
            <a:stCxn id="239" idx="2"/>
          </p:cNvCxnSpPr>
          <p:nvPr/>
        </p:nvCxnSpPr>
        <p:spPr>
          <a:xfrm>
            <a:off x="4742852" y="2069250"/>
            <a:ext cx="0" cy="399300"/>
          </a:xfrm>
          <a:prstGeom prst="straightConnector1">
            <a:avLst/>
          </a:prstGeom>
          <a:noFill/>
          <a:ln cap="flat" cmpd="sng" w="9525">
            <a:solidFill>
              <a:schemeClr val="dk2"/>
            </a:solidFill>
            <a:prstDash val="solid"/>
            <a:round/>
            <a:headEnd len="med" w="med" type="none"/>
            <a:tailEnd len="med" w="med" type="none"/>
          </a:ln>
        </p:spPr>
      </p:cxnSp>
      <p:cxnSp>
        <p:nvCxnSpPr>
          <p:cNvPr id="243" name="Google Shape;243;p7"/>
          <p:cNvCxnSpPr>
            <a:stCxn id="238" idx="2"/>
          </p:cNvCxnSpPr>
          <p:nvPr/>
        </p:nvCxnSpPr>
        <p:spPr>
          <a:xfrm>
            <a:off x="7674300" y="2069250"/>
            <a:ext cx="0" cy="383400"/>
          </a:xfrm>
          <a:prstGeom prst="straightConnector1">
            <a:avLst/>
          </a:prstGeom>
          <a:noFill/>
          <a:ln cap="flat" cmpd="sng" w="9525">
            <a:solidFill>
              <a:schemeClr val="dk2"/>
            </a:solidFill>
            <a:prstDash val="solid"/>
            <a:round/>
            <a:headEnd len="med" w="med" type="none"/>
            <a:tailEnd len="med" w="med" type="none"/>
          </a:ln>
        </p:spPr>
      </p:cxnSp>
      <p:sp>
        <p:nvSpPr>
          <p:cNvPr id="244" name="Google Shape;244;p7"/>
          <p:cNvSpPr txBox="1"/>
          <p:nvPr/>
        </p:nvSpPr>
        <p:spPr>
          <a:xfrm>
            <a:off x="663350" y="2507386"/>
            <a:ext cx="49593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ato Black"/>
                <a:ea typeface="Lato Black"/>
                <a:cs typeface="Lato Black"/>
                <a:sym typeface="Lato Black"/>
              </a:rPr>
              <a:t>Key SOTA Comparison </a:t>
            </a:r>
            <a:endParaRPr>
              <a:latin typeface="Lato Black"/>
              <a:ea typeface="Lato Black"/>
              <a:cs typeface="Lato Black"/>
              <a:sym typeface="Lato Black"/>
            </a:endParaRPr>
          </a:p>
          <a:p>
            <a:pPr indent="0" lvl="0" marL="0" rtl="0" algn="l">
              <a:spcBef>
                <a:spcPts val="0"/>
              </a:spcBef>
              <a:spcAft>
                <a:spcPts val="0"/>
              </a:spcAft>
              <a:buNone/>
            </a:pPr>
            <a:r>
              <a:t/>
            </a:r>
            <a:endParaRPr sz="1800">
              <a:latin typeface="Quattrocento Sans"/>
              <a:ea typeface="Quattrocento Sans"/>
              <a:cs typeface="Quattrocento Sans"/>
              <a:sym typeface="Quattrocento Sans"/>
            </a:endParaRPr>
          </a:p>
        </p:txBody>
      </p:sp>
      <p:graphicFrame>
        <p:nvGraphicFramePr>
          <p:cNvPr id="245" name="Google Shape;245;p7"/>
          <p:cNvGraphicFramePr/>
          <p:nvPr/>
        </p:nvGraphicFramePr>
        <p:xfrm>
          <a:off x="729438" y="2906675"/>
          <a:ext cx="3000000" cy="3000000"/>
        </p:xfrm>
        <a:graphic>
          <a:graphicData uri="http://schemas.openxmlformats.org/drawingml/2006/table">
            <a:tbl>
              <a:tblPr>
                <a:noFill/>
                <a:tableStyleId>{346497CF-7E8D-4300-890D-074A1EF4CC9B}</a:tableStyleId>
              </a:tblPr>
              <a:tblGrid>
                <a:gridCol w="2744200"/>
                <a:gridCol w="1186575"/>
                <a:gridCol w="1142225"/>
                <a:gridCol w="1180525"/>
                <a:gridCol w="1728600"/>
              </a:tblGrid>
              <a:tr h="381000">
                <a:tc>
                  <a:txBody>
                    <a:bodyPr/>
                    <a:lstStyle/>
                    <a:p>
                      <a:pPr indent="0" lvl="0" marL="0" rtl="0" algn="l">
                        <a:spcBef>
                          <a:spcPts val="0"/>
                        </a:spcBef>
                        <a:spcAft>
                          <a:spcPts val="0"/>
                        </a:spcAft>
                        <a:buNone/>
                      </a:pPr>
                      <a:r>
                        <a:rPr b="1" lang="en-US" sz="1200">
                          <a:solidFill>
                            <a:schemeClr val="lt1"/>
                          </a:solidFill>
                          <a:latin typeface="Lato"/>
                          <a:ea typeface="Lato"/>
                          <a:cs typeface="Lato"/>
                          <a:sym typeface="Lato"/>
                        </a:rPr>
                        <a:t>Model</a:t>
                      </a:r>
                      <a:endParaRPr b="1" sz="1200">
                        <a:solidFill>
                          <a:schemeClr val="lt1"/>
                        </a:solidFill>
                        <a:latin typeface="Lato"/>
                        <a:ea typeface="Lato"/>
                        <a:cs typeface="Lato"/>
                        <a:sym typeface="Lato"/>
                      </a:endParaRPr>
                    </a:p>
                  </a:txBody>
                  <a:tcPr marT="91425" marB="91425" marR="91425" marL="91425">
                    <a:solidFill>
                      <a:srgbClr val="5E9DC3"/>
                    </a:solidFill>
                  </a:tcPr>
                </a:tc>
                <a:tc>
                  <a:txBody>
                    <a:bodyPr/>
                    <a:lstStyle/>
                    <a:p>
                      <a:pPr indent="0" lvl="0" marL="0" rtl="0" algn="l">
                        <a:spcBef>
                          <a:spcPts val="0"/>
                        </a:spcBef>
                        <a:spcAft>
                          <a:spcPts val="0"/>
                        </a:spcAft>
                        <a:buNone/>
                      </a:pPr>
                      <a:r>
                        <a:rPr b="1" lang="en-US" sz="1200">
                          <a:solidFill>
                            <a:schemeClr val="lt1"/>
                          </a:solidFill>
                          <a:latin typeface="Lato"/>
                          <a:ea typeface="Lato"/>
                          <a:cs typeface="Lato"/>
                          <a:sym typeface="Lato"/>
                        </a:rPr>
                        <a:t>Target</a:t>
                      </a:r>
                      <a:endParaRPr b="1" sz="1200">
                        <a:solidFill>
                          <a:schemeClr val="lt1"/>
                        </a:solidFill>
                        <a:latin typeface="Lato"/>
                        <a:ea typeface="Lato"/>
                        <a:cs typeface="Lato"/>
                        <a:sym typeface="Lato"/>
                      </a:endParaRPr>
                    </a:p>
                  </a:txBody>
                  <a:tcPr marT="91425" marB="91425" marR="91425" marL="91425">
                    <a:solidFill>
                      <a:srgbClr val="5E9DC3"/>
                    </a:solidFill>
                  </a:tcPr>
                </a:tc>
                <a:tc>
                  <a:txBody>
                    <a:bodyPr/>
                    <a:lstStyle/>
                    <a:p>
                      <a:pPr indent="0" lvl="0" marL="0" rtl="0" algn="l">
                        <a:spcBef>
                          <a:spcPts val="0"/>
                        </a:spcBef>
                        <a:spcAft>
                          <a:spcPts val="0"/>
                        </a:spcAft>
                        <a:buNone/>
                      </a:pPr>
                      <a:r>
                        <a:rPr b="1" lang="en-US" sz="1200">
                          <a:solidFill>
                            <a:schemeClr val="lt1"/>
                          </a:solidFill>
                          <a:latin typeface="Lato"/>
                          <a:ea typeface="Lato"/>
                          <a:cs typeface="Lato"/>
                          <a:sym typeface="Lato"/>
                        </a:rPr>
                        <a:t>Dice/mDice</a:t>
                      </a:r>
                      <a:endParaRPr b="1" sz="1200">
                        <a:solidFill>
                          <a:schemeClr val="lt1"/>
                        </a:solidFill>
                        <a:latin typeface="Lato"/>
                        <a:ea typeface="Lato"/>
                        <a:cs typeface="Lato"/>
                        <a:sym typeface="Lato"/>
                      </a:endParaRPr>
                    </a:p>
                  </a:txBody>
                  <a:tcPr marT="91425" marB="91425" marR="91425" marL="91425">
                    <a:solidFill>
                      <a:srgbClr val="5E9DC3"/>
                    </a:solidFill>
                  </a:tcPr>
                </a:tc>
                <a:tc>
                  <a:txBody>
                    <a:bodyPr/>
                    <a:lstStyle/>
                    <a:p>
                      <a:pPr indent="0" lvl="0" marL="0" rtl="0" algn="l">
                        <a:spcBef>
                          <a:spcPts val="0"/>
                        </a:spcBef>
                        <a:spcAft>
                          <a:spcPts val="0"/>
                        </a:spcAft>
                        <a:buNone/>
                      </a:pPr>
                      <a:r>
                        <a:rPr b="1" lang="en-US" sz="1200">
                          <a:solidFill>
                            <a:schemeClr val="lt1"/>
                          </a:solidFill>
                          <a:latin typeface="Lato"/>
                          <a:ea typeface="Lato"/>
                          <a:cs typeface="Lato"/>
                          <a:sym typeface="Lato"/>
                        </a:rPr>
                        <a:t>IoU/mIoU</a:t>
                      </a:r>
                      <a:endParaRPr b="1" sz="1200">
                        <a:solidFill>
                          <a:schemeClr val="lt1"/>
                        </a:solidFill>
                        <a:latin typeface="Lato"/>
                        <a:ea typeface="Lato"/>
                        <a:cs typeface="Lato"/>
                        <a:sym typeface="Lato"/>
                      </a:endParaRPr>
                    </a:p>
                  </a:txBody>
                  <a:tcPr marT="91425" marB="91425" marR="91425" marL="91425">
                    <a:solidFill>
                      <a:srgbClr val="5E9DC3"/>
                    </a:solidFill>
                  </a:tcPr>
                </a:tc>
                <a:tc>
                  <a:txBody>
                    <a:bodyPr/>
                    <a:lstStyle/>
                    <a:p>
                      <a:pPr indent="0" lvl="0" marL="0" rtl="0" algn="l">
                        <a:spcBef>
                          <a:spcPts val="0"/>
                        </a:spcBef>
                        <a:spcAft>
                          <a:spcPts val="0"/>
                        </a:spcAft>
                        <a:buNone/>
                      </a:pPr>
                      <a:r>
                        <a:rPr b="1" lang="en-US" sz="1200">
                          <a:solidFill>
                            <a:schemeClr val="lt1"/>
                          </a:solidFill>
                          <a:latin typeface="Lato"/>
                          <a:ea typeface="Lato"/>
                          <a:cs typeface="Lato"/>
                          <a:sym typeface="Lato"/>
                        </a:rPr>
                        <a:t>Complexity</a:t>
                      </a:r>
                      <a:endParaRPr b="1" sz="1200">
                        <a:solidFill>
                          <a:schemeClr val="lt1"/>
                        </a:solidFill>
                        <a:latin typeface="Lato"/>
                        <a:ea typeface="Lato"/>
                        <a:cs typeface="Lato"/>
                        <a:sym typeface="Lato"/>
                      </a:endParaRPr>
                    </a:p>
                  </a:txBody>
                  <a:tcPr marT="91425" marB="91425" marR="91425" marL="91425">
                    <a:solidFill>
                      <a:srgbClr val="5E9DC3"/>
                    </a:solidFill>
                  </a:tcPr>
                </a:tc>
              </a:tr>
              <a:tr h="381000">
                <a:tc>
                  <a:txBody>
                    <a:bodyPr/>
                    <a:lstStyle/>
                    <a:p>
                      <a:pPr indent="0" lvl="0" marL="0" rtl="0" algn="l">
                        <a:spcBef>
                          <a:spcPts val="0"/>
                        </a:spcBef>
                        <a:spcAft>
                          <a:spcPts val="0"/>
                        </a:spcAft>
                        <a:buNone/>
                      </a:pPr>
                      <a:r>
                        <a:rPr lang="en-US" sz="1100">
                          <a:latin typeface="Lato"/>
                          <a:ea typeface="Lato"/>
                          <a:cs typeface="Lato"/>
                          <a:sym typeface="Lato"/>
                        </a:rPr>
                        <a:t>TGAPneumoSeg (Mann et al., 2025)</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Pneumothorax</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0.8394</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0.8198</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Very High</a:t>
                      </a:r>
                      <a:endParaRPr sz="1100">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US" sz="1100">
                          <a:latin typeface="Lato"/>
                          <a:ea typeface="Lato"/>
                          <a:cs typeface="Lato"/>
                          <a:sym typeface="Lato"/>
                        </a:rPr>
                        <a:t>ATRC-Net (Karuppusamy, 2025)</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Multi-pathology</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0.92</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0.85 (Jaccard)</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Very High</a:t>
                      </a:r>
                      <a:endParaRPr sz="1100">
                        <a:latin typeface="Lato"/>
                        <a:ea typeface="Lato"/>
                        <a:cs typeface="Lato"/>
                        <a:sym typeface="Lato"/>
                      </a:endParaRPr>
                    </a:p>
                  </a:txBody>
                  <a:tcPr marT="91425" marB="91425" marR="91425" marL="91425"/>
                </a:tc>
              </a:tr>
              <a:tr h="381000">
                <a:tc>
                  <a:txBody>
                    <a:bodyPr/>
                    <a:lstStyle/>
                    <a:p>
                      <a:pPr indent="0" lvl="0" marL="0" rtl="0" algn="l">
                        <a:spcBef>
                          <a:spcPts val="0"/>
                        </a:spcBef>
                        <a:spcAft>
                          <a:spcPts val="0"/>
                        </a:spcAft>
                        <a:buNone/>
                      </a:pPr>
                      <a:r>
                        <a:rPr lang="en-US" sz="1100">
                          <a:latin typeface="Lato"/>
                          <a:ea typeface="Lato"/>
                          <a:cs typeface="Lato"/>
                          <a:sym typeface="Lato"/>
                        </a:rPr>
                        <a:t>U-Net + EfficientNet-B0 (Lin et al., 2025)</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Pneumothorax</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0.30 (mDice)</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0.20 (mIoU)</a:t>
                      </a:r>
                      <a:endParaRPr sz="1100">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US" sz="1100">
                          <a:latin typeface="Lato"/>
                          <a:ea typeface="Lato"/>
                          <a:cs typeface="Lato"/>
                          <a:sym typeface="Lato"/>
                        </a:rPr>
                        <a:t>Low</a:t>
                      </a:r>
                      <a:endParaRPr sz="1100">
                        <a:latin typeface="Lato"/>
                        <a:ea typeface="Lato"/>
                        <a:cs typeface="Lato"/>
                        <a:sym typeface="Lato"/>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6437c9ff21d91e0e_23"/>
          <p:cNvSpPr/>
          <p:nvPr/>
        </p:nvSpPr>
        <p:spPr>
          <a:xfrm>
            <a:off x="727800" y="1859850"/>
            <a:ext cx="3864900" cy="920700"/>
          </a:xfrm>
          <a:prstGeom prst="rect">
            <a:avLst/>
          </a:prstGeom>
          <a:solidFill>
            <a:srgbClr val="07436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251" name="Google Shape;251;g6437c9ff21d91e0e_23"/>
          <p:cNvSpPr txBox="1"/>
          <p:nvPr>
            <p:ph type="title"/>
          </p:nvPr>
        </p:nvSpPr>
        <p:spPr>
          <a:xfrm>
            <a:off x="804000" y="1901400"/>
            <a:ext cx="3447300" cy="87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sz="4000">
                <a:solidFill>
                  <a:schemeClr val="lt1"/>
                </a:solidFill>
              </a:rPr>
              <a:t>Methodology</a:t>
            </a:r>
            <a:endParaRPr sz="40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8"/>
          <p:cNvSpPr/>
          <p:nvPr/>
        </p:nvSpPr>
        <p:spPr>
          <a:xfrm>
            <a:off x="920700" y="2628650"/>
            <a:ext cx="7302600" cy="2607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57" name="Google Shape;257;p8"/>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End-to-End Pipeline Overview</a:t>
            </a:r>
            <a:endParaRPr/>
          </a:p>
        </p:txBody>
      </p:sp>
      <p:sp>
        <p:nvSpPr>
          <p:cNvPr id="258" name="Google Shape;258;p8"/>
          <p:cNvSpPr/>
          <p:nvPr/>
        </p:nvSpPr>
        <p:spPr>
          <a:xfrm>
            <a:off x="242300" y="991250"/>
            <a:ext cx="1323600" cy="3535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59" name="Google Shape;259;p8"/>
          <p:cNvSpPr/>
          <p:nvPr/>
        </p:nvSpPr>
        <p:spPr>
          <a:xfrm>
            <a:off x="1708323" y="991250"/>
            <a:ext cx="1323600" cy="3535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60" name="Google Shape;260;p8"/>
          <p:cNvSpPr/>
          <p:nvPr/>
        </p:nvSpPr>
        <p:spPr>
          <a:xfrm>
            <a:off x="3174345" y="991250"/>
            <a:ext cx="1323600" cy="3535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61" name="Google Shape;261;p8"/>
          <p:cNvSpPr/>
          <p:nvPr/>
        </p:nvSpPr>
        <p:spPr>
          <a:xfrm>
            <a:off x="4640368" y="991250"/>
            <a:ext cx="1323600" cy="3535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62" name="Google Shape;262;p8"/>
          <p:cNvSpPr/>
          <p:nvPr/>
        </p:nvSpPr>
        <p:spPr>
          <a:xfrm>
            <a:off x="6106390" y="991250"/>
            <a:ext cx="1323600" cy="3535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63" name="Google Shape;263;p8"/>
          <p:cNvSpPr/>
          <p:nvPr/>
        </p:nvSpPr>
        <p:spPr>
          <a:xfrm>
            <a:off x="7572413" y="991250"/>
            <a:ext cx="1323600" cy="3535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64" name="Google Shape;264;p8"/>
          <p:cNvSpPr/>
          <p:nvPr/>
        </p:nvSpPr>
        <p:spPr>
          <a:xfrm>
            <a:off x="636500"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Lato Black"/>
                <a:ea typeface="Lato Black"/>
                <a:cs typeface="Lato Black"/>
                <a:sym typeface="Lato Black"/>
              </a:rPr>
              <a:t>1</a:t>
            </a:r>
            <a:endParaRPr sz="2400">
              <a:solidFill>
                <a:schemeClr val="lt1"/>
              </a:solidFill>
              <a:latin typeface="Lato Black"/>
              <a:ea typeface="Lato Black"/>
              <a:cs typeface="Lato Black"/>
              <a:sym typeface="Lato Black"/>
            </a:endParaRPr>
          </a:p>
        </p:txBody>
      </p:sp>
      <p:sp>
        <p:nvSpPr>
          <p:cNvPr id="265" name="Google Shape;265;p8"/>
          <p:cNvSpPr/>
          <p:nvPr/>
        </p:nvSpPr>
        <p:spPr>
          <a:xfrm>
            <a:off x="2102525"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66" name="Google Shape;266;p8"/>
          <p:cNvSpPr/>
          <p:nvPr/>
        </p:nvSpPr>
        <p:spPr>
          <a:xfrm>
            <a:off x="3568550"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67" name="Google Shape;267;p8"/>
          <p:cNvSpPr/>
          <p:nvPr/>
        </p:nvSpPr>
        <p:spPr>
          <a:xfrm>
            <a:off x="5034575"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68" name="Google Shape;268;p8"/>
          <p:cNvSpPr/>
          <p:nvPr/>
        </p:nvSpPr>
        <p:spPr>
          <a:xfrm>
            <a:off x="6500600"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69" name="Google Shape;269;p8"/>
          <p:cNvSpPr/>
          <p:nvPr/>
        </p:nvSpPr>
        <p:spPr>
          <a:xfrm>
            <a:off x="7966625"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70" name="Google Shape;270;p8"/>
          <p:cNvSpPr/>
          <p:nvPr/>
        </p:nvSpPr>
        <p:spPr>
          <a:xfrm>
            <a:off x="2102525"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Lato Black"/>
                <a:ea typeface="Lato Black"/>
                <a:cs typeface="Lato Black"/>
                <a:sym typeface="Lato Black"/>
              </a:rPr>
              <a:t>2</a:t>
            </a:r>
            <a:endParaRPr sz="2400">
              <a:solidFill>
                <a:schemeClr val="lt1"/>
              </a:solidFill>
              <a:latin typeface="Lato Black"/>
              <a:ea typeface="Lato Black"/>
              <a:cs typeface="Lato Black"/>
              <a:sym typeface="Lato Black"/>
            </a:endParaRPr>
          </a:p>
        </p:txBody>
      </p:sp>
      <p:sp>
        <p:nvSpPr>
          <p:cNvPr id="271" name="Google Shape;271;p8"/>
          <p:cNvSpPr/>
          <p:nvPr/>
        </p:nvSpPr>
        <p:spPr>
          <a:xfrm>
            <a:off x="3568550"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Lato Black"/>
                <a:ea typeface="Lato Black"/>
                <a:cs typeface="Lato Black"/>
                <a:sym typeface="Lato Black"/>
              </a:rPr>
              <a:t>3</a:t>
            </a:r>
            <a:endParaRPr sz="2400">
              <a:solidFill>
                <a:schemeClr val="lt1"/>
              </a:solidFill>
              <a:latin typeface="Lato Black"/>
              <a:ea typeface="Lato Black"/>
              <a:cs typeface="Lato Black"/>
              <a:sym typeface="Lato Black"/>
            </a:endParaRPr>
          </a:p>
        </p:txBody>
      </p:sp>
      <p:sp>
        <p:nvSpPr>
          <p:cNvPr id="272" name="Google Shape;272;p8"/>
          <p:cNvSpPr/>
          <p:nvPr/>
        </p:nvSpPr>
        <p:spPr>
          <a:xfrm>
            <a:off x="5034575"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Lato Black"/>
                <a:ea typeface="Lato Black"/>
                <a:cs typeface="Lato Black"/>
                <a:sym typeface="Lato Black"/>
              </a:rPr>
              <a:t>4</a:t>
            </a:r>
            <a:endParaRPr sz="2400">
              <a:solidFill>
                <a:schemeClr val="lt1"/>
              </a:solidFill>
              <a:latin typeface="Lato Black"/>
              <a:ea typeface="Lato Black"/>
              <a:cs typeface="Lato Black"/>
              <a:sym typeface="Lato Black"/>
            </a:endParaRPr>
          </a:p>
        </p:txBody>
      </p:sp>
      <p:sp>
        <p:nvSpPr>
          <p:cNvPr id="273" name="Google Shape;273;p8"/>
          <p:cNvSpPr/>
          <p:nvPr/>
        </p:nvSpPr>
        <p:spPr>
          <a:xfrm>
            <a:off x="6500600"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Lato Black"/>
                <a:ea typeface="Lato Black"/>
                <a:cs typeface="Lato Black"/>
                <a:sym typeface="Lato Black"/>
              </a:rPr>
              <a:t>5</a:t>
            </a:r>
            <a:endParaRPr sz="2400">
              <a:solidFill>
                <a:schemeClr val="lt1"/>
              </a:solidFill>
              <a:latin typeface="Lato Black"/>
              <a:ea typeface="Lato Black"/>
              <a:cs typeface="Lato Black"/>
              <a:sym typeface="Lato Black"/>
            </a:endParaRPr>
          </a:p>
        </p:txBody>
      </p:sp>
      <p:sp>
        <p:nvSpPr>
          <p:cNvPr id="274" name="Google Shape;274;p8"/>
          <p:cNvSpPr/>
          <p:nvPr/>
        </p:nvSpPr>
        <p:spPr>
          <a:xfrm>
            <a:off x="7966625" y="1258650"/>
            <a:ext cx="535200" cy="535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Lato Black"/>
                <a:ea typeface="Lato Black"/>
                <a:cs typeface="Lato Black"/>
                <a:sym typeface="Lato Black"/>
              </a:rPr>
              <a:t>6</a:t>
            </a:r>
            <a:endParaRPr sz="2400">
              <a:solidFill>
                <a:schemeClr val="lt1"/>
              </a:solidFill>
              <a:latin typeface="Lato Black"/>
              <a:ea typeface="Lato Black"/>
              <a:cs typeface="Lato Black"/>
              <a:sym typeface="Lato Black"/>
            </a:endParaRPr>
          </a:p>
        </p:txBody>
      </p:sp>
      <p:sp>
        <p:nvSpPr>
          <p:cNvPr id="275" name="Google Shape;275;p8"/>
          <p:cNvSpPr/>
          <p:nvPr/>
        </p:nvSpPr>
        <p:spPr>
          <a:xfrm>
            <a:off x="342800"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lt1"/>
                </a:solidFill>
                <a:latin typeface="Lato"/>
                <a:ea typeface="Lato"/>
                <a:cs typeface="Lato"/>
                <a:sym typeface="Lato"/>
              </a:rPr>
              <a:t>Input Data</a:t>
            </a:r>
            <a:endParaRPr b="1" sz="1200">
              <a:solidFill>
                <a:schemeClr val="lt1"/>
              </a:solidFill>
              <a:latin typeface="Lato"/>
              <a:ea typeface="Lato"/>
              <a:cs typeface="Lato"/>
              <a:sym typeface="Lato"/>
            </a:endParaRPr>
          </a:p>
        </p:txBody>
      </p:sp>
      <p:sp>
        <p:nvSpPr>
          <p:cNvPr id="276" name="Google Shape;276;p8"/>
          <p:cNvSpPr/>
          <p:nvPr/>
        </p:nvSpPr>
        <p:spPr>
          <a:xfrm>
            <a:off x="1808825"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77" name="Google Shape;277;p8"/>
          <p:cNvSpPr/>
          <p:nvPr/>
        </p:nvSpPr>
        <p:spPr>
          <a:xfrm>
            <a:off x="3274850"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78" name="Google Shape;278;p8"/>
          <p:cNvSpPr/>
          <p:nvPr/>
        </p:nvSpPr>
        <p:spPr>
          <a:xfrm>
            <a:off x="4740875"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79" name="Google Shape;279;p8"/>
          <p:cNvSpPr/>
          <p:nvPr/>
        </p:nvSpPr>
        <p:spPr>
          <a:xfrm>
            <a:off x="6206900"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80" name="Google Shape;280;p8"/>
          <p:cNvSpPr/>
          <p:nvPr/>
        </p:nvSpPr>
        <p:spPr>
          <a:xfrm>
            <a:off x="7672925"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281" name="Google Shape;281;p8"/>
          <p:cNvSpPr/>
          <p:nvPr/>
        </p:nvSpPr>
        <p:spPr>
          <a:xfrm>
            <a:off x="342800" y="3050275"/>
            <a:ext cx="1122600" cy="13155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latin typeface="Lato"/>
                <a:ea typeface="Lato"/>
                <a:cs typeface="Lato"/>
                <a:sym typeface="Lato"/>
              </a:rPr>
              <a:t>SIIM-ACR</a:t>
            </a:r>
            <a:endParaRPr sz="1100">
              <a:latin typeface="Lato"/>
              <a:ea typeface="Lato"/>
              <a:cs typeface="Lato"/>
              <a:sym typeface="Lato"/>
            </a:endParaRPr>
          </a:p>
          <a:p>
            <a:pPr indent="0" lvl="0" marL="0" rtl="0" algn="ctr">
              <a:spcBef>
                <a:spcPts val="0"/>
              </a:spcBef>
              <a:spcAft>
                <a:spcPts val="0"/>
              </a:spcAft>
              <a:buNone/>
            </a:pPr>
            <a:r>
              <a:rPr lang="en-US" sz="1100">
                <a:latin typeface="Lato"/>
                <a:ea typeface="Lato"/>
                <a:cs typeface="Lato"/>
                <a:sym typeface="Lato"/>
              </a:rPr>
              <a:t>12,047 DICOM</a:t>
            </a:r>
            <a:endParaRPr sz="1100">
              <a:latin typeface="Lato"/>
              <a:ea typeface="Lato"/>
              <a:cs typeface="Lato"/>
              <a:sym typeface="Lato"/>
            </a:endParaRPr>
          </a:p>
          <a:p>
            <a:pPr indent="0" lvl="0" marL="0" rtl="0" algn="ctr">
              <a:spcBef>
                <a:spcPts val="0"/>
              </a:spcBef>
              <a:spcAft>
                <a:spcPts val="0"/>
              </a:spcAft>
              <a:buNone/>
            </a:pPr>
            <a:r>
              <a:rPr lang="en-US" sz="1100">
                <a:latin typeface="Lato"/>
                <a:ea typeface="Lato"/>
                <a:cs typeface="Lato"/>
                <a:sym typeface="Lato"/>
              </a:rPr>
              <a:t>chest X-rays</a:t>
            </a:r>
            <a:endParaRPr sz="1100">
              <a:latin typeface="Lato"/>
              <a:ea typeface="Lato"/>
              <a:cs typeface="Lato"/>
              <a:sym typeface="Lato"/>
            </a:endParaRPr>
          </a:p>
        </p:txBody>
      </p:sp>
      <p:sp>
        <p:nvSpPr>
          <p:cNvPr id="282" name="Google Shape;282;p8"/>
          <p:cNvSpPr/>
          <p:nvPr/>
        </p:nvSpPr>
        <p:spPr>
          <a:xfrm>
            <a:off x="1808825" y="3050275"/>
            <a:ext cx="1122600" cy="13155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latin typeface="Lato"/>
                <a:ea typeface="Lato"/>
                <a:cs typeface="Lato"/>
                <a:sym typeface="Lato"/>
              </a:rPr>
              <a:t>Resize 512×512</a:t>
            </a:r>
            <a:endParaRPr sz="1100">
              <a:latin typeface="Lato"/>
              <a:ea typeface="Lato"/>
              <a:cs typeface="Lato"/>
              <a:sym typeface="Lato"/>
            </a:endParaRPr>
          </a:p>
          <a:p>
            <a:pPr indent="0" lvl="0" marL="0" rtl="0" algn="ctr">
              <a:spcBef>
                <a:spcPts val="0"/>
              </a:spcBef>
              <a:spcAft>
                <a:spcPts val="0"/>
              </a:spcAft>
              <a:buNone/>
            </a:pPr>
            <a:r>
              <a:rPr lang="en-US" sz="1100">
                <a:latin typeface="Lato"/>
                <a:ea typeface="Lato"/>
                <a:cs typeface="Lato"/>
                <a:sym typeface="Lato"/>
              </a:rPr>
              <a:t>CLAHE</a:t>
            </a:r>
            <a:endParaRPr sz="1100">
              <a:latin typeface="Lato"/>
              <a:ea typeface="Lato"/>
              <a:cs typeface="Lato"/>
              <a:sym typeface="Lato"/>
            </a:endParaRPr>
          </a:p>
          <a:p>
            <a:pPr indent="0" lvl="0" marL="0" rtl="0" algn="ctr">
              <a:spcBef>
                <a:spcPts val="0"/>
              </a:spcBef>
              <a:spcAft>
                <a:spcPts val="0"/>
              </a:spcAft>
              <a:buNone/>
            </a:pPr>
            <a:r>
              <a:rPr lang="en-US" sz="1100">
                <a:latin typeface="Lato"/>
                <a:ea typeface="Lato"/>
                <a:cs typeface="Lato"/>
                <a:sym typeface="Lato"/>
              </a:rPr>
              <a:t>Normalize + Aug</a:t>
            </a:r>
            <a:endParaRPr sz="1100">
              <a:latin typeface="Lato"/>
              <a:ea typeface="Lato"/>
              <a:cs typeface="Lato"/>
              <a:sym typeface="Lato"/>
            </a:endParaRPr>
          </a:p>
        </p:txBody>
      </p:sp>
      <p:sp>
        <p:nvSpPr>
          <p:cNvPr id="283" name="Google Shape;283;p8"/>
          <p:cNvSpPr/>
          <p:nvPr/>
        </p:nvSpPr>
        <p:spPr>
          <a:xfrm>
            <a:off x="3274850" y="3050275"/>
            <a:ext cx="1122600" cy="13155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latin typeface="Lato"/>
                <a:ea typeface="Lato"/>
                <a:cs typeface="Lato"/>
                <a:sym typeface="Lato"/>
              </a:rPr>
              <a:t>U-Net Decoder</a:t>
            </a:r>
            <a:endParaRPr sz="1100">
              <a:latin typeface="Lato"/>
              <a:ea typeface="Lato"/>
              <a:cs typeface="Lato"/>
              <a:sym typeface="Lato"/>
            </a:endParaRPr>
          </a:p>
          <a:p>
            <a:pPr indent="0" lvl="0" marL="0" rtl="0" algn="ctr">
              <a:spcBef>
                <a:spcPts val="0"/>
              </a:spcBef>
              <a:spcAft>
                <a:spcPts val="0"/>
              </a:spcAft>
              <a:buNone/>
            </a:pPr>
            <a:r>
              <a:rPr lang="en-US" sz="1100">
                <a:latin typeface="Lato"/>
                <a:ea typeface="Lato"/>
                <a:cs typeface="Lato"/>
                <a:sym typeface="Lato"/>
              </a:rPr>
              <a:t>+ </a:t>
            </a:r>
            <a:r>
              <a:rPr lang="en-US" sz="1100">
                <a:latin typeface="Lato"/>
                <a:ea typeface="Lato"/>
                <a:cs typeface="Lato"/>
                <a:sym typeface="Lato"/>
              </a:rPr>
              <a:t>EfficientNet</a:t>
            </a:r>
            <a:r>
              <a:rPr lang="en-US" sz="1100">
                <a:latin typeface="Lato"/>
                <a:ea typeface="Lato"/>
                <a:cs typeface="Lato"/>
                <a:sym typeface="Lato"/>
              </a:rPr>
              <a:t>-B0 Encoder</a:t>
            </a:r>
            <a:endParaRPr sz="1100">
              <a:latin typeface="Lato"/>
              <a:ea typeface="Lato"/>
              <a:cs typeface="Lato"/>
              <a:sym typeface="Lato"/>
            </a:endParaRPr>
          </a:p>
        </p:txBody>
      </p:sp>
      <p:sp>
        <p:nvSpPr>
          <p:cNvPr id="284" name="Google Shape;284;p8"/>
          <p:cNvSpPr/>
          <p:nvPr/>
        </p:nvSpPr>
        <p:spPr>
          <a:xfrm>
            <a:off x="4740875" y="3050275"/>
            <a:ext cx="1122600" cy="13155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latin typeface="Lato"/>
                <a:ea typeface="Lato"/>
                <a:cs typeface="Lato"/>
                <a:sym typeface="Lato"/>
              </a:rPr>
              <a:t>Focal Tversky</a:t>
            </a:r>
            <a:endParaRPr sz="1100">
              <a:latin typeface="Lato"/>
              <a:ea typeface="Lato"/>
              <a:cs typeface="Lato"/>
              <a:sym typeface="Lato"/>
            </a:endParaRPr>
          </a:p>
          <a:p>
            <a:pPr indent="0" lvl="0" marL="0" rtl="0" algn="ctr">
              <a:spcBef>
                <a:spcPts val="0"/>
              </a:spcBef>
              <a:spcAft>
                <a:spcPts val="0"/>
              </a:spcAft>
              <a:buNone/>
            </a:pPr>
            <a:r>
              <a:rPr lang="en-US" sz="1100">
                <a:latin typeface="Lato"/>
                <a:ea typeface="Lato"/>
                <a:cs typeface="Lato"/>
                <a:sym typeface="Lato"/>
              </a:rPr>
              <a:t>Loss + BCE</a:t>
            </a:r>
            <a:endParaRPr sz="1100">
              <a:latin typeface="Lato"/>
              <a:ea typeface="Lato"/>
              <a:cs typeface="Lato"/>
              <a:sym typeface="Lato"/>
            </a:endParaRPr>
          </a:p>
          <a:p>
            <a:pPr indent="0" lvl="0" marL="0" rtl="0" algn="ctr">
              <a:spcBef>
                <a:spcPts val="0"/>
              </a:spcBef>
              <a:spcAft>
                <a:spcPts val="0"/>
              </a:spcAft>
              <a:buNone/>
            </a:pPr>
            <a:r>
              <a:rPr lang="en-US" sz="1100">
                <a:latin typeface="Lato"/>
                <a:ea typeface="Lato"/>
                <a:cs typeface="Lato"/>
                <a:sym typeface="Lato"/>
              </a:rPr>
              <a:t>Cosine Annealing</a:t>
            </a:r>
            <a:endParaRPr sz="1100">
              <a:latin typeface="Lato"/>
              <a:ea typeface="Lato"/>
              <a:cs typeface="Lato"/>
              <a:sym typeface="Lato"/>
            </a:endParaRPr>
          </a:p>
        </p:txBody>
      </p:sp>
      <p:sp>
        <p:nvSpPr>
          <p:cNvPr id="285" name="Google Shape;285;p8"/>
          <p:cNvSpPr/>
          <p:nvPr/>
        </p:nvSpPr>
        <p:spPr>
          <a:xfrm>
            <a:off x="6206900" y="3050275"/>
            <a:ext cx="1122600" cy="13155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Thresholding</a:t>
            </a:r>
            <a:endParaRPr sz="1000">
              <a:latin typeface="Lato"/>
              <a:ea typeface="Lato"/>
              <a:cs typeface="Lato"/>
              <a:sym typeface="Lato"/>
            </a:endParaRPr>
          </a:p>
          <a:p>
            <a:pPr indent="0" lvl="0" marL="0" rtl="0" algn="ctr">
              <a:spcBef>
                <a:spcPts val="0"/>
              </a:spcBef>
              <a:spcAft>
                <a:spcPts val="0"/>
              </a:spcAft>
              <a:buNone/>
            </a:pPr>
            <a:r>
              <a:rPr lang="en-US" sz="1000">
                <a:latin typeface="Lato"/>
                <a:ea typeface="Lato"/>
                <a:cs typeface="Lato"/>
                <a:sym typeface="Lato"/>
              </a:rPr>
              <a:t>TTA</a:t>
            </a:r>
            <a:endParaRPr sz="1000">
              <a:latin typeface="Lato"/>
              <a:ea typeface="Lato"/>
              <a:cs typeface="Lato"/>
              <a:sym typeface="Lato"/>
            </a:endParaRPr>
          </a:p>
          <a:p>
            <a:pPr indent="0" lvl="0" marL="0" rtl="0" algn="ctr">
              <a:spcBef>
                <a:spcPts val="0"/>
              </a:spcBef>
              <a:spcAft>
                <a:spcPts val="0"/>
              </a:spcAft>
              <a:buNone/>
            </a:pPr>
            <a:r>
              <a:rPr lang="en-US" sz="1000">
                <a:latin typeface="Lato"/>
                <a:ea typeface="Lato"/>
                <a:cs typeface="Lato"/>
                <a:sym typeface="Lato"/>
              </a:rPr>
              <a:t>Morphological</a:t>
            </a:r>
            <a:endParaRPr sz="1000">
              <a:latin typeface="Lato"/>
              <a:ea typeface="Lato"/>
              <a:cs typeface="Lato"/>
              <a:sym typeface="Lato"/>
            </a:endParaRPr>
          </a:p>
        </p:txBody>
      </p:sp>
      <p:sp>
        <p:nvSpPr>
          <p:cNvPr id="286" name="Google Shape;286;p8"/>
          <p:cNvSpPr/>
          <p:nvPr/>
        </p:nvSpPr>
        <p:spPr>
          <a:xfrm>
            <a:off x="7672925" y="3050275"/>
            <a:ext cx="1122600" cy="13155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latin typeface="Lato"/>
                <a:ea typeface="Lato"/>
                <a:cs typeface="Lato"/>
                <a:sym typeface="Lato"/>
              </a:rPr>
              <a:t>Dice Score</a:t>
            </a:r>
            <a:endParaRPr sz="1100">
              <a:latin typeface="Lato"/>
              <a:ea typeface="Lato"/>
              <a:cs typeface="Lato"/>
              <a:sym typeface="Lato"/>
            </a:endParaRPr>
          </a:p>
          <a:p>
            <a:pPr indent="0" lvl="0" marL="0" rtl="0" algn="ctr">
              <a:spcBef>
                <a:spcPts val="0"/>
              </a:spcBef>
              <a:spcAft>
                <a:spcPts val="0"/>
              </a:spcAft>
              <a:buNone/>
            </a:pPr>
            <a:r>
              <a:rPr lang="en-US" sz="1100">
                <a:latin typeface="Lato"/>
                <a:ea typeface="Lato"/>
                <a:cs typeface="Lato"/>
                <a:sym typeface="Lato"/>
              </a:rPr>
              <a:t>+ IoU</a:t>
            </a:r>
            <a:endParaRPr sz="1100">
              <a:latin typeface="Lato"/>
              <a:ea typeface="Lato"/>
              <a:cs typeface="Lato"/>
              <a:sym typeface="Lato"/>
            </a:endParaRPr>
          </a:p>
          <a:p>
            <a:pPr indent="0" lvl="0" marL="0" rtl="0" algn="ctr">
              <a:spcBef>
                <a:spcPts val="0"/>
              </a:spcBef>
              <a:spcAft>
                <a:spcPts val="0"/>
              </a:spcAft>
              <a:buNone/>
            </a:pPr>
            <a:r>
              <a:rPr lang="en-US" sz="1100">
                <a:latin typeface="Lato"/>
                <a:ea typeface="Lato"/>
                <a:cs typeface="Lato"/>
                <a:sym typeface="Lato"/>
              </a:rPr>
              <a:t>(Positive cases)</a:t>
            </a:r>
            <a:endParaRPr sz="1100">
              <a:latin typeface="Lato"/>
              <a:ea typeface="Lato"/>
              <a:cs typeface="Lato"/>
              <a:sym typeface="Lato"/>
            </a:endParaRPr>
          </a:p>
        </p:txBody>
      </p:sp>
      <p:sp>
        <p:nvSpPr>
          <p:cNvPr id="287" name="Google Shape;287;p8"/>
          <p:cNvSpPr/>
          <p:nvPr/>
        </p:nvSpPr>
        <p:spPr>
          <a:xfrm>
            <a:off x="1808825"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chemeClr val="lt1"/>
                </a:solidFill>
                <a:latin typeface="Lato"/>
                <a:ea typeface="Lato"/>
                <a:cs typeface="Lato"/>
                <a:sym typeface="Lato"/>
              </a:rPr>
              <a:t>Preprocessing</a:t>
            </a:r>
            <a:endParaRPr b="1" sz="1100">
              <a:solidFill>
                <a:schemeClr val="lt1"/>
              </a:solidFill>
              <a:latin typeface="Lato"/>
              <a:ea typeface="Lato"/>
              <a:cs typeface="Lato"/>
              <a:sym typeface="Lato"/>
            </a:endParaRPr>
          </a:p>
        </p:txBody>
      </p:sp>
      <p:sp>
        <p:nvSpPr>
          <p:cNvPr id="288" name="Google Shape;288;p8"/>
          <p:cNvSpPr/>
          <p:nvPr/>
        </p:nvSpPr>
        <p:spPr>
          <a:xfrm>
            <a:off x="3274850"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lt1"/>
                </a:solidFill>
                <a:latin typeface="Lato"/>
                <a:ea typeface="Lato"/>
                <a:cs typeface="Lato"/>
                <a:sym typeface="Lato"/>
              </a:rPr>
              <a:t>Model</a:t>
            </a:r>
            <a:endParaRPr b="1" sz="1200">
              <a:solidFill>
                <a:schemeClr val="lt1"/>
              </a:solidFill>
              <a:latin typeface="Lato"/>
              <a:ea typeface="Lato"/>
              <a:cs typeface="Lato"/>
              <a:sym typeface="Lato"/>
            </a:endParaRPr>
          </a:p>
        </p:txBody>
      </p:sp>
      <p:sp>
        <p:nvSpPr>
          <p:cNvPr id="289" name="Google Shape;289;p8"/>
          <p:cNvSpPr/>
          <p:nvPr/>
        </p:nvSpPr>
        <p:spPr>
          <a:xfrm>
            <a:off x="4740875"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lt1"/>
                </a:solidFill>
                <a:latin typeface="Lato"/>
                <a:ea typeface="Lato"/>
                <a:cs typeface="Lato"/>
                <a:sym typeface="Lato"/>
              </a:rPr>
              <a:t>Training</a:t>
            </a:r>
            <a:endParaRPr b="1" sz="1200">
              <a:solidFill>
                <a:schemeClr val="lt1"/>
              </a:solidFill>
              <a:latin typeface="Lato"/>
              <a:ea typeface="Lato"/>
              <a:cs typeface="Lato"/>
              <a:sym typeface="Lato"/>
            </a:endParaRPr>
          </a:p>
        </p:txBody>
      </p:sp>
      <p:sp>
        <p:nvSpPr>
          <p:cNvPr id="290" name="Google Shape;290;p8"/>
          <p:cNvSpPr/>
          <p:nvPr/>
        </p:nvSpPr>
        <p:spPr>
          <a:xfrm>
            <a:off x="6206900"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lt1"/>
                </a:solidFill>
                <a:latin typeface="Lato"/>
                <a:ea typeface="Lato"/>
                <a:cs typeface="Lato"/>
                <a:sym typeface="Lato"/>
              </a:rPr>
              <a:t>Post-Process</a:t>
            </a:r>
            <a:endParaRPr b="1" sz="1200">
              <a:solidFill>
                <a:schemeClr val="lt1"/>
              </a:solidFill>
              <a:latin typeface="Lato"/>
              <a:ea typeface="Lato"/>
              <a:cs typeface="Lato"/>
              <a:sym typeface="Lato"/>
            </a:endParaRPr>
          </a:p>
        </p:txBody>
      </p:sp>
      <p:sp>
        <p:nvSpPr>
          <p:cNvPr id="291" name="Google Shape;291;p8"/>
          <p:cNvSpPr/>
          <p:nvPr/>
        </p:nvSpPr>
        <p:spPr>
          <a:xfrm>
            <a:off x="7672925" y="2588900"/>
            <a:ext cx="1122600" cy="3402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lt1"/>
                </a:solidFill>
                <a:latin typeface="Lato"/>
                <a:ea typeface="Lato"/>
                <a:cs typeface="Lato"/>
                <a:sym typeface="Lato"/>
              </a:rPr>
              <a:t>Evaluation</a:t>
            </a:r>
            <a:endParaRPr b="1" sz="1200">
              <a:solidFill>
                <a:schemeClr val="lt1"/>
              </a:solidFill>
              <a:latin typeface="Lato"/>
              <a:ea typeface="Lato"/>
              <a:cs typeface="Lato"/>
              <a:sym typeface="Lato"/>
            </a:endParaRPr>
          </a:p>
        </p:txBody>
      </p:sp>
      <p:pic>
        <p:nvPicPr>
          <p:cNvPr id="292" name="Google Shape;292;p8" title="x-ray.png"/>
          <p:cNvPicPr preferRelativeResize="0"/>
          <p:nvPr/>
        </p:nvPicPr>
        <p:blipFill>
          <a:blip r:embed="rId3">
            <a:alphaModFix/>
          </a:blip>
          <a:stretch>
            <a:fillRect/>
          </a:stretch>
        </p:blipFill>
        <p:spPr>
          <a:xfrm>
            <a:off x="479050" y="1764075"/>
            <a:ext cx="824826" cy="824826"/>
          </a:xfrm>
          <a:prstGeom prst="rect">
            <a:avLst/>
          </a:prstGeom>
          <a:noFill/>
          <a:ln>
            <a:noFill/>
          </a:ln>
        </p:spPr>
      </p:pic>
      <p:pic>
        <p:nvPicPr>
          <p:cNvPr id="293" name="Google Shape;293;p8" title="histogram.png"/>
          <p:cNvPicPr preferRelativeResize="0"/>
          <p:nvPr/>
        </p:nvPicPr>
        <p:blipFill>
          <a:blip r:embed="rId4">
            <a:alphaModFix/>
          </a:blip>
          <a:stretch>
            <a:fillRect/>
          </a:stretch>
        </p:blipFill>
        <p:spPr>
          <a:xfrm>
            <a:off x="2060163" y="1847800"/>
            <a:ext cx="619924" cy="619924"/>
          </a:xfrm>
          <a:prstGeom prst="rect">
            <a:avLst/>
          </a:prstGeom>
          <a:noFill/>
          <a:ln>
            <a:noFill/>
          </a:ln>
        </p:spPr>
      </p:pic>
      <p:pic>
        <p:nvPicPr>
          <p:cNvPr id="294" name="Google Shape;294;p8" title="Gemini_Generated_Image_frm4nkfrm4nkfrm4-removebg-preview.png"/>
          <p:cNvPicPr preferRelativeResize="0"/>
          <p:nvPr/>
        </p:nvPicPr>
        <p:blipFill>
          <a:blip r:embed="rId5">
            <a:alphaModFix/>
          </a:blip>
          <a:stretch>
            <a:fillRect/>
          </a:stretch>
        </p:blipFill>
        <p:spPr>
          <a:xfrm>
            <a:off x="3433300" y="1773625"/>
            <a:ext cx="805725" cy="805725"/>
          </a:xfrm>
          <a:prstGeom prst="rect">
            <a:avLst/>
          </a:prstGeom>
          <a:noFill/>
          <a:ln>
            <a:noFill/>
          </a:ln>
        </p:spPr>
      </p:pic>
      <p:pic>
        <p:nvPicPr>
          <p:cNvPr id="295" name="Google Shape;295;p8" title="circle.png"/>
          <p:cNvPicPr preferRelativeResize="0"/>
          <p:nvPr/>
        </p:nvPicPr>
        <p:blipFill>
          <a:blip r:embed="rId6">
            <a:alphaModFix/>
          </a:blip>
          <a:stretch>
            <a:fillRect/>
          </a:stretch>
        </p:blipFill>
        <p:spPr>
          <a:xfrm>
            <a:off x="5034575" y="1915404"/>
            <a:ext cx="535200" cy="535244"/>
          </a:xfrm>
          <a:prstGeom prst="rect">
            <a:avLst/>
          </a:prstGeom>
          <a:noFill/>
          <a:ln>
            <a:noFill/>
          </a:ln>
        </p:spPr>
      </p:pic>
      <p:pic>
        <p:nvPicPr>
          <p:cNvPr id="296" name="Google Shape;296;p8" title="graph.png"/>
          <p:cNvPicPr preferRelativeResize="0"/>
          <p:nvPr/>
        </p:nvPicPr>
        <p:blipFill>
          <a:blip r:embed="rId7">
            <a:alphaModFix/>
          </a:blip>
          <a:stretch>
            <a:fillRect/>
          </a:stretch>
        </p:blipFill>
        <p:spPr>
          <a:xfrm>
            <a:off x="6458250" y="1881425"/>
            <a:ext cx="619900" cy="619900"/>
          </a:xfrm>
          <a:prstGeom prst="rect">
            <a:avLst/>
          </a:prstGeom>
          <a:noFill/>
          <a:ln>
            <a:noFill/>
          </a:ln>
        </p:spPr>
      </p:pic>
      <p:pic>
        <p:nvPicPr>
          <p:cNvPr id="297" name="Google Shape;297;p8" title="statistics.png"/>
          <p:cNvPicPr preferRelativeResize="0"/>
          <p:nvPr/>
        </p:nvPicPr>
        <p:blipFill>
          <a:blip r:embed="rId8">
            <a:alphaModFix/>
          </a:blip>
          <a:stretch>
            <a:fillRect/>
          </a:stretch>
        </p:blipFill>
        <p:spPr>
          <a:xfrm>
            <a:off x="7966625" y="1923775"/>
            <a:ext cx="535200" cy="535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eee170d97a_0_6"/>
          <p:cNvSpPr/>
          <p:nvPr/>
        </p:nvSpPr>
        <p:spPr>
          <a:xfrm>
            <a:off x="450475" y="1062625"/>
            <a:ext cx="4428000" cy="3373200"/>
          </a:xfrm>
          <a:prstGeom prst="roundRect">
            <a:avLst>
              <a:gd fmla="val 16667" name="adj"/>
            </a:avLst>
          </a:prstGeom>
          <a:solidFill>
            <a:srgbClr val="E9ED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03" name="Google Shape;303;g3eee170d97a_0_6"/>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SIIM-ACR Pneumothorax Segmentation Dataset</a:t>
            </a:r>
            <a:endParaRPr/>
          </a:p>
          <a:p>
            <a:pPr indent="0" lvl="0" marL="0" rtl="0" algn="l">
              <a:lnSpc>
                <a:spcPct val="100000"/>
              </a:lnSpc>
              <a:spcBef>
                <a:spcPts val="0"/>
              </a:spcBef>
              <a:spcAft>
                <a:spcPts val="0"/>
              </a:spcAft>
              <a:buSzPts val="2600"/>
              <a:buNone/>
            </a:pPr>
            <a:r>
              <a:t/>
            </a:r>
            <a:endParaRPr/>
          </a:p>
        </p:txBody>
      </p:sp>
      <p:sp>
        <p:nvSpPr>
          <p:cNvPr id="304" name="Google Shape;304;g3eee170d97a_0_6"/>
          <p:cNvSpPr/>
          <p:nvPr/>
        </p:nvSpPr>
        <p:spPr>
          <a:xfrm>
            <a:off x="742775" y="1244137"/>
            <a:ext cx="1839600" cy="1311600"/>
          </a:xfrm>
          <a:prstGeom prst="roundRect">
            <a:avLst>
              <a:gd fmla="val 16667" name="adj"/>
            </a:avLst>
          </a:prstGeom>
          <a:solidFill>
            <a:schemeClr val="lt1"/>
          </a:solidFill>
          <a:ln cap="flat" cmpd="sng" w="8500">
            <a:solidFill>
              <a:schemeClr val="dk2"/>
            </a:solidFill>
            <a:prstDash val="solid"/>
            <a:round/>
            <a:headEnd len="sm" w="sm" type="none"/>
            <a:tailEnd len="sm" w="sm" type="none"/>
          </a:ln>
        </p:spPr>
        <p:txBody>
          <a:bodyPr anchorCtr="0" anchor="ctr" bIns="81575" lIns="81575" spcFirstLastPara="1" rIns="81575" wrap="square" tIns="81575">
            <a:noAutofit/>
          </a:bodyPr>
          <a:lstStyle/>
          <a:p>
            <a:pPr indent="0" lvl="0" marL="0" rtl="0" algn="ctr">
              <a:spcBef>
                <a:spcPts val="0"/>
              </a:spcBef>
              <a:spcAft>
                <a:spcPts val="0"/>
              </a:spcAft>
              <a:buNone/>
            </a:pPr>
            <a:r>
              <a:rPr b="1" lang="en-US" sz="2320">
                <a:solidFill>
                  <a:schemeClr val="lt1"/>
                </a:solidFill>
                <a:highlight>
                  <a:schemeClr val="accent5"/>
                </a:highlight>
                <a:latin typeface="Lato"/>
                <a:ea typeface="Lato"/>
                <a:cs typeface="Lato"/>
                <a:sym typeface="Lato"/>
              </a:rPr>
              <a:t>12,047</a:t>
            </a:r>
            <a:endParaRPr b="1" sz="2320">
              <a:solidFill>
                <a:schemeClr val="lt1"/>
              </a:solidFill>
              <a:highlight>
                <a:schemeClr val="accent5"/>
              </a:highlight>
              <a:latin typeface="Lato"/>
              <a:ea typeface="Lato"/>
              <a:cs typeface="Lato"/>
              <a:sym typeface="Lato"/>
            </a:endParaRPr>
          </a:p>
          <a:p>
            <a:pPr indent="0" lvl="0" marL="0" rtl="0" algn="ctr">
              <a:spcBef>
                <a:spcPts val="0"/>
              </a:spcBef>
              <a:spcAft>
                <a:spcPts val="0"/>
              </a:spcAft>
              <a:buNone/>
            </a:pPr>
            <a:r>
              <a:t/>
            </a:r>
            <a:endParaRPr sz="1249">
              <a:latin typeface="Lato"/>
              <a:ea typeface="Lato"/>
              <a:cs typeface="Lato"/>
              <a:sym typeface="Lato"/>
            </a:endParaRPr>
          </a:p>
          <a:p>
            <a:pPr indent="0" lvl="0" marL="0" rtl="0" algn="ctr">
              <a:spcBef>
                <a:spcPts val="0"/>
              </a:spcBef>
              <a:spcAft>
                <a:spcPts val="0"/>
              </a:spcAft>
              <a:buNone/>
            </a:pPr>
            <a:r>
              <a:rPr lang="en-US" sz="1249">
                <a:latin typeface="Lato"/>
                <a:ea typeface="Lato"/>
                <a:cs typeface="Lato"/>
                <a:sym typeface="Lato"/>
              </a:rPr>
              <a:t>Training images (DICOM)</a:t>
            </a:r>
            <a:endParaRPr sz="1249">
              <a:latin typeface="Lato"/>
              <a:ea typeface="Lato"/>
              <a:cs typeface="Lato"/>
              <a:sym typeface="Lato"/>
            </a:endParaRPr>
          </a:p>
        </p:txBody>
      </p:sp>
      <p:sp>
        <p:nvSpPr>
          <p:cNvPr id="305" name="Google Shape;305;g3eee170d97a_0_6"/>
          <p:cNvSpPr/>
          <p:nvPr/>
        </p:nvSpPr>
        <p:spPr>
          <a:xfrm>
            <a:off x="5019150" y="1062625"/>
            <a:ext cx="3843300" cy="3373200"/>
          </a:xfrm>
          <a:prstGeom prst="roundRect">
            <a:avLst>
              <a:gd fmla="val 16667" name="adj"/>
            </a:avLst>
          </a:prstGeom>
          <a:solidFill>
            <a:srgbClr val="3264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06" name="Google Shape;306;g3eee170d97a_0_6"/>
          <p:cNvSpPr/>
          <p:nvPr/>
        </p:nvSpPr>
        <p:spPr>
          <a:xfrm>
            <a:off x="2746564" y="1244137"/>
            <a:ext cx="1839600" cy="1311600"/>
          </a:xfrm>
          <a:prstGeom prst="roundRect">
            <a:avLst>
              <a:gd fmla="val 16667" name="adj"/>
            </a:avLst>
          </a:prstGeom>
          <a:solidFill>
            <a:schemeClr val="lt1"/>
          </a:solidFill>
          <a:ln cap="flat" cmpd="sng" w="8500">
            <a:solidFill>
              <a:schemeClr val="dk2"/>
            </a:solidFill>
            <a:prstDash val="solid"/>
            <a:round/>
            <a:headEnd len="sm" w="sm" type="none"/>
            <a:tailEnd len="sm" w="sm" type="none"/>
          </a:ln>
        </p:spPr>
        <p:txBody>
          <a:bodyPr anchorCtr="0" anchor="ctr" bIns="81575" lIns="81575" spcFirstLastPara="1" rIns="81575" wrap="square" tIns="81575">
            <a:noAutofit/>
          </a:bodyPr>
          <a:lstStyle/>
          <a:p>
            <a:pPr indent="0" lvl="0" marL="0" rtl="0" algn="ctr">
              <a:spcBef>
                <a:spcPts val="0"/>
              </a:spcBef>
              <a:spcAft>
                <a:spcPts val="0"/>
              </a:spcAft>
              <a:buNone/>
            </a:pPr>
            <a:r>
              <a:rPr b="1" lang="en-US" sz="2320">
                <a:solidFill>
                  <a:schemeClr val="lt1"/>
                </a:solidFill>
                <a:highlight>
                  <a:schemeClr val="accent5"/>
                </a:highlight>
                <a:latin typeface="Lato"/>
                <a:ea typeface="Lato"/>
                <a:cs typeface="Lato"/>
                <a:sym typeface="Lato"/>
              </a:rPr>
              <a:t>3,205</a:t>
            </a:r>
            <a:endParaRPr b="1" sz="2320">
              <a:solidFill>
                <a:schemeClr val="lt1"/>
              </a:solidFill>
              <a:highlight>
                <a:schemeClr val="accent5"/>
              </a:highlight>
              <a:latin typeface="Lato"/>
              <a:ea typeface="Lato"/>
              <a:cs typeface="Lato"/>
              <a:sym typeface="Lato"/>
            </a:endParaRPr>
          </a:p>
          <a:p>
            <a:pPr indent="0" lvl="0" marL="0" rtl="0" algn="ctr">
              <a:spcBef>
                <a:spcPts val="0"/>
              </a:spcBef>
              <a:spcAft>
                <a:spcPts val="0"/>
              </a:spcAft>
              <a:buNone/>
            </a:pPr>
            <a:r>
              <a:t/>
            </a:r>
            <a:endParaRPr sz="1249">
              <a:latin typeface="Lato"/>
              <a:ea typeface="Lato"/>
              <a:cs typeface="Lato"/>
              <a:sym typeface="Lato"/>
            </a:endParaRPr>
          </a:p>
          <a:p>
            <a:pPr indent="0" lvl="0" marL="0" rtl="0" algn="ctr">
              <a:spcBef>
                <a:spcPts val="0"/>
              </a:spcBef>
              <a:spcAft>
                <a:spcPts val="0"/>
              </a:spcAft>
              <a:buNone/>
            </a:pPr>
            <a:r>
              <a:rPr lang="en-US" sz="1249">
                <a:latin typeface="Lato"/>
                <a:ea typeface="Lato"/>
                <a:cs typeface="Lato"/>
                <a:sym typeface="Lato"/>
              </a:rPr>
              <a:t>Test Images</a:t>
            </a:r>
            <a:endParaRPr sz="1249">
              <a:latin typeface="Lato"/>
              <a:ea typeface="Lato"/>
              <a:cs typeface="Lato"/>
              <a:sym typeface="Lato"/>
            </a:endParaRPr>
          </a:p>
          <a:p>
            <a:pPr indent="0" lvl="0" marL="0" rtl="0" algn="ctr">
              <a:spcBef>
                <a:spcPts val="0"/>
              </a:spcBef>
              <a:spcAft>
                <a:spcPts val="0"/>
              </a:spcAft>
              <a:buNone/>
            </a:pPr>
            <a:r>
              <a:t/>
            </a:r>
            <a:endParaRPr sz="1249">
              <a:latin typeface="Lato"/>
              <a:ea typeface="Lato"/>
              <a:cs typeface="Lato"/>
              <a:sym typeface="Lato"/>
            </a:endParaRPr>
          </a:p>
        </p:txBody>
      </p:sp>
      <p:sp>
        <p:nvSpPr>
          <p:cNvPr id="307" name="Google Shape;307;g3eee170d97a_0_6"/>
          <p:cNvSpPr/>
          <p:nvPr/>
        </p:nvSpPr>
        <p:spPr>
          <a:xfrm>
            <a:off x="742775" y="2942702"/>
            <a:ext cx="1839600" cy="1311600"/>
          </a:xfrm>
          <a:prstGeom prst="roundRect">
            <a:avLst>
              <a:gd fmla="val 16667" name="adj"/>
            </a:avLst>
          </a:prstGeom>
          <a:solidFill>
            <a:schemeClr val="lt1"/>
          </a:solidFill>
          <a:ln cap="flat" cmpd="sng" w="8500">
            <a:solidFill>
              <a:schemeClr val="dk2"/>
            </a:solidFill>
            <a:prstDash val="solid"/>
            <a:round/>
            <a:headEnd len="sm" w="sm" type="none"/>
            <a:tailEnd len="sm" w="sm" type="none"/>
          </a:ln>
        </p:spPr>
        <p:txBody>
          <a:bodyPr anchorCtr="0" anchor="ctr" bIns="81575" lIns="81575" spcFirstLastPara="1" rIns="81575" wrap="square" tIns="81575">
            <a:noAutofit/>
          </a:bodyPr>
          <a:lstStyle/>
          <a:p>
            <a:pPr indent="0" lvl="0" marL="0" rtl="0" algn="ctr">
              <a:spcBef>
                <a:spcPts val="0"/>
              </a:spcBef>
              <a:spcAft>
                <a:spcPts val="0"/>
              </a:spcAft>
              <a:buNone/>
            </a:pPr>
            <a:r>
              <a:rPr b="1" lang="en-US" sz="2320">
                <a:solidFill>
                  <a:schemeClr val="lt1"/>
                </a:solidFill>
                <a:highlight>
                  <a:srgbClr val="CC0000"/>
                </a:highlight>
                <a:latin typeface="Lato"/>
                <a:ea typeface="Lato"/>
                <a:cs typeface="Lato"/>
                <a:sym typeface="Lato"/>
              </a:rPr>
              <a:t>22%</a:t>
            </a:r>
            <a:endParaRPr b="1" sz="2320">
              <a:solidFill>
                <a:schemeClr val="lt1"/>
              </a:solidFill>
              <a:highlight>
                <a:srgbClr val="CC0000"/>
              </a:highlight>
              <a:latin typeface="Lato"/>
              <a:ea typeface="Lato"/>
              <a:cs typeface="Lato"/>
              <a:sym typeface="Lato"/>
            </a:endParaRPr>
          </a:p>
          <a:p>
            <a:pPr indent="0" lvl="0" marL="0" rtl="0" algn="l">
              <a:spcBef>
                <a:spcPts val="0"/>
              </a:spcBef>
              <a:spcAft>
                <a:spcPts val="0"/>
              </a:spcAft>
              <a:buNone/>
            </a:pPr>
            <a:r>
              <a:t/>
            </a:r>
            <a:endParaRPr b="1" sz="1249">
              <a:solidFill>
                <a:schemeClr val="lt1"/>
              </a:solidFill>
              <a:highlight>
                <a:srgbClr val="CC0000"/>
              </a:highlight>
              <a:latin typeface="Lato"/>
              <a:ea typeface="Lato"/>
              <a:cs typeface="Lato"/>
              <a:sym typeface="Lato"/>
            </a:endParaRPr>
          </a:p>
          <a:p>
            <a:pPr indent="0" lvl="0" marL="0" rtl="0" algn="ctr">
              <a:spcBef>
                <a:spcPts val="0"/>
              </a:spcBef>
              <a:spcAft>
                <a:spcPts val="0"/>
              </a:spcAft>
              <a:buNone/>
            </a:pPr>
            <a:r>
              <a:rPr lang="en-US" sz="1249">
                <a:latin typeface="Lato"/>
                <a:ea typeface="Lato"/>
                <a:cs typeface="Lato"/>
                <a:sym typeface="Lato"/>
              </a:rPr>
              <a:t>Positive (pneumothorax) cases</a:t>
            </a:r>
            <a:endParaRPr sz="1249">
              <a:latin typeface="Lato"/>
              <a:ea typeface="Lato"/>
              <a:cs typeface="Lato"/>
              <a:sym typeface="Lato"/>
            </a:endParaRPr>
          </a:p>
        </p:txBody>
      </p:sp>
      <p:sp>
        <p:nvSpPr>
          <p:cNvPr id="308" name="Google Shape;308;g3eee170d97a_0_6"/>
          <p:cNvSpPr/>
          <p:nvPr/>
        </p:nvSpPr>
        <p:spPr>
          <a:xfrm>
            <a:off x="2746564" y="2942702"/>
            <a:ext cx="1839600" cy="1311600"/>
          </a:xfrm>
          <a:prstGeom prst="roundRect">
            <a:avLst>
              <a:gd fmla="val 16667" name="adj"/>
            </a:avLst>
          </a:prstGeom>
          <a:solidFill>
            <a:schemeClr val="lt1"/>
          </a:solidFill>
          <a:ln cap="flat" cmpd="sng" w="8500">
            <a:solidFill>
              <a:schemeClr val="dk2"/>
            </a:solidFill>
            <a:prstDash val="solid"/>
            <a:round/>
            <a:headEnd len="sm" w="sm" type="none"/>
            <a:tailEnd len="sm" w="sm" type="none"/>
          </a:ln>
        </p:spPr>
        <p:txBody>
          <a:bodyPr anchorCtr="0" anchor="ctr" bIns="81575" lIns="81575" spcFirstLastPara="1" rIns="81575" wrap="square" tIns="81575">
            <a:noAutofit/>
          </a:bodyPr>
          <a:lstStyle/>
          <a:p>
            <a:pPr indent="0" lvl="0" marL="0" rtl="0" algn="ctr">
              <a:spcBef>
                <a:spcPts val="0"/>
              </a:spcBef>
              <a:spcAft>
                <a:spcPts val="0"/>
              </a:spcAft>
              <a:buNone/>
            </a:pPr>
            <a:r>
              <a:rPr b="1" lang="en-US" sz="2320">
                <a:solidFill>
                  <a:schemeClr val="lt1"/>
                </a:solidFill>
                <a:highlight>
                  <a:srgbClr val="CC0000"/>
                </a:highlight>
                <a:latin typeface="Lato"/>
                <a:ea typeface="Lato"/>
                <a:cs typeface="Lato"/>
                <a:sym typeface="Lato"/>
              </a:rPr>
              <a:t>1:50+</a:t>
            </a:r>
            <a:endParaRPr b="1" sz="2320">
              <a:solidFill>
                <a:schemeClr val="lt1"/>
              </a:solidFill>
              <a:highlight>
                <a:srgbClr val="CC0000"/>
              </a:highlight>
              <a:latin typeface="Lato"/>
              <a:ea typeface="Lato"/>
              <a:cs typeface="Lato"/>
              <a:sym typeface="Lato"/>
            </a:endParaRPr>
          </a:p>
          <a:p>
            <a:pPr indent="0" lvl="0" marL="0" rtl="0" algn="l">
              <a:spcBef>
                <a:spcPts val="0"/>
              </a:spcBef>
              <a:spcAft>
                <a:spcPts val="0"/>
              </a:spcAft>
              <a:buNone/>
            </a:pPr>
            <a:r>
              <a:t/>
            </a:r>
            <a:endParaRPr b="1" sz="1249">
              <a:solidFill>
                <a:schemeClr val="lt1"/>
              </a:solidFill>
              <a:highlight>
                <a:srgbClr val="CC0000"/>
              </a:highlight>
              <a:latin typeface="Lato"/>
              <a:ea typeface="Lato"/>
              <a:cs typeface="Lato"/>
              <a:sym typeface="Lato"/>
            </a:endParaRPr>
          </a:p>
          <a:p>
            <a:pPr indent="0" lvl="0" marL="0" rtl="0" algn="ctr">
              <a:spcBef>
                <a:spcPts val="0"/>
              </a:spcBef>
              <a:spcAft>
                <a:spcPts val="0"/>
              </a:spcAft>
              <a:buNone/>
            </a:pPr>
            <a:r>
              <a:rPr lang="en-US" sz="1249">
                <a:latin typeface="Lato"/>
                <a:ea typeface="Lato"/>
                <a:cs typeface="Lato"/>
                <a:sym typeface="Lato"/>
              </a:rPr>
              <a:t>Foreground : background pixel ratio</a:t>
            </a:r>
            <a:endParaRPr sz="1249">
              <a:latin typeface="Lato"/>
              <a:ea typeface="Lato"/>
              <a:cs typeface="Lato"/>
              <a:sym typeface="Lato"/>
            </a:endParaRPr>
          </a:p>
        </p:txBody>
      </p:sp>
      <p:sp>
        <p:nvSpPr>
          <p:cNvPr id="309" name="Google Shape;309;g3eee170d97a_0_6"/>
          <p:cNvSpPr txBox="1"/>
          <p:nvPr/>
        </p:nvSpPr>
        <p:spPr>
          <a:xfrm>
            <a:off x="5257350" y="1225850"/>
            <a:ext cx="31605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Lato Black"/>
                <a:ea typeface="Lato Black"/>
                <a:cs typeface="Lato Black"/>
                <a:sym typeface="Lato Black"/>
              </a:rPr>
              <a:t>Why this dataset?</a:t>
            </a:r>
            <a:endParaRPr sz="1800">
              <a:solidFill>
                <a:schemeClr val="lt1"/>
              </a:solidFill>
              <a:latin typeface="Lato Black"/>
              <a:ea typeface="Lato Black"/>
              <a:cs typeface="Lato Black"/>
              <a:sym typeface="Lato Black"/>
            </a:endParaRPr>
          </a:p>
        </p:txBody>
      </p:sp>
      <p:sp>
        <p:nvSpPr>
          <p:cNvPr id="310" name="Google Shape;310;g3eee170d97a_0_6"/>
          <p:cNvSpPr txBox="1"/>
          <p:nvPr/>
        </p:nvSpPr>
        <p:spPr>
          <a:xfrm>
            <a:off x="5450217" y="1605050"/>
            <a:ext cx="31605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latin typeface="Lato"/>
                <a:ea typeface="Lato"/>
                <a:cs typeface="Lato"/>
                <a:sym typeface="Lato"/>
              </a:rPr>
              <a:t>Industry-standard benchmark (Kaggle 2019 SIIM-ACR challenge)</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200">
              <a:solidFill>
                <a:schemeClr val="lt1"/>
              </a:solidFill>
              <a:latin typeface="Lato"/>
              <a:ea typeface="Lato"/>
              <a:cs typeface="Lato"/>
              <a:sym typeface="Lato"/>
            </a:endParaRPr>
          </a:p>
        </p:txBody>
      </p:sp>
      <p:sp>
        <p:nvSpPr>
          <p:cNvPr id="311" name="Google Shape;311;g3eee170d97a_0_6"/>
          <p:cNvSpPr txBox="1"/>
          <p:nvPr/>
        </p:nvSpPr>
        <p:spPr>
          <a:xfrm>
            <a:off x="5450217" y="2149225"/>
            <a:ext cx="31605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latin typeface="Lato"/>
                <a:ea typeface="Lato"/>
                <a:cs typeface="Lato"/>
                <a:sym typeface="Lato"/>
              </a:rPr>
              <a:t>Verified pixel-level expert annotations (no ambiguous masks)</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200">
              <a:solidFill>
                <a:schemeClr val="lt1"/>
              </a:solidFill>
              <a:latin typeface="Lato"/>
              <a:ea typeface="Lato"/>
              <a:cs typeface="Lato"/>
              <a:sym typeface="Lato"/>
            </a:endParaRPr>
          </a:p>
        </p:txBody>
      </p:sp>
      <p:sp>
        <p:nvSpPr>
          <p:cNvPr id="312" name="Google Shape;312;g3eee170d97a_0_6"/>
          <p:cNvSpPr txBox="1"/>
          <p:nvPr/>
        </p:nvSpPr>
        <p:spPr>
          <a:xfrm>
            <a:off x="5450217" y="2693400"/>
            <a:ext cx="31605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latin typeface="Lato"/>
                <a:ea typeface="Lato"/>
                <a:cs typeface="Lato"/>
                <a:sym typeface="Lato"/>
              </a:rPr>
              <a:t>Resolves hidden stratification issues better than classification datasets</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200">
              <a:solidFill>
                <a:schemeClr val="lt1"/>
              </a:solidFill>
              <a:latin typeface="Lato"/>
              <a:ea typeface="Lato"/>
              <a:cs typeface="Lato"/>
              <a:sym typeface="Lato"/>
            </a:endParaRPr>
          </a:p>
        </p:txBody>
      </p:sp>
      <p:sp>
        <p:nvSpPr>
          <p:cNvPr id="313" name="Google Shape;313;g3eee170d97a_0_6"/>
          <p:cNvSpPr txBox="1"/>
          <p:nvPr/>
        </p:nvSpPr>
        <p:spPr>
          <a:xfrm>
            <a:off x="5450217" y="3237575"/>
            <a:ext cx="31605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latin typeface="Lato"/>
                <a:ea typeface="Lato"/>
                <a:cs typeface="Lato"/>
                <a:sym typeface="Lato"/>
              </a:rPr>
              <a:t>Used by both key references: Lin et al. (2025) and Mann et al. (2025)</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200">
              <a:solidFill>
                <a:schemeClr val="lt1"/>
              </a:solidFill>
              <a:latin typeface="Lato"/>
              <a:ea typeface="Lato"/>
              <a:cs typeface="Lato"/>
              <a:sym typeface="Lato"/>
            </a:endParaRPr>
          </a:p>
        </p:txBody>
      </p:sp>
      <p:sp>
        <p:nvSpPr>
          <p:cNvPr id="314" name="Google Shape;314;g3eee170d97a_0_6"/>
          <p:cNvSpPr txBox="1"/>
          <p:nvPr/>
        </p:nvSpPr>
        <p:spPr>
          <a:xfrm>
            <a:off x="5450217" y="3781750"/>
            <a:ext cx="31605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lt1"/>
                </a:solidFill>
                <a:latin typeface="Lato"/>
                <a:ea typeface="Lato"/>
                <a:cs typeface="Lato"/>
                <a:sym typeface="Lato"/>
              </a:rPr>
              <a:t>Publicly available, fully reproducible results</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200">
              <a:solidFill>
                <a:schemeClr val="lt1"/>
              </a:solidFill>
              <a:latin typeface="Lato"/>
              <a:ea typeface="Lato"/>
              <a:cs typeface="Lato"/>
              <a:sym typeface="Lato"/>
            </a:endParaRPr>
          </a:p>
          <a:p>
            <a:pPr indent="0" lvl="0" marL="0" rtl="0" algn="l">
              <a:spcBef>
                <a:spcPts val="0"/>
              </a:spcBef>
              <a:spcAft>
                <a:spcPts val="0"/>
              </a:spcAft>
              <a:buNone/>
            </a:pPr>
            <a:r>
              <a:t/>
            </a:r>
            <a:endParaRPr sz="1200">
              <a:solidFill>
                <a:schemeClr val="lt1"/>
              </a:solidFill>
              <a:latin typeface="Lato"/>
              <a:ea typeface="Lato"/>
              <a:cs typeface="Lato"/>
              <a:sym typeface="Lato"/>
            </a:endParaRPr>
          </a:p>
        </p:txBody>
      </p:sp>
      <p:sp>
        <p:nvSpPr>
          <p:cNvPr id="315" name="Google Shape;315;g3eee170d97a_0_6"/>
          <p:cNvSpPr/>
          <p:nvPr/>
        </p:nvSpPr>
        <p:spPr>
          <a:xfrm>
            <a:off x="5306915" y="1780765"/>
            <a:ext cx="143400" cy="143400"/>
          </a:xfrm>
          <a:prstGeom prst="ellipse">
            <a:avLst/>
          </a:prstGeom>
          <a:solidFill>
            <a:srgbClr val="6BB1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16" name="Google Shape;316;g3eee170d97a_0_6"/>
          <p:cNvSpPr/>
          <p:nvPr/>
        </p:nvSpPr>
        <p:spPr>
          <a:xfrm>
            <a:off x="5306915" y="2339586"/>
            <a:ext cx="143400" cy="143400"/>
          </a:xfrm>
          <a:prstGeom prst="ellipse">
            <a:avLst/>
          </a:prstGeom>
          <a:solidFill>
            <a:srgbClr val="6BB1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17" name="Google Shape;317;g3eee170d97a_0_6"/>
          <p:cNvSpPr/>
          <p:nvPr/>
        </p:nvSpPr>
        <p:spPr>
          <a:xfrm>
            <a:off x="5306915" y="2883538"/>
            <a:ext cx="143400" cy="143400"/>
          </a:xfrm>
          <a:prstGeom prst="ellipse">
            <a:avLst/>
          </a:prstGeom>
          <a:solidFill>
            <a:srgbClr val="6BB1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18" name="Google Shape;318;g3eee170d97a_0_6"/>
          <p:cNvSpPr/>
          <p:nvPr/>
        </p:nvSpPr>
        <p:spPr>
          <a:xfrm>
            <a:off x="5306915" y="3414413"/>
            <a:ext cx="143400" cy="143400"/>
          </a:xfrm>
          <a:prstGeom prst="ellipse">
            <a:avLst/>
          </a:prstGeom>
          <a:solidFill>
            <a:srgbClr val="6BB1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19" name="Google Shape;319;g3eee170d97a_0_6"/>
          <p:cNvSpPr/>
          <p:nvPr/>
        </p:nvSpPr>
        <p:spPr>
          <a:xfrm>
            <a:off x="5306915" y="3892196"/>
            <a:ext cx="143400" cy="143400"/>
          </a:xfrm>
          <a:prstGeom prst="ellipse">
            <a:avLst/>
          </a:prstGeom>
          <a:solidFill>
            <a:srgbClr val="6BB1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f1076ca001_1_35"/>
          <p:cNvSpPr/>
          <p:nvPr/>
        </p:nvSpPr>
        <p:spPr>
          <a:xfrm>
            <a:off x="450475" y="1062625"/>
            <a:ext cx="3998400" cy="3373200"/>
          </a:xfrm>
          <a:prstGeom prst="roundRect">
            <a:avLst>
              <a:gd fmla="val 16667"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25" name="Google Shape;325;g3f1076ca001_1_35"/>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SIIM-ACR Pneumothorax Segmentation Dataset</a:t>
            </a:r>
            <a:endParaRPr/>
          </a:p>
          <a:p>
            <a:pPr indent="0" lvl="0" marL="0" rtl="0" algn="l">
              <a:lnSpc>
                <a:spcPct val="100000"/>
              </a:lnSpc>
              <a:spcBef>
                <a:spcPts val="0"/>
              </a:spcBef>
              <a:spcAft>
                <a:spcPts val="0"/>
              </a:spcAft>
              <a:buSzPts val="2600"/>
              <a:buNone/>
            </a:pPr>
            <a:r>
              <a:t/>
            </a:r>
            <a:endParaRPr/>
          </a:p>
        </p:txBody>
      </p:sp>
      <p:sp>
        <p:nvSpPr>
          <p:cNvPr id="326" name="Google Shape;326;g3f1076ca001_1_35"/>
          <p:cNvSpPr/>
          <p:nvPr/>
        </p:nvSpPr>
        <p:spPr>
          <a:xfrm>
            <a:off x="4558932" y="1062625"/>
            <a:ext cx="3998400" cy="33732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pic>
        <p:nvPicPr>
          <p:cNvPr id="327" name="Google Shape;327;g3f1076ca001_1_35"/>
          <p:cNvPicPr preferRelativeResize="0"/>
          <p:nvPr/>
        </p:nvPicPr>
        <p:blipFill rotWithShape="1">
          <a:blip r:embed="rId3">
            <a:alphaModFix/>
          </a:blip>
          <a:srcRect b="0" l="0" r="32028" t="0"/>
          <a:stretch/>
        </p:blipFill>
        <p:spPr>
          <a:xfrm>
            <a:off x="870363" y="1143650"/>
            <a:ext cx="3158626" cy="1605575"/>
          </a:xfrm>
          <a:prstGeom prst="rect">
            <a:avLst/>
          </a:prstGeom>
          <a:noFill/>
          <a:ln>
            <a:noFill/>
          </a:ln>
        </p:spPr>
      </p:pic>
      <p:pic>
        <p:nvPicPr>
          <p:cNvPr id="328" name="Google Shape;328;g3f1076ca001_1_35"/>
          <p:cNvPicPr preferRelativeResize="0"/>
          <p:nvPr/>
        </p:nvPicPr>
        <p:blipFill rotWithShape="1">
          <a:blip r:embed="rId3">
            <a:alphaModFix/>
          </a:blip>
          <a:srcRect b="0" l="66823" r="0" t="0"/>
          <a:stretch/>
        </p:blipFill>
        <p:spPr>
          <a:xfrm>
            <a:off x="1548700" y="2749225"/>
            <a:ext cx="1541784" cy="1605575"/>
          </a:xfrm>
          <a:prstGeom prst="rect">
            <a:avLst/>
          </a:prstGeom>
          <a:noFill/>
          <a:ln>
            <a:noFill/>
          </a:ln>
        </p:spPr>
      </p:pic>
      <p:pic>
        <p:nvPicPr>
          <p:cNvPr id="329" name="Google Shape;329;g3f1076ca001_1_35"/>
          <p:cNvPicPr preferRelativeResize="0"/>
          <p:nvPr/>
        </p:nvPicPr>
        <p:blipFill rotWithShape="1">
          <a:blip r:embed="rId4">
            <a:alphaModFix/>
          </a:blip>
          <a:srcRect b="0" l="0" r="32028" t="0"/>
          <a:stretch/>
        </p:blipFill>
        <p:spPr>
          <a:xfrm>
            <a:off x="4978809" y="1143650"/>
            <a:ext cx="3158626" cy="1605575"/>
          </a:xfrm>
          <a:prstGeom prst="rect">
            <a:avLst/>
          </a:prstGeom>
          <a:noFill/>
          <a:ln>
            <a:noFill/>
          </a:ln>
        </p:spPr>
      </p:pic>
      <p:pic>
        <p:nvPicPr>
          <p:cNvPr id="330" name="Google Shape;330;g3f1076ca001_1_35"/>
          <p:cNvPicPr preferRelativeResize="0"/>
          <p:nvPr/>
        </p:nvPicPr>
        <p:blipFill rotWithShape="1">
          <a:blip r:embed="rId4">
            <a:alphaModFix/>
          </a:blip>
          <a:srcRect b="0" l="66827" r="0" t="0"/>
          <a:stretch/>
        </p:blipFill>
        <p:spPr>
          <a:xfrm>
            <a:off x="5787225" y="2749120"/>
            <a:ext cx="1541776" cy="1605792"/>
          </a:xfrm>
          <a:prstGeom prst="rect">
            <a:avLst/>
          </a:prstGeom>
          <a:noFill/>
          <a:ln>
            <a:noFill/>
          </a:ln>
        </p:spPr>
      </p:pic>
      <p:sp>
        <p:nvSpPr>
          <p:cNvPr id="331" name="Google Shape;331;g3f1076ca001_1_35"/>
          <p:cNvSpPr txBox="1"/>
          <p:nvPr/>
        </p:nvSpPr>
        <p:spPr>
          <a:xfrm>
            <a:off x="1858500" y="683750"/>
            <a:ext cx="2170500" cy="1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latin typeface="Lato"/>
                <a:ea typeface="Lato"/>
                <a:cs typeface="Lato"/>
                <a:sym typeface="Lato"/>
              </a:rPr>
              <a:t>Negative</a:t>
            </a:r>
            <a:endParaRPr b="1" sz="1800">
              <a:latin typeface="Lato"/>
              <a:ea typeface="Lato"/>
              <a:cs typeface="Lato"/>
              <a:sym typeface="Lato"/>
            </a:endParaRPr>
          </a:p>
        </p:txBody>
      </p:sp>
      <p:sp>
        <p:nvSpPr>
          <p:cNvPr id="332" name="Google Shape;332;g3f1076ca001_1_35"/>
          <p:cNvSpPr txBox="1"/>
          <p:nvPr/>
        </p:nvSpPr>
        <p:spPr>
          <a:xfrm>
            <a:off x="5966925" y="683750"/>
            <a:ext cx="2170500" cy="1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latin typeface="Lato"/>
                <a:ea typeface="Lato"/>
                <a:cs typeface="Lato"/>
                <a:sym typeface="Lato"/>
              </a:rPr>
              <a:t>Positive</a:t>
            </a:r>
            <a:endParaRPr b="1" sz="1800">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9"/>
          <p:cNvSpPr/>
          <p:nvPr/>
        </p:nvSpPr>
        <p:spPr>
          <a:xfrm>
            <a:off x="2694225" y="2683471"/>
            <a:ext cx="1092600" cy="177000"/>
          </a:xfrm>
          <a:prstGeom prst="roundRect">
            <a:avLst>
              <a:gd fmla="val 16667" name="adj"/>
            </a:avLst>
          </a:prstGeom>
          <a:solidFill>
            <a:srgbClr val="A1DB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38" name="Google Shape;338;p9"/>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U-Net + EfficientNet-B0 Architecture</a:t>
            </a:r>
            <a:endParaRPr/>
          </a:p>
        </p:txBody>
      </p:sp>
      <p:sp>
        <p:nvSpPr>
          <p:cNvPr id="339" name="Google Shape;339;p9"/>
          <p:cNvSpPr/>
          <p:nvPr/>
        </p:nvSpPr>
        <p:spPr>
          <a:xfrm>
            <a:off x="6506825" y="834525"/>
            <a:ext cx="2445000" cy="39045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40" name="Google Shape;340;p9"/>
          <p:cNvSpPr txBox="1"/>
          <p:nvPr/>
        </p:nvSpPr>
        <p:spPr>
          <a:xfrm>
            <a:off x="6596075" y="922987"/>
            <a:ext cx="22665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lt1"/>
                </a:solidFill>
                <a:latin typeface="Lato Black"/>
                <a:ea typeface="Lato Black"/>
                <a:cs typeface="Lato Black"/>
                <a:sym typeface="Lato Black"/>
              </a:rPr>
              <a:t>Why EfficientNet-B0?</a:t>
            </a:r>
            <a:endParaRPr sz="1600">
              <a:solidFill>
                <a:schemeClr val="lt1"/>
              </a:solidFill>
              <a:latin typeface="Lato Black"/>
              <a:ea typeface="Lato Black"/>
              <a:cs typeface="Lato Black"/>
              <a:sym typeface="Lato Black"/>
            </a:endParaRPr>
          </a:p>
          <a:p>
            <a:pPr indent="0" lvl="0" marL="0" rtl="0" algn="l">
              <a:spcBef>
                <a:spcPts val="0"/>
              </a:spcBef>
              <a:spcAft>
                <a:spcPts val="0"/>
              </a:spcAft>
              <a:buNone/>
            </a:pPr>
            <a:r>
              <a:t/>
            </a:r>
            <a:endParaRPr sz="1600">
              <a:solidFill>
                <a:schemeClr val="lt1"/>
              </a:solidFill>
              <a:latin typeface="Lato Black"/>
              <a:ea typeface="Lato Black"/>
              <a:cs typeface="Lato Black"/>
              <a:sym typeface="Lato Black"/>
            </a:endParaRPr>
          </a:p>
          <a:p>
            <a:pPr indent="0" lvl="0" marL="0" rtl="0" algn="l">
              <a:spcBef>
                <a:spcPts val="0"/>
              </a:spcBef>
              <a:spcAft>
                <a:spcPts val="0"/>
              </a:spcAft>
              <a:buNone/>
            </a:pPr>
            <a:r>
              <a:t/>
            </a:r>
            <a:endParaRPr sz="1600">
              <a:solidFill>
                <a:schemeClr val="lt1"/>
              </a:solidFill>
              <a:latin typeface="Lato Black"/>
              <a:ea typeface="Lato Black"/>
              <a:cs typeface="Lato Black"/>
              <a:sym typeface="Lato Black"/>
            </a:endParaRPr>
          </a:p>
        </p:txBody>
      </p:sp>
      <p:sp>
        <p:nvSpPr>
          <p:cNvPr id="341" name="Google Shape;341;p9"/>
          <p:cNvSpPr/>
          <p:nvPr/>
        </p:nvSpPr>
        <p:spPr>
          <a:xfrm>
            <a:off x="278561" y="834525"/>
            <a:ext cx="2374800" cy="3904500"/>
          </a:xfrm>
          <a:prstGeom prst="roundRect">
            <a:avLst>
              <a:gd fmla="val 16667" name="adj"/>
            </a:avLst>
          </a:prstGeom>
          <a:solidFill>
            <a:srgbClr val="6BB1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42" name="Google Shape;342;p9"/>
          <p:cNvSpPr txBox="1"/>
          <p:nvPr/>
        </p:nvSpPr>
        <p:spPr>
          <a:xfrm>
            <a:off x="598711" y="911675"/>
            <a:ext cx="1632900" cy="2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latin typeface="Lato"/>
                <a:ea typeface="Lato"/>
                <a:cs typeface="Lato"/>
                <a:sym typeface="Lato"/>
              </a:rPr>
              <a:t>ENCODER</a:t>
            </a:r>
            <a:endParaRPr b="1" sz="1200">
              <a:latin typeface="Lato"/>
              <a:ea typeface="Lato"/>
              <a:cs typeface="Lato"/>
              <a:sym typeface="Lato"/>
            </a:endParaRPr>
          </a:p>
          <a:p>
            <a:pPr indent="0" lvl="0" marL="0" rtl="0" algn="ctr">
              <a:spcBef>
                <a:spcPts val="0"/>
              </a:spcBef>
              <a:spcAft>
                <a:spcPts val="0"/>
              </a:spcAft>
              <a:buNone/>
            </a:pPr>
            <a:r>
              <a:rPr b="1" lang="en-US" sz="1200">
                <a:latin typeface="Lato"/>
                <a:ea typeface="Lato"/>
                <a:cs typeface="Lato"/>
                <a:sym typeface="Lato"/>
              </a:rPr>
              <a:t>EfficientNet-B0</a:t>
            </a:r>
            <a:endParaRPr b="1" sz="1200">
              <a:latin typeface="Lato"/>
              <a:ea typeface="Lato"/>
              <a:cs typeface="Lato"/>
              <a:sym typeface="Lato"/>
            </a:endParaRPr>
          </a:p>
        </p:txBody>
      </p:sp>
      <p:sp>
        <p:nvSpPr>
          <p:cNvPr id="343" name="Google Shape;343;p9"/>
          <p:cNvSpPr/>
          <p:nvPr/>
        </p:nvSpPr>
        <p:spPr>
          <a:xfrm>
            <a:off x="501611" y="3696808"/>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MBConv Block 4  32×32×112</a:t>
            </a:r>
            <a:endParaRPr sz="1000">
              <a:latin typeface="Lato"/>
              <a:ea typeface="Lato"/>
              <a:cs typeface="Lato"/>
              <a:sym typeface="Lato"/>
            </a:endParaRPr>
          </a:p>
        </p:txBody>
      </p:sp>
      <p:sp>
        <p:nvSpPr>
          <p:cNvPr id="344" name="Google Shape;344;p9"/>
          <p:cNvSpPr/>
          <p:nvPr/>
        </p:nvSpPr>
        <p:spPr>
          <a:xfrm>
            <a:off x="501611" y="4181689"/>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Bottleneck  16×16×320</a:t>
            </a:r>
            <a:endParaRPr sz="1000">
              <a:latin typeface="Lato"/>
              <a:ea typeface="Lato"/>
              <a:cs typeface="Lato"/>
              <a:sym typeface="Lato"/>
            </a:endParaRPr>
          </a:p>
        </p:txBody>
      </p:sp>
      <p:sp>
        <p:nvSpPr>
          <p:cNvPr id="345" name="Google Shape;345;p9"/>
          <p:cNvSpPr/>
          <p:nvPr/>
        </p:nvSpPr>
        <p:spPr>
          <a:xfrm>
            <a:off x="501611" y="2727046"/>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MBConv Block 2  128×128×24</a:t>
            </a:r>
            <a:endParaRPr sz="1000">
              <a:latin typeface="Lato"/>
              <a:ea typeface="Lato"/>
              <a:cs typeface="Lato"/>
              <a:sym typeface="Lato"/>
            </a:endParaRPr>
          </a:p>
        </p:txBody>
      </p:sp>
      <p:sp>
        <p:nvSpPr>
          <p:cNvPr id="346" name="Google Shape;346;p9"/>
          <p:cNvSpPr/>
          <p:nvPr/>
        </p:nvSpPr>
        <p:spPr>
          <a:xfrm>
            <a:off x="501611" y="3211927"/>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MBConv Block 3  64×64×40</a:t>
            </a:r>
            <a:endParaRPr sz="1000">
              <a:latin typeface="Lato"/>
              <a:ea typeface="Lato"/>
              <a:cs typeface="Lato"/>
              <a:sym typeface="Lato"/>
            </a:endParaRPr>
          </a:p>
        </p:txBody>
      </p:sp>
      <p:sp>
        <p:nvSpPr>
          <p:cNvPr id="347" name="Google Shape;347;p9"/>
          <p:cNvSpPr/>
          <p:nvPr/>
        </p:nvSpPr>
        <p:spPr>
          <a:xfrm>
            <a:off x="501611" y="1757246"/>
            <a:ext cx="1928700" cy="379200"/>
          </a:xfrm>
          <a:prstGeom prst="roundRect">
            <a:avLst>
              <a:gd fmla="val 16667" name="adj"/>
            </a:avLst>
          </a:prstGeom>
          <a:solidFill>
            <a:srgbClr val="A1D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Lato"/>
                <a:ea typeface="Lato"/>
                <a:cs typeface="Lato"/>
                <a:sym typeface="Lato"/>
              </a:rPr>
              <a:t>Input  512×512×3</a:t>
            </a:r>
            <a:endParaRPr>
              <a:latin typeface="Lato"/>
              <a:ea typeface="Lato"/>
              <a:cs typeface="Lato"/>
              <a:sym typeface="Lato"/>
            </a:endParaRPr>
          </a:p>
        </p:txBody>
      </p:sp>
      <p:sp>
        <p:nvSpPr>
          <p:cNvPr id="348" name="Google Shape;348;p9"/>
          <p:cNvSpPr/>
          <p:nvPr/>
        </p:nvSpPr>
        <p:spPr>
          <a:xfrm>
            <a:off x="501611" y="2242127"/>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MBConv Block 1  256×256×16</a:t>
            </a:r>
            <a:endParaRPr sz="1000">
              <a:latin typeface="Lato"/>
              <a:ea typeface="Lato"/>
              <a:cs typeface="Lato"/>
              <a:sym typeface="Lato"/>
            </a:endParaRPr>
          </a:p>
        </p:txBody>
      </p:sp>
      <p:sp>
        <p:nvSpPr>
          <p:cNvPr id="349" name="Google Shape;349;p9"/>
          <p:cNvSpPr/>
          <p:nvPr/>
        </p:nvSpPr>
        <p:spPr>
          <a:xfrm>
            <a:off x="3832036" y="834525"/>
            <a:ext cx="2374800" cy="39045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50" name="Google Shape;350;p9"/>
          <p:cNvSpPr txBox="1"/>
          <p:nvPr/>
        </p:nvSpPr>
        <p:spPr>
          <a:xfrm>
            <a:off x="4152173" y="911675"/>
            <a:ext cx="1632900" cy="2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lt1"/>
                </a:solidFill>
                <a:latin typeface="Lato"/>
                <a:ea typeface="Lato"/>
                <a:cs typeface="Lato"/>
                <a:sym typeface="Lato"/>
              </a:rPr>
              <a:t>DECODER </a:t>
            </a:r>
            <a:r>
              <a:rPr b="1" lang="en-US" sz="1200">
                <a:solidFill>
                  <a:schemeClr val="lt1"/>
                </a:solidFill>
                <a:latin typeface="Lato"/>
                <a:ea typeface="Lato"/>
                <a:cs typeface="Lato"/>
                <a:sym typeface="Lato"/>
              </a:rPr>
              <a:t>U-Net</a:t>
            </a:r>
            <a:endParaRPr b="1" sz="1200">
              <a:solidFill>
                <a:schemeClr val="lt1"/>
              </a:solidFill>
              <a:latin typeface="Lato"/>
              <a:ea typeface="Lato"/>
              <a:cs typeface="Lato"/>
              <a:sym typeface="Lato"/>
            </a:endParaRPr>
          </a:p>
        </p:txBody>
      </p:sp>
      <p:sp>
        <p:nvSpPr>
          <p:cNvPr id="351" name="Google Shape;351;p9"/>
          <p:cNvSpPr/>
          <p:nvPr/>
        </p:nvSpPr>
        <p:spPr>
          <a:xfrm>
            <a:off x="4055073" y="3203942"/>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UpConv Block 4  64×64×128</a:t>
            </a:r>
            <a:endParaRPr sz="1000">
              <a:latin typeface="Lato"/>
              <a:ea typeface="Lato"/>
              <a:cs typeface="Lato"/>
              <a:sym typeface="Lato"/>
            </a:endParaRPr>
          </a:p>
        </p:txBody>
      </p:sp>
      <p:sp>
        <p:nvSpPr>
          <p:cNvPr id="352" name="Google Shape;352;p9"/>
          <p:cNvSpPr/>
          <p:nvPr/>
        </p:nvSpPr>
        <p:spPr>
          <a:xfrm>
            <a:off x="4055073" y="3688823"/>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UpConv Block 5  32×32×256</a:t>
            </a:r>
            <a:endParaRPr sz="1000">
              <a:latin typeface="Lato"/>
              <a:ea typeface="Lato"/>
              <a:cs typeface="Lato"/>
              <a:sym typeface="Lato"/>
            </a:endParaRPr>
          </a:p>
        </p:txBody>
      </p:sp>
      <p:sp>
        <p:nvSpPr>
          <p:cNvPr id="353" name="Google Shape;353;p9"/>
          <p:cNvSpPr/>
          <p:nvPr/>
        </p:nvSpPr>
        <p:spPr>
          <a:xfrm>
            <a:off x="4055073" y="2234179"/>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UpConv Block 2  256×256×32</a:t>
            </a:r>
            <a:endParaRPr sz="1000">
              <a:latin typeface="Lato"/>
              <a:ea typeface="Lato"/>
              <a:cs typeface="Lato"/>
              <a:sym typeface="Lato"/>
            </a:endParaRPr>
          </a:p>
        </p:txBody>
      </p:sp>
      <p:sp>
        <p:nvSpPr>
          <p:cNvPr id="354" name="Google Shape;354;p9"/>
          <p:cNvSpPr/>
          <p:nvPr/>
        </p:nvSpPr>
        <p:spPr>
          <a:xfrm>
            <a:off x="4055073" y="2719061"/>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UpConv Block 3  128×128×64</a:t>
            </a:r>
            <a:endParaRPr sz="1000">
              <a:latin typeface="Lato"/>
              <a:ea typeface="Lato"/>
              <a:cs typeface="Lato"/>
              <a:sym typeface="Lato"/>
            </a:endParaRPr>
          </a:p>
        </p:txBody>
      </p:sp>
      <p:sp>
        <p:nvSpPr>
          <p:cNvPr id="355" name="Google Shape;355;p9"/>
          <p:cNvSpPr/>
          <p:nvPr/>
        </p:nvSpPr>
        <p:spPr>
          <a:xfrm>
            <a:off x="4055073" y="1251731"/>
            <a:ext cx="1928700" cy="379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chemeClr val="lt1"/>
                </a:solidFill>
                <a:latin typeface="Quattrocento Sans"/>
                <a:ea typeface="Quattrocento Sans"/>
                <a:cs typeface="Quattrocento Sans"/>
                <a:sym typeface="Quattrocento Sans"/>
              </a:rPr>
              <a:t>Output Mask  512×512×1</a:t>
            </a:r>
            <a:endParaRPr sz="1300">
              <a:solidFill>
                <a:schemeClr val="lt1"/>
              </a:solidFill>
              <a:latin typeface="Quattrocento Sans"/>
              <a:ea typeface="Quattrocento Sans"/>
              <a:cs typeface="Quattrocento Sans"/>
              <a:sym typeface="Quattrocento Sans"/>
            </a:endParaRPr>
          </a:p>
        </p:txBody>
      </p:sp>
      <p:sp>
        <p:nvSpPr>
          <p:cNvPr id="356" name="Google Shape;356;p9"/>
          <p:cNvSpPr/>
          <p:nvPr/>
        </p:nvSpPr>
        <p:spPr>
          <a:xfrm>
            <a:off x="4055073" y="1749261"/>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UpConv Block 1  512×512×16</a:t>
            </a:r>
            <a:endParaRPr sz="1000">
              <a:latin typeface="Lato"/>
              <a:ea typeface="Lato"/>
              <a:cs typeface="Lato"/>
              <a:sym typeface="Lato"/>
            </a:endParaRPr>
          </a:p>
        </p:txBody>
      </p:sp>
      <p:cxnSp>
        <p:nvCxnSpPr>
          <p:cNvPr id="357" name="Google Shape;357;p9"/>
          <p:cNvCxnSpPr>
            <a:stCxn id="347" idx="3"/>
            <a:endCxn id="356" idx="1"/>
          </p:cNvCxnSpPr>
          <p:nvPr/>
        </p:nvCxnSpPr>
        <p:spPr>
          <a:xfrm flipH="1" rot="10800000">
            <a:off x="2430311" y="1938746"/>
            <a:ext cx="1624800" cy="8100"/>
          </a:xfrm>
          <a:prstGeom prst="straightConnector1">
            <a:avLst/>
          </a:prstGeom>
          <a:noFill/>
          <a:ln cap="flat" cmpd="sng" w="9525">
            <a:solidFill>
              <a:schemeClr val="dk2"/>
            </a:solidFill>
            <a:prstDash val="dash"/>
            <a:round/>
            <a:headEnd len="med" w="med" type="none"/>
            <a:tailEnd len="med" w="med" type="none"/>
          </a:ln>
        </p:spPr>
      </p:cxnSp>
      <p:cxnSp>
        <p:nvCxnSpPr>
          <p:cNvPr id="358" name="Google Shape;358;p9"/>
          <p:cNvCxnSpPr>
            <a:stCxn id="348" idx="3"/>
            <a:endCxn id="353" idx="1"/>
          </p:cNvCxnSpPr>
          <p:nvPr/>
        </p:nvCxnSpPr>
        <p:spPr>
          <a:xfrm flipH="1" rot="10800000">
            <a:off x="2430311" y="2423927"/>
            <a:ext cx="1624800" cy="7800"/>
          </a:xfrm>
          <a:prstGeom prst="straightConnector1">
            <a:avLst/>
          </a:prstGeom>
          <a:noFill/>
          <a:ln cap="flat" cmpd="sng" w="9525">
            <a:solidFill>
              <a:schemeClr val="dk2"/>
            </a:solidFill>
            <a:prstDash val="dash"/>
            <a:round/>
            <a:headEnd len="med" w="med" type="none"/>
            <a:tailEnd len="med" w="med" type="none"/>
          </a:ln>
        </p:spPr>
      </p:cxnSp>
      <p:cxnSp>
        <p:nvCxnSpPr>
          <p:cNvPr id="359" name="Google Shape;359;p9"/>
          <p:cNvCxnSpPr>
            <a:stCxn id="345" idx="3"/>
            <a:endCxn id="354" idx="1"/>
          </p:cNvCxnSpPr>
          <p:nvPr/>
        </p:nvCxnSpPr>
        <p:spPr>
          <a:xfrm flipH="1" rot="10800000">
            <a:off x="2430311" y="2908546"/>
            <a:ext cx="1624800" cy="8100"/>
          </a:xfrm>
          <a:prstGeom prst="straightConnector1">
            <a:avLst/>
          </a:prstGeom>
          <a:noFill/>
          <a:ln cap="flat" cmpd="sng" w="9525">
            <a:solidFill>
              <a:schemeClr val="dk2"/>
            </a:solidFill>
            <a:prstDash val="dash"/>
            <a:round/>
            <a:headEnd len="med" w="med" type="none"/>
            <a:tailEnd len="med" w="med" type="none"/>
          </a:ln>
        </p:spPr>
      </p:cxnSp>
      <p:cxnSp>
        <p:nvCxnSpPr>
          <p:cNvPr id="360" name="Google Shape;360;p9"/>
          <p:cNvCxnSpPr>
            <a:stCxn id="346" idx="3"/>
            <a:endCxn id="351" idx="1"/>
          </p:cNvCxnSpPr>
          <p:nvPr/>
        </p:nvCxnSpPr>
        <p:spPr>
          <a:xfrm flipH="1" rot="10800000">
            <a:off x="2430311" y="3393427"/>
            <a:ext cx="1624800" cy="8100"/>
          </a:xfrm>
          <a:prstGeom prst="straightConnector1">
            <a:avLst/>
          </a:prstGeom>
          <a:noFill/>
          <a:ln cap="flat" cmpd="sng" w="9525">
            <a:solidFill>
              <a:schemeClr val="dk2"/>
            </a:solidFill>
            <a:prstDash val="dash"/>
            <a:round/>
            <a:headEnd len="med" w="med" type="none"/>
            <a:tailEnd len="med" w="med" type="none"/>
          </a:ln>
        </p:spPr>
      </p:cxnSp>
      <p:cxnSp>
        <p:nvCxnSpPr>
          <p:cNvPr id="361" name="Google Shape;361;p9"/>
          <p:cNvCxnSpPr>
            <a:stCxn id="343" idx="3"/>
            <a:endCxn id="352" idx="1"/>
          </p:cNvCxnSpPr>
          <p:nvPr/>
        </p:nvCxnSpPr>
        <p:spPr>
          <a:xfrm flipH="1" rot="10800000">
            <a:off x="2430311" y="3878308"/>
            <a:ext cx="1624800" cy="8100"/>
          </a:xfrm>
          <a:prstGeom prst="straightConnector1">
            <a:avLst/>
          </a:prstGeom>
          <a:noFill/>
          <a:ln cap="flat" cmpd="sng" w="9525">
            <a:solidFill>
              <a:schemeClr val="dk2"/>
            </a:solidFill>
            <a:prstDash val="dash"/>
            <a:round/>
            <a:headEnd len="med" w="med" type="none"/>
            <a:tailEnd len="med" w="med" type="none"/>
          </a:ln>
        </p:spPr>
      </p:cxnSp>
      <p:sp>
        <p:nvSpPr>
          <p:cNvPr id="362" name="Google Shape;362;p9"/>
          <p:cNvSpPr txBox="1"/>
          <p:nvPr/>
        </p:nvSpPr>
        <p:spPr>
          <a:xfrm>
            <a:off x="2428886" y="2589650"/>
            <a:ext cx="1632900" cy="2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latin typeface="Lato"/>
                <a:ea typeface="Lato"/>
                <a:cs typeface="Lato"/>
                <a:sym typeface="Lato"/>
              </a:rPr>
              <a:t>Skip Connections</a:t>
            </a:r>
            <a:endParaRPr sz="1100">
              <a:latin typeface="Lato"/>
              <a:ea typeface="Lato"/>
              <a:cs typeface="Lato"/>
              <a:sym typeface="Lato"/>
            </a:endParaRPr>
          </a:p>
        </p:txBody>
      </p:sp>
      <p:sp>
        <p:nvSpPr>
          <p:cNvPr id="363" name="Google Shape;363;p9"/>
          <p:cNvSpPr/>
          <p:nvPr/>
        </p:nvSpPr>
        <p:spPr>
          <a:xfrm>
            <a:off x="4055073" y="4173698"/>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Transposed Conv 32×32×256</a:t>
            </a:r>
            <a:endParaRPr sz="1000">
              <a:latin typeface="Lato"/>
              <a:ea typeface="Lato"/>
              <a:cs typeface="Lato"/>
              <a:sym typeface="Lato"/>
            </a:endParaRPr>
          </a:p>
        </p:txBody>
      </p:sp>
      <p:sp>
        <p:nvSpPr>
          <p:cNvPr id="364" name="Google Shape;364;p9"/>
          <p:cNvSpPr/>
          <p:nvPr/>
        </p:nvSpPr>
        <p:spPr>
          <a:xfrm>
            <a:off x="2494461" y="4296775"/>
            <a:ext cx="1462200" cy="177000"/>
          </a:xfrm>
          <a:prstGeom prst="right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65" name="Google Shape;365;p9"/>
          <p:cNvSpPr/>
          <p:nvPr/>
        </p:nvSpPr>
        <p:spPr>
          <a:xfrm>
            <a:off x="102377" y="2423921"/>
            <a:ext cx="393900" cy="2193600"/>
          </a:xfrm>
          <a:prstGeom prst="downArrow">
            <a:avLst>
              <a:gd fmla="val 50000" name="adj1"/>
              <a:gd fmla="val 50000" name="adj2"/>
            </a:avLst>
          </a:prstGeom>
          <a:solidFill>
            <a:schemeClr val="lt2"/>
          </a:solidFill>
          <a:ln cap="flat" cmpd="sng" w="8650">
            <a:solidFill>
              <a:schemeClr val="dk2"/>
            </a:solidFill>
            <a:prstDash val="solid"/>
            <a:round/>
            <a:headEnd len="sm" w="sm" type="none"/>
            <a:tailEnd len="sm" w="sm" type="none"/>
          </a:ln>
        </p:spPr>
        <p:txBody>
          <a:bodyPr anchorCtr="0" anchor="ctr" bIns="83075" lIns="83075" spcFirstLastPara="1" rIns="83075" wrap="square" tIns="83075">
            <a:noAutofit/>
          </a:bodyPr>
          <a:lstStyle/>
          <a:p>
            <a:pPr indent="0" lvl="0" marL="0" rtl="0" algn="l">
              <a:spcBef>
                <a:spcPts val="0"/>
              </a:spcBef>
              <a:spcAft>
                <a:spcPts val="0"/>
              </a:spcAft>
              <a:buNone/>
            </a:pPr>
            <a:r>
              <a:t/>
            </a:r>
            <a:endParaRPr sz="1091">
              <a:latin typeface="Lato"/>
              <a:ea typeface="Lato"/>
              <a:cs typeface="Lato"/>
              <a:sym typeface="Lato"/>
            </a:endParaRPr>
          </a:p>
        </p:txBody>
      </p:sp>
      <p:sp>
        <p:nvSpPr>
          <p:cNvPr id="366" name="Google Shape;366;p9"/>
          <p:cNvSpPr txBox="1"/>
          <p:nvPr/>
        </p:nvSpPr>
        <p:spPr>
          <a:xfrm>
            <a:off x="184041" y="2458295"/>
            <a:ext cx="106200" cy="1875900"/>
          </a:xfrm>
          <a:prstGeom prst="rect">
            <a:avLst/>
          </a:prstGeom>
          <a:noFill/>
          <a:ln>
            <a:noFill/>
          </a:ln>
        </p:spPr>
        <p:txBody>
          <a:bodyPr anchorCtr="0" anchor="t" bIns="83075" lIns="83075" spcFirstLastPara="1" rIns="83075" wrap="square" tIns="83075">
            <a:noAutofit/>
          </a:bodyPr>
          <a:lstStyle/>
          <a:p>
            <a:pPr indent="0" lvl="0" marL="0" rtl="0" algn="l">
              <a:spcBef>
                <a:spcPts val="0"/>
              </a:spcBef>
              <a:spcAft>
                <a:spcPts val="0"/>
              </a:spcAft>
              <a:buNone/>
            </a:pPr>
            <a:r>
              <a:rPr lang="en-US" sz="1000">
                <a:latin typeface="Lato"/>
                <a:ea typeface="Lato"/>
                <a:cs typeface="Lato"/>
                <a:sym typeface="Lato"/>
              </a:rPr>
              <a:t>Strided </a:t>
            </a:r>
            <a:endParaRPr sz="1000">
              <a:latin typeface="Lato"/>
              <a:ea typeface="Lato"/>
              <a:cs typeface="Lato"/>
              <a:sym typeface="Lato"/>
            </a:endParaRPr>
          </a:p>
          <a:p>
            <a:pPr indent="0" lvl="0" marL="0" rtl="0" algn="l">
              <a:spcBef>
                <a:spcPts val="0"/>
              </a:spcBef>
              <a:spcAft>
                <a:spcPts val="0"/>
              </a:spcAft>
              <a:buNone/>
            </a:pPr>
            <a:r>
              <a:t/>
            </a:r>
            <a:endParaRPr sz="1000">
              <a:latin typeface="Lato"/>
              <a:ea typeface="Lato"/>
              <a:cs typeface="Lato"/>
              <a:sym typeface="Lato"/>
            </a:endParaRPr>
          </a:p>
          <a:p>
            <a:pPr indent="0" lvl="0" marL="0" rtl="0" algn="l">
              <a:spcBef>
                <a:spcPts val="0"/>
              </a:spcBef>
              <a:spcAft>
                <a:spcPts val="0"/>
              </a:spcAft>
              <a:buNone/>
            </a:pPr>
            <a:r>
              <a:rPr lang="en-US" sz="1000">
                <a:latin typeface="Lato"/>
                <a:ea typeface="Lato"/>
                <a:cs typeface="Lato"/>
                <a:sym typeface="Lato"/>
              </a:rPr>
              <a:t>conv</a:t>
            </a:r>
            <a:endParaRPr sz="1000">
              <a:latin typeface="Lato"/>
              <a:ea typeface="Lato"/>
              <a:cs typeface="Lato"/>
              <a:sym typeface="Lato"/>
            </a:endParaRPr>
          </a:p>
        </p:txBody>
      </p:sp>
      <p:sp>
        <p:nvSpPr>
          <p:cNvPr id="367" name="Google Shape;367;p9"/>
          <p:cNvSpPr/>
          <p:nvPr/>
        </p:nvSpPr>
        <p:spPr>
          <a:xfrm>
            <a:off x="5989132" y="1836961"/>
            <a:ext cx="433500" cy="27921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Quattrocento Sans"/>
                <a:ea typeface="Quattrocento Sans"/>
                <a:cs typeface="Quattrocento Sans"/>
                <a:sym typeface="Quattrocento Sans"/>
              </a:rPr>
              <a:t>transpos</a:t>
            </a:r>
            <a:endParaRPr sz="1200">
              <a:latin typeface="Quattrocento Sans"/>
              <a:ea typeface="Quattrocento Sans"/>
              <a:cs typeface="Quattrocento Sans"/>
              <a:sym typeface="Quattrocento Sans"/>
            </a:endParaRPr>
          </a:p>
          <a:p>
            <a:pPr indent="0" lvl="0" marL="0" rtl="0" algn="ctr">
              <a:spcBef>
                <a:spcPts val="0"/>
              </a:spcBef>
              <a:spcAft>
                <a:spcPts val="0"/>
              </a:spcAft>
              <a:buNone/>
            </a:pPr>
            <a:r>
              <a:rPr lang="en-US" sz="1200">
                <a:latin typeface="Quattrocento Sans"/>
                <a:ea typeface="Quattrocento Sans"/>
                <a:cs typeface="Quattrocento Sans"/>
                <a:sym typeface="Quattrocento Sans"/>
              </a:rPr>
              <a:t>e</a:t>
            </a:r>
            <a:endParaRPr sz="1200">
              <a:latin typeface="Quattrocento Sans"/>
              <a:ea typeface="Quattrocento Sans"/>
              <a:cs typeface="Quattrocento Sans"/>
              <a:sym typeface="Quattrocento Sans"/>
            </a:endParaRPr>
          </a:p>
          <a:p>
            <a:pPr indent="0" lvl="0" marL="0" rtl="0" algn="ctr">
              <a:spcBef>
                <a:spcPts val="0"/>
              </a:spcBef>
              <a:spcAft>
                <a:spcPts val="0"/>
              </a:spcAft>
              <a:buNone/>
            </a:pPr>
            <a:r>
              <a:t/>
            </a:r>
            <a:endParaRPr sz="1200">
              <a:latin typeface="Quattrocento Sans"/>
              <a:ea typeface="Quattrocento Sans"/>
              <a:cs typeface="Quattrocento Sans"/>
              <a:sym typeface="Quattrocento Sans"/>
            </a:endParaRPr>
          </a:p>
          <a:p>
            <a:pPr indent="0" lvl="0" marL="0" rtl="0" algn="ctr">
              <a:spcBef>
                <a:spcPts val="0"/>
              </a:spcBef>
              <a:spcAft>
                <a:spcPts val="0"/>
              </a:spcAft>
              <a:buNone/>
            </a:pPr>
            <a:r>
              <a:rPr lang="en-US" sz="1200">
                <a:latin typeface="Quattrocento Sans"/>
                <a:ea typeface="Quattrocento Sans"/>
                <a:cs typeface="Quattrocento Sans"/>
                <a:sym typeface="Quattrocento Sans"/>
              </a:rPr>
              <a:t>conv</a:t>
            </a:r>
            <a:endParaRPr sz="1200">
              <a:latin typeface="Quattrocento Sans"/>
              <a:ea typeface="Quattrocento Sans"/>
              <a:cs typeface="Quattrocento Sans"/>
              <a:sym typeface="Quattrocento Sans"/>
            </a:endParaRPr>
          </a:p>
        </p:txBody>
      </p:sp>
      <p:sp>
        <p:nvSpPr>
          <p:cNvPr id="368" name="Google Shape;368;p9"/>
          <p:cNvSpPr/>
          <p:nvPr/>
        </p:nvSpPr>
        <p:spPr>
          <a:xfrm flipH="1" rot="10800000">
            <a:off x="3578675" y="1455975"/>
            <a:ext cx="433500" cy="535200"/>
          </a:xfrm>
          <a:prstGeom prst="curvedRightArrow">
            <a:avLst>
              <a:gd fmla="val 25000" name="adj1"/>
              <a:gd fmla="val 50000" name="adj2"/>
              <a:gd fmla="val 25000" name="adj3"/>
            </a:avLst>
          </a:prstGeom>
          <a:solidFill>
            <a:srgbClr val="A1D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69" name="Google Shape;369;p9"/>
          <p:cNvSpPr/>
          <p:nvPr/>
        </p:nvSpPr>
        <p:spPr>
          <a:xfrm flipH="1">
            <a:off x="2430300" y="1904100"/>
            <a:ext cx="393900" cy="625200"/>
          </a:xfrm>
          <a:prstGeom prst="curvedRightArrow">
            <a:avLst>
              <a:gd fmla="val 25000" name="adj1"/>
              <a:gd fmla="val 50000" name="adj2"/>
              <a:gd fmla="val 25000" name="adj3"/>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70" name="Google Shape;370;p9"/>
          <p:cNvSpPr/>
          <p:nvPr/>
        </p:nvSpPr>
        <p:spPr>
          <a:xfrm>
            <a:off x="3256863" y="1082475"/>
            <a:ext cx="653100" cy="379200"/>
          </a:xfrm>
          <a:prstGeom prst="roundRect">
            <a:avLst>
              <a:gd fmla="val 16667" name="adj"/>
            </a:avLst>
          </a:prstGeom>
          <a:solidFill>
            <a:srgbClr val="A1D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71" name="Google Shape;371;p9"/>
          <p:cNvSpPr txBox="1"/>
          <p:nvPr/>
        </p:nvSpPr>
        <p:spPr>
          <a:xfrm>
            <a:off x="3199544" y="1012259"/>
            <a:ext cx="8463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latin typeface="Lato"/>
                <a:ea typeface="Lato"/>
                <a:cs typeface="Lato"/>
                <a:sym typeface="Lato"/>
              </a:rPr>
              <a:t>1x1 conv </a:t>
            </a:r>
            <a:endParaRPr sz="1100">
              <a:latin typeface="Lato"/>
              <a:ea typeface="Lato"/>
              <a:cs typeface="Lato"/>
              <a:sym typeface="Lato"/>
            </a:endParaRPr>
          </a:p>
          <a:p>
            <a:pPr indent="0" lvl="0" marL="0" rtl="0" algn="l">
              <a:spcBef>
                <a:spcPts val="0"/>
              </a:spcBef>
              <a:spcAft>
                <a:spcPts val="0"/>
              </a:spcAft>
              <a:buNone/>
            </a:pPr>
            <a:r>
              <a:rPr lang="en-US" sz="1100">
                <a:latin typeface="Lato"/>
                <a:ea typeface="Lato"/>
                <a:cs typeface="Lato"/>
                <a:sym typeface="Lato"/>
              </a:rPr>
              <a:t>+ sigmoid </a:t>
            </a:r>
            <a:endParaRPr sz="1100">
              <a:latin typeface="Lato"/>
              <a:ea typeface="Lato"/>
              <a:cs typeface="Lato"/>
              <a:sym typeface="Lato"/>
            </a:endParaRPr>
          </a:p>
        </p:txBody>
      </p:sp>
      <p:sp>
        <p:nvSpPr>
          <p:cNvPr id="372" name="Google Shape;372;p9"/>
          <p:cNvSpPr/>
          <p:nvPr/>
        </p:nvSpPr>
        <p:spPr>
          <a:xfrm>
            <a:off x="2469175" y="1493288"/>
            <a:ext cx="653100" cy="3792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73" name="Google Shape;373;p9"/>
          <p:cNvSpPr txBox="1"/>
          <p:nvPr/>
        </p:nvSpPr>
        <p:spPr>
          <a:xfrm>
            <a:off x="2428866" y="1423071"/>
            <a:ext cx="8463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chemeClr val="lt1"/>
                </a:solidFill>
                <a:latin typeface="Lato"/>
                <a:ea typeface="Lato"/>
                <a:cs typeface="Lato"/>
                <a:sym typeface="Lato"/>
              </a:rPr>
              <a:t>Strided 3x3 conv</a:t>
            </a:r>
            <a:endParaRPr sz="1100">
              <a:solidFill>
                <a:schemeClr val="lt1"/>
              </a:solidFill>
              <a:latin typeface="Lato"/>
              <a:ea typeface="Lato"/>
              <a:cs typeface="Lato"/>
              <a:sym typeface="Lato"/>
            </a:endParaRPr>
          </a:p>
        </p:txBody>
      </p:sp>
      <p:sp>
        <p:nvSpPr>
          <p:cNvPr id="374" name="Google Shape;374;p9"/>
          <p:cNvSpPr/>
          <p:nvPr/>
        </p:nvSpPr>
        <p:spPr>
          <a:xfrm>
            <a:off x="2653350" y="4504035"/>
            <a:ext cx="1178700" cy="2679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75" name="Google Shape;375;p9"/>
          <p:cNvSpPr txBox="1"/>
          <p:nvPr/>
        </p:nvSpPr>
        <p:spPr>
          <a:xfrm>
            <a:off x="2674243" y="4456893"/>
            <a:ext cx="11787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chemeClr val="dk2"/>
                </a:solidFill>
                <a:latin typeface="Lato"/>
                <a:ea typeface="Lato"/>
                <a:cs typeface="Lato"/>
                <a:sym typeface="Lato"/>
              </a:rPr>
              <a:t>Transpose conv</a:t>
            </a:r>
            <a:endParaRPr sz="1100">
              <a:solidFill>
                <a:schemeClr val="dk2"/>
              </a:solidFill>
              <a:latin typeface="Lato"/>
              <a:ea typeface="Lato"/>
              <a:cs typeface="Lato"/>
              <a:sym typeface="Lato"/>
            </a:endParaRPr>
          </a:p>
        </p:txBody>
      </p:sp>
      <p:sp>
        <p:nvSpPr>
          <p:cNvPr id="376" name="Google Shape;376;p9"/>
          <p:cNvSpPr/>
          <p:nvPr/>
        </p:nvSpPr>
        <p:spPr>
          <a:xfrm>
            <a:off x="6596075" y="1423075"/>
            <a:ext cx="2266500" cy="3206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100">
                <a:solidFill>
                  <a:schemeClr val="lt1"/>
                </a:solidFill>
                <a:highlight>
                  <a:schemeClr val="accent5"/>
                </a:highlight>
                <a:latin typeface="Lato"/>
                <a:ea typeface="Lato"/>
                <a:cs typeface="Lato"/>
                <a:sym typeface="Lato"/>
              </a:rPr>
              <a:t>~5.3M</a:t>
            </a:r>
            <a:r>
              <a:rPr b="1" lang="en-US" sz="1100">
                <a:solidFill>
                  <a:schemeClr val="lt1"/>
                </a:solidFill>
                <a:latin typeface="Lato"/>
                <a:ea typeface="Lato"/>
                <a:cs typeface="Lato"/>
                <a:sym typeface="Lato"/>
              </a:rPr>
              <a:t> </a:t>
            </a:r>
            <a:r>
              <a:rPr lang="en-US" sz="1100">
                <a:solidFill>
                  <a:schemeClr val="dk2"/>
                </a:solidFill>
                <a:latin typeface="Lato"/>
                <a:ea typeface="Lato"/>
                <a:cs typeface="Lato"/>
                <a:sym typeface="Lato"/>
              </a:rPr>
              <a:t>parameters (smallest EfficientNet)</a:t>
            </a:r>
            <a:endParaRPr sz="1100">
              <a:solidFill>
                <a:schemeClr val="dk2"/>
              </a:solidFill>
              <a:latin typeface="Lato"/>
              <a:ea typeface="Lato"/>
              <a:cs typeface="Lato"/>
              <a:sym typeface="Lato"/>
            </a:endParaRPr>
          </a:p>
          <a:p>
            <a:pPr indent="0" lvl="0" marL="0" rtl="0" algn="l">
              <a:spcBef>
                <a:spcPts val="0"/>
              </a:spcBef>
              <a:spcAft>
                <a:spcPts val="0"/>
              </a:spcAft>
              <a:buNone/>
            </a:pPr>
            <a:r>
              <a:t/>
            </a:r>
            <a:endParaRPr b="1" sz="1100">
              <a:solidFill>
                <a:schemeClr val="lt1"/>
              </a:solidFill>
              <a:highlight>
                <a:schemeClr val="accent5"/>
              </a:highlight>
              <a:latin typeface="Lato"/>
              <a:ea typeface="Lato"/>
              <a:cs typeface="Lato"/>
              <a:sym typeface="Lato"/>
            </a:endParaRPr>
          </a:p>
          <a:p>
            <a:pPr indent="0" lvl="0" marL="0" rtl="0" algn="l">
              <a:spcBef>
                <a:spcPts val="0"/>
              </a:spcBef>
              <a:spcAft>
                <a:spcPts val="0"/>
              </a:spcAft>
              <a:buNone/>
            </a:pPr>
            <a:r>
              <a:rPr b="1" lang="en-US" sz="1100">
                <a:solidFill>
                  <a:schemeClr val="lt1"/>
                </a:solidFill>
                <a:highlight>
                  <a:schemeClr val="accent5"/>
                </a:highlight>
                <a:latin typeface="Lato"/>
                <a:ea typeface="Lato"/>
                <a:cs typeface="Lato"/>
                <a:sym typeface="Lato"/>
              </a:rPr>
              <a:t>Compound scaling</a:t>
            </a:r>
            <a:r>
              <a:rPr lang="en-US" sz="1100">
                <a:latin typeface="Lato"/>
                <a:ea typeface="Lato"/>
                <a:cs typeface="Lato"/>
                <a:sym typeface="Lato"/>
              </a:rPr>
              <a:t> of depth, width &amp; resolution</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p>
            <a:pPr indent="0" lvl="0" marL="0" rtl="0" algn="l">
              <a:spcBef>
                <a:spcPts val="0"/>
              </a:spcBef>
              <a:spcAft>
                <a:spcPts val="0"/>
              </a:spcAft>
              <a:buNone/>
            </a:pPr>
            <a:r>
              <a:rPr b="1" lang="en-US" sz="1100">
                <a:solidFill>
                  <a:schemeClr val="lt1"/>
                </a:solidFill>
                <a:highlight>
                  <a:schemeClr val="accent5"/>
                </a:highlight>
                <a:latin typeface="Lato"/>
                <a:ea typeface="Lato"/>
                <a:cs typeface="Lato"/>
                <a:sym typeface="Lato"/>
              </a:rPr>
              <a:t>MBConv blocks</a:t>
            </a:r>
            <a:endParaRPr b="1" sz="1100">
              <a:solidFill>
                <a:schemeClr val="lt1"/>
              </a:solidFill>
              <a:highlight>
                <a:schemeClr val="accent5"/>
              </a:highlight>
              <a:latin typeface="Lato"/>
              <a:ea typeface="Lato"/>
              <a:cs typeface="Lato"/>
              <a:sym typeface="Lato"/>
            </a:endParaRPr>
          </a:p>
          <a:p>
            <a:pPr indent="0" lvl="0" marL="0" rtl="0" algn="l">
              <a:spcBef>
                <a:spcPts val="0"/>
              </a:spcBef>
              <a:spcAft>
                <a:spcPts val="0"/>
              </a:spcAft>
              <a:buNone/>
            </a:pPr>
            <a:r>
              <a:rPr lang="en-US" sz="1100">
                <a:solidFill>
                  <a:schemeClr val="dk2"/>
                </a:solidFill>
                <a:latin typeface="Lato"/>
                <a:ea typeface="Lato"/>
                <a:cs typeface="Lato"/>
                <a:sym typeface="Lato"/>
              </a:rPr>
              <a:t>depthwise separable convolutions</a:t>
            </a:r>
            <a:endParaRPr sz="1100">
              <a:solidFill>
                <a:schemeClr val="dk2"/>
              </a:solidFill>
              <a:latin typeface="Lato"/>
              <a:ea typeface="Lato"/>
              <a:cs typeface="Lato"/>
              <a:sym typeface="Lato"/>
            </a:endParaRPr>
          </a:p>
          <a:p>
            <a:pPr indent="0" lvl="0" marL="0" rtl="0" algn="l">
              <a:spcBef>
                <a:spcPts val="0"/>
              </a:spcBef>
              <a:spcAft>
                <a:spcPts val="0"/>
              </a:spcAft>
              <a:buNone/>
            </a:pPr>
            <a:r>
              <a:t/>
            </a:r>
            <a:endParaRPr b="1" sz="1100">
              <a:solidFill>
                <a:schemeClr val="lt1"/>
              </a:solidFill>
              <a:highlight>
                <a:schemeClr val="accent5"/>
              </a:highlight>
              <a:latin typeface="Lato"/>
              <a:ea typeface="Lato"/>
              <a:cs typeface="Lato"/>
              <a:sym typeface="Lato"/>
            </a:endParaRPr>
          </a:p>
          <a:p>
            <a:pPr indent="0" lvl="0" marL="0" rtl="0" algn="l">
              <a:spcBef>
                <a:spcPts val="0"/>
              </a:spcBef>
              <a:spcAft>
                <a:spcPts val="0"/>
              </a:spcAft>
              <a:buNone/>
            </a:pPr>
            <a:r>
              <a:rPr lang="en-US" sz="1100">
                <a:solidFill>
                  <a:schemeClr val="dk2"/>
                </a:solidFill>
                <a:latin typeface="Lato"/>
                <a:ea typeface="Lato"/>
                <a:cs typeface="Lato"/>
                <a:sym typeface="Lato"/>
              </a:rPr>
              <a:t>ImageNet </a:t>
            </a:r>
            <a:r>
              <a:rPr b="1" lang="en-US" sz="1100">
                <a:solidFill>
                  <a:schemeClr val="lt1"/>
                </a:solidFill>
                <a:highlight>
                  <a:schemeClr val="accent5"/>
                </a:highlight>
                <a:latin typeface="Lato"/>
                <a:ea typeface="Lato"/>
                <a:cs typeface="Lato"/>
                <a:sym typeface="Lato"/>
              </a:rPr>
              <a:t>pretrained</a:t>
            </a:r>
            <a:r>
              <a:rPr b="1" lang="en-US" sz="1100">
                <a:solidFill>
                  <a:schemeClr val="lt1"/>
                </a:solidFill>
                <a:latin typeface="Lato"/>
                <a:ea typeface="Lato"/>
                <a:cs typeface="Lato"/>
                <a:sym typeface="Lato"/>
              </a:rPr>
              <a:t> </a:t>
            </a:r>
            <a:r>
              <a:rPr lang="en-US" sz="1100">
                <a:solidFill>
                  <a:schemeClr val="dk2"/>
                </a:solidFill>
                <a:latin typeface="Lato"/>
                <a:ea typeface="Lato"/>
                <a:cs typeface="Lato"/>
                <a:sym typeface="Lato"/>
              </a:rPr>
              <a:t>faster convergence</a:t>
            </a:r>
            <a:endParaRPr sz="1100">
              <a:solidFill>
                <a:schemeClr val="dk2"/>
              </a:solidFill>
              <a:latin typeface="Lato"/>
              <a:ea typeface="Lato"/>
              <a:cs typeface="Lato"/>
              <a:sym typeface="Lato"/>
            </a:endParaRPr>
          </a:p>
          <a:p>
            <a:pPr indent="0" lvl="0" marL="0" rtl="0" algn="l">
              <a:spcBef>
                <a:spcPts val="0"/>
              </a:spcBef>
              <a:spcAft>
                <a:spcPts val="0"/>
              </a:spcAft>
              <a:buNone/>
            </a:pPr>
            <a:r>
              <a:t/>
            </a:r>
            <a:endParaRPr sz="1100">
              <a:solidFill>
                <a:schemeClr val="dk2"/>
              </a:solidFill>
              <a:latin typeface="Lato"/>
              <a:ea typeface="Lato"/>
              <a:cs typeface="Lato"/>
              <a:sym typeface="Lato"/>
            </a:endParaRPr>
          </a:p>
          <a:p>
            <a:pPr indent="0" lvl="0" marL="0" rtl="0" algn="l">
              <a:spcBef>
                <a:spcPts val="0"/>
              </a:spcBef>
              <a:spcAft>
                <a:spcPts val="0"/>
              </a:spcAft>
              <a:buNone/>
            </a:pPr>
            <a:r>
              <a:rPr lang="en-US" sz="1100">
                <a:solidFill>
                  <a:schemeClr val="dk2"/>
                </a:solidFill>
                <a:latin typeface="Lato"/>
                <a:ea typeface="Lato"/>
                <a:cs typeface="Lato"/>
                <a:sym typeface="Lato"/>
              </a:rPr>
              <a:t>5 feature levels → </a:t>
            </a:r>
            <a:r>
              <a:rPr b="1" lang="en-US" sz="1100">
                <a:solidFill>
                  <a:schemeClr val="lt1"/>
                </a:solidFill>
                <a:highlight>
                  <a:schemeClr val="accent5"/>
                </a:highlight>
                <a:latin typeface="Lato"/>
                <a:ea typeface="Lato"/>
                <a:cs typeface="Lato"/>
                <a:sym typeface="Lato"/>
              </a:rPr>
              <a:t>5 skip connections</a:t>
            </a:r>
            <a:endParaRPr b="1" sz="1100">
              <a:solidFill>
                <a:schemeClr val="lt1"/>
              </a:solidFill>
              <a:highlight>
                <a:schemeClr val="accent5"/>
              </a:highlight>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3eee98f34f1_2_0"/>
          <p:cNvSpPr/>
          <p:nvPr/>
        </p:nvSpPr>
        <p:spPr>
          <a:xfrm>
            <a:off x="2694225" y="2683471"/>
            <a:ext cx="1092600" cy="177000"/>
          </a:xfrm>
          <a:prstGeom prst="roundRect">
            <a:avLst>
              <a:gd fmla="val 16667" name="adj"/>
            </a:avLst>
          </a:prstGeom>
          <a:solidFill>
            <a:srgbClr val="A1DBFF"/>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82" name="Google Shape;382;g3eee98f34f1_2_0"/>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U-Net + EfficientNet-B0 Architecture</a:t>
            </a:r>
            <a:endParaRPr/>
          </a:p>
        </p:txBody>
      </p:sp>
      <p:sp>
        <p:nvSpPr>
          <p:cNvPr id="383" name="Google Shape;383;g3eee98f34f1_2_0"/>
          <p:cNvSpPr/>
          <p:nvPr/>
        </p:nvSpPr>
        <p:spPr>
          <a:xfrm>
            <a:off x="6506825" y="834525"/>
            <a:ext cx="2445000" cy="3904500"/>
          </a:xfrm>
          <a:prstGeom prst="roundRect">
            <a:avLst>
              <a:gd fmla="val 16667" name="adj"/>
            </a:avLst>
          </a:prstGeom>
          <a:solidFill>
            <a:srgbClr val="3264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84" name="Google Shape;384;g3eee98f34f1_2_0"/>
          <p:cNvSpPr txBox="1"/>
          <p:nvPr/>
        </p:nvSpPr>
        <p:spPr>
          <a:xfrm>
            <a:off x="6684538" y="956475"/>
            <a:ext cx="22665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Lato Black"/>
                <a:ea typeface="Lato Black"/>
                <a:cs typeface="Lato Black"/>
                <a:sym typeface="Lato Black"/>
              </a:rPr>
              <a:t>Why U-Net?</a:t>
            </a:r>
            <a:endParaRPr sz="1800">
              <a:solidFill>
                <a:schemeClr val="lt1"/>
              </a:solidFill>
              <a:latin typeface="Lato Black"/>
              <a:ea typeface="Lato Black"/>
              <a:cs typeface="Lato Black"/>
              <a:sym typeface="Lato Black"/>
            </a:endParaRPr>
          </a:p>
          <a:p>
            <a:pPr indent="0" lvl="0" marL="0" rtl="0" algn="l">
              <a:spcBef>
                <a:spcPts val="0"/>
              </a:spcBef>
              <a:spcAft>
                <a:spcPts val="0"/>
              </a:spcAft>
              <a:buNone/>
            </a:pPr>
            <a:r>
              <a:t/>
            </a:r>
            <a:endParaRPr sz="1800">
              <a:solidFill>
                <a:schemeClr val="lt1"/>
              </a:solidFill>
              <a:latin typeface="Lato Black"/>
              <a:ea typeface="Lato Black"/>
              <a:cs typeface="Lato Black"/>
              <a:sym typeface="Lato Black"/>
            </a:endParaRPr>
          </a:p>
        </p:txBody>
      </p:sp>
      <p:sp>
        <p:nvSpPr>
          <p:cNvPr id="385" name="Google Shape;385;g3eee98f34f1_2_0"/>
          <p:cNvSpPr/>
          <p:nvPr/>
        </p:nvSpPr>
        <p:spPr>
          <a:xfrm>
            <a:off x="278561" y="834525"/>
            <a:ext cx="2374800" cy="3904500"/>
          </a:xfrm>
          <a:prstGeom prst="roundRect">
            <a:avLst>
              <a:gd fmla="val 16667" name="adj"/>
            </a:avLst>
          </a:prstGeom>
          <a:solidFill>
            <a:srgbClr val="6BB1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86" name="Google Shape;386;g3eee98f34f1_2_0"/>
          <p:cNvSpPr txBox="1"/>
          <p:nvPr/>
        </p:nvSpPr>
        <p:spPr>
          <a:xfrm>
            <a:off x="598711" y="911675"/>
            <a:ext cx="1632900" cy="2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latin typeface="Lato"/>
                <a:ea typeface="Lato"/>
                <a:cs typeface="Lato"/>
                <a:sym typeface="Lato"/>
              </a:rPr>
              <a:t>ENCODER</a:t>
            </a:r>
            <a:endParaRPr b="1" sz="1200">
              <a:latin typeface="Lato"/>
              <a:ea typeface="Lato"/>
              <a:cs typeface="Lato"/>
              <a:sym typeface="Lato"/>
            </a:endParaRPr>
          </a:p>
          <a:p>
            <a:pPr indent="0" lvl="0" marL="0" rtl="0" algn="ctr">
              <a:spcBef>
                <a:spcPts val="0"/>
              </a:spcBef>
              <a:spcAft>
                <a:spcPts val="0"/>
              </a:spcAft>
              <a:buNone/>
            </a:pPr>
            <a:r>
              <a:rPr b="1" lang="en-US" sz="1200">
                <a:latin typeface="Lato"/>
                <a:ea typeface="Lato"/>
                <a:cs typeface="Lato"/>
                <a:sym typeface="Lato"/>
              </a:rPr>
              <a:t>EfficientNet-B0</a:t>
            </a:r>
            <a:endParaRPr b="1" sz="1200">
              <a:latin typeface="Lato"/>
              <a:ea typeface="Lato"/>
              <a:cs typeface="Lato"/>
              <a:sym typeface="Lato"/>
            </a:endParaRPr>
          </a:p>
        </p:txBody>
      </p:sp>
      <p:sp>
        <p:nvSpPr>
          <p:cNvPr id="387" name="Google Shape;387;g3eee98f34f1_2_0"/>
          <p:cNvSpPr/>
          <p:nvPr/>
        </p:nvSpPr>
        <p:spPr>
          <a:xfrm>
            <a:off x="501611" y="3696808"/>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MBConv Block 4  32×32×112</a:t>
            </a:r>
            <a:endParaRPr sz="1000">
              <a:latin typeface="Lato"/>
              <a:ea typeface="Lato"/>
              <a:cs typeface="Lato"/>
              <a:sym typeface="Lato"/>
            </a:endParaRPr>
          </a:p>
        </p:txBody>
      </p:sp>
      <p:sp>
        <p:nvSpPr>
          <p:cNvPr id="388" name="Google Shape;388;g3eee98f34f1_2_0"/>
          <p:cNvSpPr/>
          <p:nvPr/>
        </p:nvSpPr>
        <p:spPr>
          <a:xfrm>
            <a:off x="501611" y="4181689"/>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Bottleneck  16×16×320</a:t>
            </a:r>
            <a:endParaRPr sz="1000">
              <a:latin typeface="Lato"/>
              <a:ea typeface="Lato"/>
              <a:cs typeface="Lato"/>
              <a:sym typeface="Lato"/>
            </a:endParaRPr>
          </a:p>
        </p:txBody>
      </p:sp>
      <p:sp>
        <p:nvSpPr>
          <p:cNvPr id="389" name="Google Shape;389;g3eee98f34f1_2_0"/>
          <p:cNvSpPr/>
          <p:nvPr/>
        </p:nvSpPr>
        <p:spPr>
          <a:xfrm>
            <a:off x="501611" y="2727046"/>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MBConv Block 2  128×128×24</a:t>
            </a:r>
            <a:endParaRPr sz="1000">
              <a:latin typeface="Lato"/>
              <a:ea typeface="Lato"/>
              <a:cs typeface="Lato"/>
              <a:sym typeface="Lato"/>
            </a:endParaRPr>
          </a:p>
        </p:txBody>
      </p:sp>
      <p:sp>
        <p:nvSpPr>
          <p:cNvPr id="390" name="Google Shape;390;g3eee98f34f1_2_0"/>
          <p:cNvSpPr/>
          <p:nvPr/>
        </p:nvSpPr>
        <p:spPr>
          <a:xfrm>
            <a:off x="501611" y="3211927"/>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MBConv Block 3  64×64×40</a:t>
            </a:r>
            <a:endParaRPr sz="1000">
              <a:latin typeface="Lato"/>
              <a:ea typeface="Lato"/>
              <a:cs typeface="Lato"/>
              <a:sym typeface="Lato"/>
            </a:endParaRPr>
          </a:p>
        </p:txBody>
      </p:sp>
      <p:sp>
        <p:nvSpPr>
          <p:cNvPr id="391" name="Google Shape;391;g3eee98f34f1_2_0"/>
          <p:cNvSpPr/>
          <p:nvPr/>
        </p:nvSpPr>
        <p:spPr>
          <a:xfrm>
            <a:off x="501611" y="1757246"/>
            <a:ext cx="1928700" cy="379200"/>
          </a:xfrm>
          <a:prstGeom prst="roundRect">
            <a:avLst>
              <a:gd fmla="val 16667" name="adj"/>
            </a:avLst>
          </a:prstGeom>
          <a:solidFill>
            <a:srgbClr val="A1D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Lato"/>
                <a:ea typeface="Lato"/>
                <a:cs typeface="Lato"/>
                <a:sym typeface="Lato"/>
              </a:rPr>
              <a:t>Input  512×512×3</a:t>
            </a:r>
            <a:endParaRPr>
              <a:latin typeface="Lato"/>
              <a:ea typeface="Lato"/>
              <a:cs typeface="Lato"/>
              <a:sym typeface="Lato"/>
            </a:endParaRPr>
          </a:p>
        </p:txBody>
      </p:sp>
      <p:sp>
        <p:nvSpPr>
          <p:cNvPr id="392" name="Google Shape;392;g3eee98f34f1_2_0"/>
          <p:cNvSpPr/>
          <p:nvPr/>
        </p:nvSpPr>
        <p:spPr>
          <a:xfrm>
            <a:off x="501611" y="2242127"/>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MBConv Block 1  256×256×16</a:t>
            </a:r>
            <a:endParaRPr sz="1000">
              <a:latin typeface="Lato"/>
              <a:ea typeface="Lato"/>
              <a:cs typeface="Lato"/>
              <a:sym typeface="Lato"/>
            </a:endParaRPr>
          </a:p>
        </p:txBody>
      </p:sp>
      <p:sp>
        <p:nvSpPr>
          <p:cNvPr id="393" name="Google Shape;393;g3eee98f34f1_2_0"/>
          <p:cNvSpPr/>
          <p:nvPr/>
        </p:nvSpPr>
        <p:spPr>
          <a:xfrm>
            <a:off x="3832036" y="834525"/>
            <a:ext cx="2374800" cy="3904500"/>
          </a:xfrm>
          <a:prstGeom prst="roundRect">
            <a:avLst>
              <a:gd fmla="val 16667" name="adj"/>
            </a:avLst>
          </a:prstGeom>
          <a:solidFill>
            <a:srgbClr val="5088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394" name="Google Shape;394;g3eee98f34f1_2_0"/>
          <p:cNvSpPr txBox="1"/>
          <p:nvPr/>
        </p:nvSpPr>
        <p:spPr>
          <a:xfrm>
            <a:off x="4152173" y="911675"/>
            <a:ext cx="1632900" cy="2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lt1"/>
                </a:solidFill>
                <a:latin typeface="Lato"/>
                <a:ea typeface="Lato"/>
                <a:cs typeface="Lato"/>
                <a:sym typeface="Lato"/>
              </a:rPr>
              <a:t>DECODER U-Net</a:t>
            </a:r>
            <a:endParaRPr b="1" sz="1200">
              <a:solidFill>
                <a:schemeClr val="lt1"/>
              </a:solidFill>
              <a:latin typeface="Lato"/>
              <a:ea typeface="Lato"/>
              <a:cs typeface="Lato"/>
              <a:sym typeface="Lato"/>
            </a:endParaRPr>
          </a:p>
        </p:txBody>
      </p:sp>
      <p:sp>
        <p:nvSpPr>
          <p:cNvPr id="395" name="Google Shape;395;g3eee98f34f1_2_0"/>
          <p:cNvSpPr/>
          <p:nvPr/>
        </p:nvSpPr>
        <p:spPr>
          <a:xfrm>
            <a:off x="4055073" y="3203942"/>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UpConv Block 4  64×64×128</a:t>
            </a:r>
            <a:endParaRPr sz="1000">
              <a:latin typeface="Lato"/>
              <a:ea typeface="Lato"/>
              <a:cs typeface="Lato"/>
              <a:sym typeface="Lato"/>
            </a:endParaRPr>
          </a:p>
        </p:txBody>
      </p:sp>
      <p:sp>
        <p:nvSpPr>
          <p:cNvPr id="396" name="Google Shape;396;g3eee98f34f1_2_0"/>
          <p:cNvSpPr/>
          <p:nvPr/>
        </p:nvSpPr>
        <p:spPr>
          <a:xfrm>
            <a:off x="4055073" y="3688823"/>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UpConv Block 5  32×32×256</a:t>
            </a:r>
            <a:endParaRPr sz="1000">
              <a:latin typeface="Lato"/>
              <a:ea typeface="Lato"/>
              <a:cs typeface="Lato"/>
              <a:sym typeface="Lato"/>
            </a:endParaRPr>
          </a:p>
        </p:txBody>
      </p:sp>
      <p:sp>
        <p:nvSpPr>
          <p:cNvPr id="397" name="Google Shape;397;g3eee98f34f1_2_0"/>
          <p:cNvSpPr/>
          <p:nvPr/>
        </p:nvSpPr>
        <p:spPr>
          <a:xfrm>
            <a:off x="4055073" y="2234179"/>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UpConv Block 2  256×256×32</a:t>
            </a:r>
            <a:endParaRPr sz="1000">
              <a:latin typeface="Lato"/>
              <a:ea typeface="Lato"/>
              <a:cs typeface="Lato"/>
              <a:sym typeface="Lato"/>
            </a:endParaRPr>
          </a:p>
        </p:txBody>
      </p:sp>
      <p:sp>
        <p:nvSpPr>
          <p:cNvPr id="398" name="Google Shape;398;g3eee98f34f1_2_0"/>
          <p:cNvSpPr/>
          <p:nvPr/>
        </p:nvSpPr>
        <p:spPr>
          <a:xfrm>
            <a:off x="4055073" y="2719061"/>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UpConv Block 3  128×128×64</a:t>
            </a:r>
            <a:endParaRPr sz="1000">
              <a:latin typeface="Lato"/>
              <a:ea typeface="Lato"/>
              <a:cs typeface="Lato"/>
              <a:sym typeface="Lato"/>
            </a:endParaRPr>
          </a:p>
        </p:txBody>
      </p:sp>
      <p:sp>
        <p:nvSpPr>
          <p:cNvPr id="399" name="Google Shape;399;g3eee98f34f1_2_0"/>
          <p:cNvSpPr/>
          <p:nvPr/>
        </p:nvSpPr>
        <p:spPr>
          <a:xfrm>
            <a:off x="4055073" y="1251731"/>
            <a:ext cx="1928700" cy="379200"/>
          </a:xfrm>
          <a:prstGeom prst="roundRect">
            <a:avLst>
              <a:gd fmla="val 16667" name="adj"/>
            </a:avLst>
          </a:prstGeom>
          <a:solidFill>
            <a:srgbClr val="074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solidFill>
                  <a:schemeClr val="lt1"/>
                </a:solidFill>
                <a:latin typeface="Quattrocento Sans"/>
                <a:ea typeface="Quattrocento Sans"/>
                <a:cs typeface="Quattrocento Sans"/>
                <a:sym typeface="Quattrocento Sans"/>
              </a:rPr>
              <a:t>Output Mask  512×512×1</a:t>
            </a:r>
            <a:endParaRPr sz="1300">
              <a:solidFill>
                <a:schemeClr val="lt1"/>
              </a:solidFill>
              <a:latin typeface="Quattrocento Sans"/>
              <a:ea typeface="Quattrocento Sans"/>
              <a:cs typeface="Quattrocento Sans"/>
              <a:sym typeface="Quattrocento Sans"/>
            </a:endParaRPr>
          </a:p>
        </p:txBody>
      </p:sp>
      <p:sp>
        <p:nvSpPr>
          <p:cNvPr id="400" name="Google Shape;400;g3eee98f34f1_2_0"/>
          <p:cNvSpPr/>
          <p:nvPr/>
        </p:nvSpPr>
        <p:spPr>
          <a:xfrm>
            <a:off x="4055073" y="1749261"/>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UpConv Block 1  512×512×16</a:t>
            </a:r>
            <a:endParaRPr sz="1000">
              <a:latin typeface="Lato"/>
              <a:ea typeface="Lato"/>
              <a:cs typeface="Lato"/>
              <a:sym typeface="Lato"/>
            </a:endParaRPr>
          </a:p>
        </p:txBody>
      </p:sp>
      <p:cxnSp>
        <p:nvCxnSpPr>
          <p:cNvPr id="401" name="Google Shape;401;g3eee98f34f1_2_0"/>
          <p:cNvCxnSpPr>
            <a:stCxn id="391" idx="3"/>
            <a:endCxn id="400" idx="1"/>
          </p:cNvCxnSpPr>
          <p:nvPr/>
        </p:nvCxnSpPr>
        <p:spPr>
          <a:xfrm flipH="1" rot="10800000">
            <a:off x="2430311" y="1938746"/>
            <a:ext cx="1624800" cy="8100"/>
          </a:xfrm>
          <a:prstGeom prst="straightConnector1">
            <a:avLst/>
          </a:prstGeom>
          <a:noFill/>
          <a:ln cap="flat" cmpd="sng" w="9525">
            <a:solidFill>
              <a:schemeClr val="dk2"/>
            </a:solidFill>
            <a:prstDash val="dash"/>
            <a:round/>
            <a:headEnd len="med" w="med" type="none"/>
            <a:tailEnd len="med" w="med" type="none"/>
          </a:ln>
        </p:spPr>
      </p:cxnSp>
      <p:cxnSp>
        <p:nvCxnSpPr>
          <p:cNvPr id="402" name="Google Shape;402;g3eee98f34f1_2_0"/>
          <p:cNvCxnSpPr>
            <a:stCxn id="392" idx="3"/>
            <a:endCxn id="397" idx="1"/>
          </p:cNvCxnSpPr>
          <p:nvPr/>
        </p:nvCxnSpPr>
        <p:spPr>
          <a:xfrm flipH="1" rot="10800000">
            <a:off x="2430311" y="2423927"/>
            <a:ext cx="1624800" cy="7800"/>
          </a:xfrm>
          <a:prstGeom prst="straightConnector1">
            <a:avLst/>
          </a:prstGeom>
          <a:noFill/>
          <a:ln cap="flat" cmpd="sng" w="9525">
            <a:solidFill>
              <a:schemeClr val="dk2"/>
            </a:solidFill>
            <a:prstDash val="dash"/>
            <a:round/>
            <a:headEnd len="med" w="med" type="none"/>
            <a:tailEnd len="med" w="med" type="none"/>
          </a:ln>
        </p:spPr>
      </p:cxnSp>
      <p:cxnSp>
        <p:nvCxnSpPr>
          <p:cNvPr id="403" name="Google Shape;403;g3eee98f34f1_2_0"/>
          <p:cNvCxnSpPr>
            <a:stCxn id="389" idx="3"/>
            <a:endCxn id="398" idx="1"/>
          </p:cNvCxnSpPr>
          <p:nvPr/>
        </p:nvCxnSpPr>
        <p:spPr>
          <a:xfrm flipH="1" rot="10800000">
            <a:off x="2430311" y="2908546"/>
            <a:ext cx="1624800" cy="8100"/>
          </a:xfrm>
          <a:prstGeom prst="straightConnector1">
            <a:avLst/>
          </a:prstGeom>
          <a:noFill/>
          <a:ln cap="flat" cmpd="sng" w="9525">
            <a:solidFill>
              <a:schemeClr val="dk2"/>
            </a:solidFill>
            <a:prstDash val="dash"/>
            <a:round/>
            <a:headEnd len="med" w="med" type="none"/>
            <a:tailEnd len="med" w="med" type="none"/>
          </a:ln>
        </p:spPr>
      </p:cxnSp>
      <p:cxnSp>
        <p:nvCxnSpPr>
          <p:cNvPr id="404" name="Google Shape;404;g3eee98f34f1_2_0"/>
          <p:cNvCxnSpPr>
            <a:stCxn id="390" idx="3"/>
            <a:endCxn id="395" idx="1"/>
          </p:cNvCxnSpPr>
          <p:nvPr/>
        </p:nvCxnSpPr>
        <p:spPr>
          <a:xfrm flipH="1" rot="10800000">
            <a:off x="2430311" y="3393427"/>
            <a:ext cx="1624800" cy="8100"/>
          </a:xfrm>
          <a:prstGeom prst="straightConnector1">
            <a:avLst/>
          </a:prstGeom>
          <a:noFill/>
          <a:ln cap="flat" cmpd="sng" w="9525">
            <a:solidFill>
              <a:schemeClr val="dk2"/>
            </a:solidFill>
            <a:prstDash val="dash"/>
            <a:round/>
            <a:headEnd len="med" w="med" type="none"/>
            <a:tailEnd len="med" w="med" type="none"/>
          </a:ln>
        </p:spPr>
      </p:cxnSp>
      <p:cxnSp>
        <p:nvCxnSpPr>
          <p:cNvPr id="405" name="Google Shape;405;g3eee98f34f1_2_0"/>
          <p:cNvCxnSpPr>
            <a:stCxn id="387" idx="3"/>
            <a:endCxn id="396" idx="1"/>
          </p:cNvCxnSpPr>
          <p:nvPr/>
        </p:nvCxnSpPr>
        <p:spPr>
          <a:xfrm flipH="1" rot="10800000">
            <a:off x="2430311" y="3878308"/>
            <a:ext cx="1624800" cy="8100"/>
          </a:xfrm>
          <a:prstGeom prst="straightConnector1">
            <a:avLst/>
          </a:prstGeom>
          <a:noFill/>
          <a:ln cap="flat" cmpd="sng" w="9525">
            <a:solidFill>
              <a:schemeClr val="dk2"/>
            </a:solidFill>
            <a:prstDash val="dash"/>
            <a:round/>
            <a:headEnd len="med" w="med" type="none"/>
            <a:tailEnd len="med" w="med" type="none"/>
          </a:ln>
        </p:spPr>
      </p:cxnSp>
      <p:sp>
        <p:nvSpPr>
          <p:cNvPr id="406" name="Google Shape;406;g3eee98f34f1_2_0"/>
          <p:cNvSpPr txBox="1"/>
          <p:nvPr/>
        </p:nvSpPr>
        <p:spPr>
          <a:xfrm>
            <a:off x="2428886" y="2589650"/>
            <a:ext cx="1632900" cy="2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latin typeface="Lato"/>
                <a:ea typeface="Lato"/>
                <a:cs typeface="Lato"/>
                <a:sym typeface="Lato"/>
              </a:rPr>
              <a:t>Skip Connections</a:t>
            </a:r>
            <a:endParaRPr sz="1100">
              <a:latin typeface="Lato"/>
              <a:ea typeface="Lato"/>
              <a:cs typeface="Lato"/>
              <a:sym typeface="Lato"/>
            </a:endParaRPr>
          </a:p>
        </p:txBody>
      </p:sp>
      <p:sp>
        <p:nvSpPr>
          <p:cNvPr id="407" name="Google Shape;407;g3eee98f34f1_2_0"/>
          <p:cNvSpPr/>
          <p:nvPr/>
        </p:nvSpPr>
        <p:spPr>
          <a:xfrm>
            <a:off x="4055073" y="4173698"/>
            <a:ext cx="1928700" cy="379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latin typeface="Lato"/>
                <a:ea typeface="Lato"/>
                <a:cs typeface="Lato"/>
                <a:sym typeface="Lato"/>
              </a:rPr>
              <a:t>Transposed Conv 32×32×256</a:t>
            </a:r>
            <a:endParaRPr sz="1000">
              <a:latin typeface="Lato"/>
              <a:ea typeface="Lato"/>
              <a:cs typeface="Lato"/>
              <a:sym typeface="Lato"/>
            </a:endParaRPr>
          </a:p>
        </p:txBody>
      </p:sp>
      <p:sp>
        <p:nvSpPr>
          <p:cNvPr id="408" name="Google Shape;408;g3eee98f34f1_2_0"/>
          <p:cNvSpPr/>
          <p:nvPr/>
        </p:nvSpPr>
        <p:spPr>
          <a:xfrm>
            <a:off x="2494461" y="4296775"/>
            <a:ext cx="1462200" cy="177000"/>
          </a:xfrm>
          <a:prstGeom prst="right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09" name="Google Shape;409;g3eee98f34f1_2_0"/>
          <p:cNvSpPr/>
          <p:nvPr/>
        </p:nvSpPr>
        <p:spPr>
          <a:xfrm>
            <a:off x="102377" y="2423921"/>
            <a:ext cx="393900" cy="2193600"/>
          </a:xfrm>
          <a:prstGeom prst="downArrow">
            <a:avLst>
              <a:gd fmla="val 50000" name="adj1"/>
              <a:gd fmla="val 50000" name="adj2"/>
            </a:avLst>
          </a:prstGeom>
          <a:solidFill>
            <a:schemeClr val="lt2"/>
          </a:solidFill>
          <a:ln cap="flat" cmpd="sng" w="8650">
            <a:solidFill>
              <a:schemeClr val="dk2"/>
            </a:solidFill>
            <a:prstDash val="solid"/>
            <a:round/>
            <a:headEnd len="sm" w="sm" type="none"/>
            <a:tailEnd len="sm" w="sm" type="none"/>
          </a:ln>
        </p:spPr>
        <p:txBody>
          <a:bodyPr anchorCtr="0" anchor="ctr" bIns="83075" lIns="83075" spcFirstLastPara="1" rIns="83075" wrap="square" tIns="83075">
            <a:noAutofit/>
          </a:bodyPr>
          <a:lstStyle/>
          <a:p>
            <a:pPr indent="0" lvl="0" marL="0" rtl="0" algn="l">
              <a:spcBef>
                <a:spcPts val="0"/>
              </a:spcBef>
              <a:spcAft>
                <a:spcPts val="0"/>
              </a:spcAft>
              <a:buNone/>
            </a:pPr>
            <a:r>
              <a:t/>
            </a:r>
            <a:endParaRPr sz="1091">
              <a:latin typeface="Lato"/>
              <a:ea typeface="Lato"/>
              <a:cs typeface="Lato"/>
              <a:sym typeface="Lato"/>
            </a:endParaRPr>
          </a:p>
        </p:txBody>
      </p:sp>
      <p:sp>
        <p:nvSpPr>
          <p:cNvPr id="410" name="Google Shape;410;g3eee98f34f1_2_0"/>
          <p:cNvSpPr txBox="1"/>
          <p:nvPr/>
        </p:nvSpPr>
        <p:spPr>
          <a:xfrm>
            <a:off x="184041" y="2458295"/>
            <a:ext cx="106200" cy="1875900"/>
          </a:xfrm>
          <a:prstGeom prst="rect">
            <a:avLst/>
          </a:prstGeom>
          <a:noFill/>
          <a:ln>
            <a:noFill/>
          </a:ln>
        </p:spPr>
        <p:txBody>
          <a:bodyPr anchorCtr="0" anchor="t" bIns="83075" lIns="83075" spcFirstLastPara="1" rIns="83075" wrap="square" tIns="83075">
            <a:noAutofit/>
          </a:bodyPr>
          <a:lstStyle/>
          <a:p>
            <a:pPr indent="0" lvl="0" marL="0" rtl="0" algn="l">
              <a:spcBef>
                <a:spcPts val="0"/>
              </a:spcBef>
              <a:spcAft>
                <a:spcPts val="0"/>
              </a:spcAft>
              <a:buNone/>
            </a:pPr>
            <a:r>
              <a:rPr lang="en-US" sz="1000">
                <a:latin typeface="Lato"/>
                <a:ea typeface="Lato"/>
                <a:cs typeface="Lato"/>
                <a:sym typeface="Lato"/>
              </a:rPr>
              <a:t>Strided </a:t>
            </a:r>
            <a:endParaRPr sz="1000">
              <a:latin typeface="Lato"/>
              <a:ea typeface="Lato"/>
              <a:cs typeface="Lato"/>
              <a:sym typeface="Lato"/>
            </a:endParaRPr>
          </a:p>
          <a:p>
            <a:pPr indent="0" lvl="0" marL="0" rtl="0" algn="l">
              <a:spcBef>
                <a:spcPts val="0"/>
              </a:spcBef>
              <a:spcAft>
                <a:spcPts val="0"/>
              </a:spcAft>
              <a:buNone/>
            </a:pPr>
            <a:r>
              <a:t/>
            </a:r>
            <a:endParaRPr sz="1000">
              <a:latin typeface="Lato"/>
              <a:ea typeface="Lato"/>
              <a:cs typeface="Lato"/>
              <a:sym typeface="Lato"/>
            </a:endParaRPr>
          </a:p>
          <a:p>
            <a:pPr indent="0" lvl="0" marL="0" rtl="0" algn="l">
              <a:spcBef>
                <a:spcPts val="0"/>
              </a:spcBef>
              <a:spcAft>
                <a:spcPts val="0"/>
              </a:spcAft>
              <a:buNone/>
            </a:pPr>
            <a:r>
              <a:rPr lang="en-US" sz="1000">
                <a:latin typeface="Lato"/>
                <a:ea typeface="Lato"/>
                <a:cs typeface="Lato"/>
                <a:sym typeface="Lato"/>
              </a:rPr>
              <a:t>conv</a:t>
            </a:r>
            <a:endParaRPr sz="1000">
              <a:latin typeface="Lato"/>
              <a:ea typeface="Lato"/>
              <a:cs typeface="Lato"/>
              <a:sym typeface="Lato"/>
            </a:endParaRPr>
          </a:p>
        </p:txBody>
      </p:sp>
      <p:sp>
        <p:nvSpPr>
          <p:cNvPr id="411" name="Google Shape;411;g3eee98f34f1_2_0"/>
          <p:cNvSpPr/>
          <p:nvPr/>
        </p:nvSpPr>
        <p:spPr>
          <a:xfrm>
            <a:off x="5989132" y="1836961"/>
            <a:ext cx="433500" cy="27921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Quattrocento Sans"/>
                <a:ea typeface="Quattrocento Sans"/>
                <a:cs typeface="Quattrocento Sans"/>
                <a:sym typeface="Quattrocento Sans"/>
              </a:rPr>
              <a:t>transpos</a:t>
            </a:r>
            <a:endParaRPr sz="1200">
              <a:latin typeface="Quattrocento Sans"/>
              <a:ea typeface="Quattrocento Sans"/>
              <a:cs typeface="Quattrocento Sans"/>
              <a:sym typeface="Quattrocento Sans"/>
            </a:endParaRPr>
          </a:p>
          <a:p>
            <a:pPr indent="0" lvl="0" marL="0" rtl="0" algn="ctr">
              <a:spcBef>
                <a:spcPts val="0"/>
              </a:spcBef>
              <a:spcAft>
                <a:spcPts val="0"/>
              </a:spcAft>
              <a:buNone/>
            </a:pPr>
            <a:r>
              <a:rPr lang="en-US" sz="1200">
                <a:latin typeface="Quattrocento Sans"/>
                <a:ea typeface="Quattrocento Sans"/>
                <a:cs typeface="Quattrocento Sans"/>
                <a:sym typeface="Quattrocento Sans"/>
              </a:rPr>
              <a:t>e</a:t>
            </a:r>
            <a:endParaRPr sz="1200">
              <a:latin typeface="Quattrocento Sans"/>
              <a:ea typeface="Quattrocento Sans"/>
              <a:cs typeface="Quattrocento Sans"/>
              <a:sym typeface="Quattrocento Sans"/>
            </a:endParaRPr>
          </a:p>
          <a:p>
            <a:pPr indent="0" lvl="0" marL="0" rtl="0" algn="ctr">
              <a:spcBef>
                <a:spcPts val="0"/>
              </a:spcBef>
              <a:spcAft>
                <a:spcPts val="0"/>
              </a:spcAft>
              <a:buNone/>
            </a:pPr>
            <a:r>
              <a:t/>
            </a:r>
            <a:endParaRPr sz="1200">
              <a:latin typeface="Quattrocento Sans"/>
              <a:ea typeface="Quattrocento Sans"/>
              <a:cs typeface="Quattrocento Sans"/>
              <a:sym typeface="Quattrocento Sans"/>
            </a:endParaRPr>
          </a:p>
          <a:p>
            <a:pPr indent="0" lvl="0" marL="0" rtl="0" algn="ctr">
              <a:spcBef>
                <a:spcPts val="0"/>
              </a:spcBef>
              <a:spcAft>
                <a:spcPts val="0"/>
              </a:spcAft>
              <a:buNone/>
            </a:pPr>
            <a:r>
              <a:rPr lang="en-US" sz="1200">
                <a:latin typeface="Quattrocento Sans"/>
                <a:ea typeface="Quattrocento Sans"/>
                <a:cs typeface="Quattrocento Sans"/>
                <a:sym typeface="Quattrocento Sans"/>
              </a:rPr>
              <a:t>conv</a:t>
            </a:r>
            <a:endParaRPr sz="1200">
              <a:latin typeface="Quattrocento Sans"/>
              <a:ea typeface="Quattrocento Sans"/>
              <a:cs typeface="Quattrocento Sans"/>
              <a:sym typeface="Quattrocento Sans"/>
            </a:endParaRPr>
          </a:p>
        </p:txBody>
      </p:sp>
      <p:sp>
        <p:nvSpPr>
          <p:cNvPr id="412" name="Google Shape;412;g3eee98f34f1_2_0"/>
          <p:cNvSpPr/>
          <p:nvPr/>
        </p:nvSpPr>
        <p:spPr>
          <a:xfrm flipH="1" rot="10800000">
            <a:off x="3578675" y="1455975"/>
            <a:ext cx="433500" cy="535200"/>
          </a:xfrm>
          <a:prstGeom prst="curvedRightArrow">
            <a:avLst>
              <a:gd fmla="val 25000" name="adj1"/>
              <a:gd fmla="val 50000" name="adj2"/>
              <a:gd fmla="val 25000" name="adj3"/>
            </a:avLst>
          </a:prstGeom>
          <a:solidFill>
            <a:srgbClr val="A1D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13" name="Google Shape;413;g3eee98f34f1_2_0"/>
          <p:cNvSpPr/>
          <p:nvPr/>
        </p:nvSpPr>
        <p:spPr>
          <a:xfrm flipH="1">
            <a:off x="2430300" y="1904100"/>
            <a:ext cx="393900" cy="625200"/>
          </a:xfrm>
          <a:prstGeom prst="curvedRightArrow">
            <a:avLst>
              <a:gd fmla="val 25000" name="adj1"/>
              <a:gd fmla="val 50000" name="adj2"/>
              <a:gd fmla="val 25000" name="adj3"/>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14" name="Google Shape;414;g3eee98f34f1_2_0"/>
          <p:cNvSpPr/>
          <p:nvPr/>
        </p:nvSpPr>
        <p:spPr>
          <a:xfrm>
            <a:off x="3256863" y="1082475"/>
            <a:ext cx="653100" cy="379200"/>
          </a:xfrm>
          <a:prstGeom prst="roundRect">
            <a:avLst>
              <a:gd fmla="val 16667" name="adj"/>
            </a:avLst>
          </a:prstGeom>
          <a:solidFill>
            <a:srgbClr val="A1D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15" name="Google Shape;415;g3eee98f34f1_2_0"/>
          <p:cNvSpPr txBox="1"/>
          <p:nvPr/>
        </p:nvSpPr>
        <p:spPr>
          <a:xfrm>
            <a:off x="3199544" y="1012259"/>
            <a:ext cx="8463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latin typeface="Lato"/>
                <a:ea typeface="Lato"/>
                <a:cs typeface="Lato"/>
                <a:sym typeface="Lato"/>
              </a:rPr>
              <a:t>1x1 conv </a:t>
            </a:r>
            <a:endParaRPr sz="1100">
              <a:latin typeface="Lato"/>
              <a:ea typeface="Lato"/>
              <a:cs typeface="Lato"/>
              <a:sym typeface="Lato"/>
            </a:endParaRPr>
          </a:p>
          <a:p>
            <a:pPr indent="0" lvl="0" marL="0" rtl="0" algn="l">
              <a:spcBef>
                <a:spcPts val="0"/>
              </a:spcBef>
              <a:spcAft>
                <a:spcPts val="0"/>
              </a:spcAft>
              <a:buNone/>
            </a:pPr>
            <a:r>
              <a:rPr lang="en-US" sz="1100">
                <a:latin typeface="Lato"/>
                <a:ea typeface="Lato"/>
                <a:cs typeface="Lato"/>
                <a:sym typeface="Lato"/>
              </a:rPr>
              <a:t>+ sigmoid </a:t>
            </a:r>
            <a:endParaRPr sz="1100">
              <a:latin typeface="Lato"/>
              <a:ea typeface="Lato"/>
              <a:cs typeface="Lato"/>
              <a:sym typeface="Lato"/>
            </a:endParaRPr>
          </a:p>
        </p:txBody>
      </p:sp>
      <p:sp>
        <p:nvSpPr>
          <p:cNvPr id="416" name="Google Shape;416;g3eee98f34f1_2_0"/>
          <p:cNvSpPr/>
          <p:nvPr/>
        </p:nvSpPr>
        <p:spPr>
          <a:xfrm>
            <a:off x="2469175" y="1493288"/>
            <a:ext cx="653100" cy="3792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17" name="Google Shape;417;g3eee98f34f1_2_0"/>
          <p:cNvSpPr txBox="1"/>
          <p:nvPr/>
        </p:nvSpPr>
        <p:spPr>
          <a:xfrm>
            <a:off x="2428866" y="1423071"/>
            <a:ext cx="8463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chemeClr val="lt1"/>
                </a:solidFill>
                <a:latin typeface="Lato"/>
                <a:ea typeface="Lato"/>
                <a:cs typeface="Lato"/>
                <a:sym typeface="Lato"/>
              </a:rPr>
              <a:t>Strided 3x3 conv</a:t>
            </a:r>
            <a:endParaRPr sz="1100">
              <a:solidFill>
                <a:schemeClr val="lt1"/>
              </a:solidFill>
              <a:latin typeface="Lato"/>
              <a:ea typeface="Lato"/>
              <a:cs typeface="Lato"/>
              <a:sym typeface="Lato"/>
            </a:endParaRPr>
          </a:p>
        </p:txBody>
      </p:sp>
      <p:sp>
        <p:nvSpPr>
          <p:cNvPr id="418" name="Google Shape;418;g3eee98f34f1_2_0"/>
          <p:cNvSpPr/>
          <p:nvPr/>
        </p:nvSpPr>
        <p:spPr>
          <a:xfrm>
            <a:off x="2653350" y="4504035"/>
            <a:ext cx="1178700" cy="2679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19" name="Google Shape;419;g3eee98f34f1_2_0"/>
          <p:cNvSpPr txBox="1"/>
          <p:nvPr/>
        </p:nvSpPr>
        <p:spPr>
          <a:xfrm>
            <a:off x="2674243" y="4456893"/>
            <a:ext cx="11787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chemeClr val="dk2"/>
                </a:solidFill>
                <a:latin typeface="Lato"/>
                <a:ea typeface="Lato"/>
                <a:cs typeface="Lato"/>
                <a:sym typeface="Lato"/>
              </a:rPr>
              <a:t>Transpose conv</a:t>
            </a:r>
            <a:endParaRPr sz="1100">
              <a:solidFill>
                <a:schemeClr val="dk2"/>
              </a:solidFill>
              <a:latin typeface="Lato"/>
              <a:ea typeface="Lato"/>
              <a:cs typeface="Lato"/>
              <a:sym typeface="Lato"/>
            </a:endParaRPr>
          </a:p>
        </p:txBody>
      </p:sp>
      <p:sp>
        <p:nvSpPr>
          <p:cNvPr id="420" name="Google Shape;420;g3eee98f34f1_2_0"/>
          <p:cNvSpPr/>
          <p:nvPr/>
        </p:nvSpPr>
        <p:spPr>
          <a:xfrm>
            <a:off x="6596075" y="1423075"/>
            <a:ext cx="2266500" cy="3206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1100">
                <a:solidFill>
                  <a:schemeClr val="lt1"/>
                </a:solidFill>
                <a:highlight>
                  <a:schemeClr val="accent5"/>
                </a:highlight>
                <a:latin typeface="Lato"/>
                <a:ea typeface="Lato"/>
                <a:cs typeface="Lato"/>
                <a:sym typeface="Lato"/>
              </a:rPr>
              <a:t>Medical standard </a:t>
            </a:r>
            <a:endParaRPr b="1" sz="1100">
              <a:solidFill>
                <a:schemeClr val="lt1"/>
              </a:solidFill>
              <a:highlight>
                <a:schemeClr val="accent5"/>
              </a:highlight>
              <a:latin typeface="Lato"/>
              <a:ea typeface="Lato"/>
              <a:cs typeface="Lato"/>
              <a:sym typeface="Lato"/>
            </a:endParaRPr>
          </a:p>
          <a:p>
            <a:pPr indent="0" lvl="0" marL="0" rtl="0" algn="l">
              <a:spcBef>
                <a:spcPts val="0"/>
              </a:spcBef>
              <a:spcAft>
                <a:spcPts val="0"/>
              </a:spcAft>
              <a:buNone/>
            </a:pPr>
            <a:r>
              <a:rPr lang="en-US" sz="1100">
                <a:latin typeface="Lato"/>
                <a:ea typeface="Lato"/>
                <a:cs typeface="Lato"/>
                <a:sym typeface="Lato"/>
              </a:rPr>
              <a:t>Proven architecture for biomedical semantic segmentation</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p>
            <a:pPr indent="0" lvl="0" marL="0" rtl="0" algn="l">
              <a:spcBef>
                <a:spcPts val="0"/>
              </a:spcBef>
              <a:spcAft>
                <a:spcPts val="0"/>
              </a:spcAft>
              <a:buNone/>
            </a:pPr>
            <a:r>
              <a:rPr b="1" lang="en-US" sz="1100">
                <a:solidFill>
                  <a:schemeClr val="lt1"/>
                </a:solidFill>
                <a:highlight>
                  <a:schemeClr val="accent5"/>
                </a:highlight>
                <a:latin typeface="Lato"/>
                <a:ea typeface="Lato"/>
                <a:cs typeface="Lato"/>
                <a:sym typeface="Lato"/>
              </a:rPr>
              <a:t>Skip connections </a:t>
            </a:r>
            <a:endParaRPr b="1" sz="1100">
              <a:solidFill>
                <a:schemeClr val="lt1"/>
              </a:solidFill>
              <a:highlight>
                <a:schemeClr val="accent5"/>
              </a:highlight>
              <a:latin typeface="Lato"/>
              <a:ea typeface="Lato"/>
              <a:cs typeface="Lato"/>
              <a:sym typeface="Lato"/>
            </a:endParaRPr>
          </a:p>
          <a:p>
            <a:pPr indent="0" lvl="0" marL="0" rtl="0" algn="l">
              <a:spcBef>
                <a:spcPts val="0"/>
              </a:spcBef>
              <a:spcAft>
                <a:spcPts val="0"/>
              </a:spcAft>
              <a:buNone/>
            </a:pPr>
            <a:r>
              <a:rPr lang="en-US" sz="1100">
                <a:latin typeface="Lato"/>
                <a:ea typeface="Lato"/>
                <a:cs typeface="Lato"/>
                <a:sym typeface="Lato"/>
              </a:rPr>
              <a:t>Bridges early high-res features directly to decoder</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p>
            <a:pPr indent="0" lvl="0" marL="0" rtl="0" algn="l">
              <a:spcBef>
                <a:spcPts val="0"/>
              </a:spcBef>
              <a:spcAft>
                <a:spcPts val="0"/>
              </a:spcAft>
              <a:buNone/>
            </a:pPr>
            <a:r>
              <a:rPr b="1" lang="en-US" sz="1100">
                <a:solidFill>
                  <a:schemeClr val="lt1"/>
                </a:solidFill>
                <a:highlight>
                  <a:schemeClr val="accent5"/>
                </a:highlight>
                <a:latin typeface="Lato"/>
                <a:ea typeface="Lato"/>
                <a:cs typeface="Lato"/>
                <a:sym typeface="Lato"/>
              </a:rPr>
              <a:t>Spatial precision</a:t>
            </a:r>
            <a:endParaRPr b="1" sz="1100">
              <a:solidFill>
                <a:schemeClr val="lt1"/>
              </a:solidFill>
              <a:highlight>
                <a:schemeClr val="accent5"/>
              </a:highlight>
              <a:latin typeface="Lato"/>
              <a:ea typeface="Lato"/>
              <a:cs typeface="Lato"/>
              <a:sym typeface="Lato"/>
            </a:endParaRPr>
          </a:p>
          <a:p>
            <a:pPr indent="0" lvl="0" marL="0" rtl="0" algn="l">
              <a:spcBef>
                <a:spcPts val="0"/>
              </a:spcBef>
              <a:spcAft>
                <a:spcPts val="0"/>
              </a:spcAft>
              <a:buNone/>
            </a:pPr>
            <a:r>
              <a:rPr lang="en-US" sz="1100">
                <a:latin typeface="Lato"/>
                <a:ea typeface="Lato"/>
                <a:cs typeface="Lato"/>
                <a:sym typeface="Lato"/>
              </a:rPr>
              <a:t>Recovers exact pixel positions lost during downsampling</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p>
            <a:pPr indent="0" lvl="0" marL="0" rtl="0" algn="l">
              <a:spcBef>
                <a:spcPts val="0"/>
              </a:spcBef>
              <a:spcAft>
                <a:spcPts val="0"/>
              </a:spcAft>
              <a:buNone/>
            </a:pPr>
            <a:r>
              <a:rPr b="1" lang="en-US" sz="1100">
                <a:solidFill>
                  <a:schemeClr val="lt1"/>
                </a:solidFill>
                <a:highlight>
                  <a:schemeClr val="accent5"/>
                </a:highlight>
                <a:latin typeface="Lato"/>
                <a:ea typeface="Lato"/>
                <a:cs typeface="Lato"/>
                <a:sym typeface="Lato"/>
              </a:rPr>
              <a:t>Critical for pneumothorax</a:t>
            </a:r>
            <a:r>
              <a:rPr lang="en-US" sz="1100">
                <a:latin typeface="Lato"/>
                <a:ea typeface="Lato"/>
                <a:cs typeface="Lato"/>
                <a:sym typeface="Lato"/>
              </a:rPr>
              <a:t> Accurately captures thin, irregular pleural air pockets</a:t>
            </a:r>
            <a:endParaRPr sz="1100">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eee170d97a_0_196"/>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Tackling Class Imbalance </a:t>
            </a:r>
            <a:endParaRPr/>
          </a:p>
        </p:txBody>
      </p:sp>
      <p:sp>
        <p:nvSpPr>
          <p:cNvPr id="426" name="Google Shape;426;g3eee170d97a_0_196"/>
          <p:cNvSpPr txBox="1"/>
          <p:nvPr/>
        </p:nvSpPr>
        <p:spPr>
          <a:xfrm>
            <a:off x="5701950" y="1007035"/>
            <a:ext cx="31605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Lato Black"/>
                <a:ea typeface="Lato Black"/>
                <a:cs typeface="Lato Black"/>
                <a:sym typeface="Lato Black"/>
              </a:rPr>
              <a:t>Why U-Net?</a:t>
            </a:r>
            <a:endParaRPr sz="1800">
              <a:solidFill>
                <a:schemeClr val="lt1"/>
              </a:solidFill>
              <a:latin typeface="Lato Black"/>
              <a:ea typeface="Lato Black"/>
              <a:cs typeface="Lato Black"/>
              <a:sym typeface="Lato Black"/>
            </a:endParaRPr>
          </a:p>
          <a:p>
            <a:pPr indent="0" lvl="0" marL="0" rtl="0" algn="l">
              <a:spcBef>
                <a:spcPts val="0"/>
              </a:spcBef>
              <a:spcAft>
                <a:spcPts val="0"/>
              </a:spcAft>
              <a:buNone/>
            </a:pPr>
            <a:r>
              <a:t/>
            </a:r>
            <a:endParaRPr sz="1800">
              <a:solidFill>
                <a:schemeClr val="lt1"/>
              </a:solidFill>
              <a:latin typeface="Lato Black"/>
              <a:ea typeface="Lato Black"/>
              <a:cs typeface="Lato Black"/>
              <a:sym typeface="Lato Black"/>
            </a:endParaRPr>
          </a:p>
        </p:txBody>
      </p:sp>
      <p:sp>
        <p:nvSpPr>
          <p:cNvPr id="427" name="Google Shape;427;g3eee170d97a_0_196"/>
          <p:cNvSpPr/>
          <p:nvPr/>
        </p:nvSpPr>
        <p:spPr>
          <a:xfrm>
            <a:off x="353850" y="985725"/>
            <a:ext cx="5459400" cy="3588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28" name="Google Shape;428;g3eee170d97a_0_196"/>
          <p:cNvSpPr/>
          <p:nvPr/>
        </p:nvSpPr>
        <p:spPr>
          <a:xfrm>
            <a:off x="6015500" y="998740"/>
            <a:ext cx="2793000" cy="3588600"/>
          </a:xfrm>
          <a:prstGeom prst="roundRect">
            <a:avLst>
              <a:gd fmla="val 16667" name="adj"/>
            </a:avLst>
          </a:prstGeom>
          <a:solidFill>
            <a:srgbClr val="A1DB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29" name="Google Shape;429;g3eee170d97a_0_196"/>
          <p:cNvSpPr/>
          <p:nvPr/>
        </p:nvSpPr>
        <p:spPr>
          <a:xfrm>
            <a:off x="682425" y="1200575"/>
            <a:ext cx="2350500" cy="3033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latin typeface="Quattrocento Sans"/>
                <a:ea typeface="Quattrocento Sans"/>
                <a:cs typeface="Quattrocento Sans"/>
                <a:sym typeface="Quattrocento Sans"/>
              </a:rPr>
              <a:t>Focal Tversky Loss (FTL)</a:t>
            </a:r>
            <a:endParaRPr b="1">
              <a:solidFill>
                <a:schemeClr val="lt1"/>
              </a:solidFill>
              <a:latin typeface="Quattrocento Sans"/>
              <a:ea typeface="Quattrocento Sans"/>
              <a:cs typeface="Quattrocento Sans"/>
              <a:sym typeface="Quattrocento Sans"/>
            </a:endParaRPr>
          </a:p>
        </p:txBody>
      </p:sp>
      <p:sp>
        <p:nvSpPr>
          <p:cNvPr id="430" name="Google Shape;430;g3eee170d97a_0_196"/>
          <p:cNvSpPr/>
          <p:nvPr/>
        </p:nvSpPr>
        <p:spPr>
          <a:xfrm>
            <a:off x="707700" y="1706075"/>
            <a:ext cx="4726500" cy="535200"/>
          </a:xfrm>
          <a:prstGeom prst="roundRect">
            <a:avLst>
              <a:gd fmla="val 16667" name="adj"/>
            </a:avLst>
          </a:prstGeom>
          <a:solidFill>
            <a:srgbClr val="FDCBC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US" sz="1100">
                <a:solidFill>
                  <a:schemeClr val="lt1"/>
                </a:solidFill>
                <a:highlight>
                  <a:srgbClr val="FF0000"/>
                </a:highlight>
                <a:latin typeface="Lato"/>
                <a:ea typeface="Lato"/>
                <a:cs typeface="Lato"/>
                <a:sym typeface="Lato"/>
              </a:rPr>
              <a:t>BCE Loss</a:t>
            </a:r>
            <a:r>
              <a:rPr lang="en-US" sz="1100">
                <a:latin typeface="Lato"/>
                <a:ea typeface="Lato"/>
                <a:cs typeface="Lato"/>
                <a:sym typeface="Lato"/>
              </a:rPr>
              <a:t> : equal weight per pixel → dominated by 98% background → predicts background everywhere</a:t>
            </a:r>
            <a:endParaRPr sz="1100">
              <a:latin typeface="Lato"/>
              <a:ea typeface="Lato"/>
              <a:cs typeface="Lato"/>
              <a:sym typeface="Lato"/>
            </a:endParaRPr>
          </a:p>
        </p:txBody>
      </p:sp>
      <p:sp>
        <p:nvSpPr>
          <p:cNvPr id="431" name="Google Shape;431;g3eee170d97a_0_196"/>
          <p:cNvSpPr/>
          <p:nvPr/>
        </p:nvSpPr>
        <p:spPr>
          <a:xfrm>
            <a:off x="707700" y="2443475"/>
            <a:ext cx="4726500" cy="535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US" sz="1100">
                <a:solidFill>
                  <a:schemeClr val="dk2"/>
                </a:solidFill>
                <a:highlight>
                  <a:srgbClr val="FFFF00"/>
                </a:highlight>
                <a:latin typeface="Lato"/>
                <a:ea typeface="Lato"/>
                <a:cs typeface="Lato"/>
                <a:sym typeface="Lato"/>
              </a:rPr>
              <a:t>Dice Loss</a:t>
            </a:r>
            <a:r>
              <a:rPr b="1" lang="en-US" sz="1100">
                <a:solidFill>
                  <a:schemeClr val="lt1"/>
                </a:solidFill>
                <a:latin typeface="Lato"/>
                <a:ea typeface="Lato"/>
                <a:cs typeface="Lato"/>
                <a:sym typeface="Lato"/>
              </a:rPr>
              <a:t> </a:t>
            </a:r>
            <a:r>
              <a:rPr lang="en-US" sz="1100">
                <a:latin typeface="Lato"/>
                <a:ea typeface="Lato"/>
                <a:cs typeface="Lato"/>
                <a:sym typeface="Lato"/>
              </a:rPr>
              <a:t>: better but weighs FP = FN equally. Clinically, False Negatives (missed lesion) are more dangerous.</a:t>
            </a:r>
            <a:endParaRPr sz="1100">
              <a:latin typeface="Lato"/>
              <a:ea typeface="Lato"/>
              <a:cs typeface="Lato"/>
              <a:sym typeface="Lato"/>
            </a:endParaRPr>
          </a:p>
        </p:txBody>
      </p:sp>
      <p:sp>
        <p:nvSpPr>
          <p:cNvPr id="432" name="Google Shape;432;g3eee170d97a_0_196"/>
          <p:cNvSpPr/>
          <p:nvPr/>
        </p:nvSpPr>
        <p:spPr>
          <a:xfrm>
            <a:off x="707700" y="3180875"/>
            <a:ext cx="4726500" cy="535200"/>
          </a:xfrm>
          <a:prstGeom prst="roundRect">
            <a:avLst>
              <a:gd fmla="val 16667"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US" sz="1100">
                <a:solidFill>
                  <a:schemeClr val="lt1"/>
                </a:solidFill>
                <a:highlight>
                  <a:srgbClr val="38761D"/>
                </a:highlight>
                <a:latin typeface="Lato"/>
                <a:ea typeface="Lato"/>
                <a:cs typeface="Lato"/>
                <a:sym typeface="Lato"/>
              </a:rPr>
              <a:t>Focal Tversky</a:t>
            </a:r>
            <a:r>
              <a:rPr lang="en-US" sz="1100">
                <a:latin typeface="Lato"/>
                <a:ea typeface="Lato"/>
                <a:cs typeface="Lato"/>
                <a:sym typeface="Lato"/>
              </a:rPr>
              <a:t> (α=0.7, β=0.3, γ=4/3) : 70% penalty on FN (missed lesions). Upweights hard-to-classify small regions via γ.</a:t>
            </a:r>
            <a:endParaRPr sz="1100">
              <a:latin typeface="Lato"/>
              <a:ea typeface="Lato"/>
              <a:cs typeface="Lato"/>
              <a:sym typeface="Lato"/>
            </a:endParaRPr>
          </a:p>
        </p:txBody>
      </p:sp>
      <p:sp>
        <p:nvSpPr>
          <p:cNvPr id="433" name="Google Shape;433;g3eee170d97a_0_196"/>
          <p:cNvSpPr/>
          <p:nvPr/>
        </p:nvSpPr>
        <p:spPr>
          <a:xfrm>
            <a:off x="720300" y="3918275"/>
            <a:ext cx="4726500" cy="3792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solidFill>
                  <a:schemeClr val="lt1"/>
                </a:solidFill>
                <a:latin typeface="Lato Black"/>
                <a:ea typeface="Lato Black"/>
                <a:cs typeface="Lato Black"/>
                <a:sym typeface="Lato Black"/>
              </a:rPr>
              <a:t>Final Loss = λ · FTL + (1-λ) · BCE</a:t>
            </a:r>
            <a:endParaRPr sz="1500">
              <a:solidFill>
                <a:schemeClr val="lt1"/>
              </a:solidFill>
              <a:latin typeface="Lato Black"/>
              <a:ea typeface="Lato Black"/>
              <a:cs typeface="Lato Black"/>
              <a:sym typeface="Lato Black"/>
            </a:endParaRPr>
          </a:p>
        </p:txBody>
      </p:sp>
      <p:sp>
        <p:nvSpPr>
          <p:cNvPr id="434" name="Google Shape;434;g3eee170d97a_0_196"/>
          <p:cNvSpPr/>
          <p:nvPr/>
        </p:nvSpPr>
        <p:spPr>
          <a:xfrm>
            <a:off x="6206600" y="1200575"/>
            <a:ext cx="2410800" cy="4803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latin typeface="Lato"/>
                <a:ea typeface="Lato"/>
                <a:cs typeface="Lato"/>
                <a:sym typeface="Lato"/>
              </a:rPr>
              <a:t>Cosine Annealing</a:t>
            </a:r>
            <a:endParaRPr b="1">
              <a:solidFill>
                <a:schemeClr val="lt1"/>
              </a:solidFill>
              <a:latin typeface="Lato"/>
              <a:ea typeface="Lato"/>
              <a:cs typeface="Lato"/>
              <a:sym typeface="Lato"/>
            </a:endParaRPr>
          </a:p>
          <a:p>
            <a:pPr indent="0" lvl="0" marL="0" rtl="0" algn="ctr">
              <a:spcBef>
                <a:spcPts val="0"/>
              </a:spcBef>
              <a:spcAft>
                <a:spcPts val="0"/>
              </a:spcAft>
              <a:buNone/>
            </a:pPr>
            <a:r>
              <a:rPr b="1" lang="en-US">
                <a:solidFill>
                  <a:schemeClr val="lt1"/>
                </a:solidFill>
                <a:latin typeface="Lato"/>
                <a:ea typeface="Lato"/>
                <a:cs typeface="Lato"/>
                <a:sym typeface="Lato"/>
              </a:rPr>
              <a:t>with Warm Restarts</a:t>
            </a:r>
            <a:endParaRPr b="1">
              <a:solidFill>
                <a:schemeClr val="lt1"/>
              </a:solidFill>
              <a:latin typeface="Lato"/>
              <a:ea typeface="Lato"/>
              <a:cs typeface="Lato"/>
              <a:sym typeface="Lato"/>
            </a:endParaRPr>
          </a:p>
        </p:txBody>
      </p:sp>
      <p:sp>
        <p:nvSpPr>
          <p:cNvPr id="435" name="Google Shape;435;g3eee170d97a_0_196"/>
          <p:cNvSpPr/>
          <p:nvPr/>
        </p:nvSpPr>
        <p:spPr>
          <a:xfrm>
            <a:off x="6206600" y="1794600"/>
            <a:ext cx="2410800" cy="26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100">
                <a:latin typeface="Lato"/>
                <a:ea typeface="Lato"/>
                <a:cs typeface="Lato"/>
                <a:sym typeface="Lato"/>
              </a:rPr>
              <a:t>Adam optimizer is stable with sparse gradients</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p>
            <a:pPr indent="0" lvl="0" marL="0" rtl="0" algn="l">
              <a:spcBef>
                <a:spcPts val="0"/>
              </a:spcBef>
              <a:spcAft>
                <a:spcPts val="0"/>
              </a:spcAft>
              <a:buNone/>
            </a:pPr>
            <a:r>
              <a:rPr lang="en-US" sz="1100">
                <a:latin typeface="Lato"/>
                <a:ea typeface="Lato"/>
                <a:cs typeface="Lato"/>
                <a:sym typeface="Lato"/>
              </a:rPr>
              <a:t>LR cycles from ηmax → ~0 (cosine curve)</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p>
            <a:pPr indent="0" lvl="0" marL="0" rtl="0" algn="l">
              <a:spcBef>
                <a:spcPts val="0"/>
              </a:spcBef>
              <a:spcAft>
                <a:spcPts val="0"/>
              </a:spcAft>
              <a:buNone/>
            </a:pPr>
            <a:r>
              <a:rPr lang="en-US" sz="1100">
                <a:latin typeface="Lato"/>
                <a:ea typeface="Lato"/>
                <a:cs typeface="Lato"/>
                <a:sym typeface="Lato"/>
              </a:rPr>
              <a:t>Warm restart resets LR to ηmax each cycle</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p>
            <a:pPr indent="0" lvl="0" marL="0" rtl="0" algn="l">
              <a:spcBef>
                <a:spcPts val="0"/>
              </a:spcBef>
              <a:spcAft>
                <a:spcPts val="0"/>
              </a:spcAft>
              <a:buNone/>
            </a:pPr>
            <a:r>
              <a:rPr lang="en-US" sz="1100">
                <a:latin typeface="Lato"/>
                <a:ea typeface="Lato"/>
                <a:cs typeface="Lato"/>
                <a:sym typeface="Lato"/>
              </a:rPr>
              <a:t>Escapes shallow local minima in imbalanced loss landscape</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p>
            <a:pPr indent="0" lvl="0" marL="0" rtl="0" algn="l">
              <a:spcBef>
                <a:spcPts val="0"/>
              </a:spcBef>
              <a:spcAft>
                <a:spcPts val="0"/>
              </a:spcAft>
              <a:buNone/>
            </a:pPr>
            <a:r>
              <a:rPr lang="en-US" sz="1100">
                <a:latin typeface="Lato"/>
                <a:ea typeface="Lato"/>
                <a:cs typeface="Lato"/>
                <a:sym typeface="Lato"/>
              </a:rPr>
              <a:t>Finds flatter, more generalizable minima</a:t>
            </a:r>
            <a:endParaRPr sz="1100">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eee98f34f1_2_54"/>
          <p:cNvSpPr/>
          <p:nvPr/>
        </p:nvSpPr>
        <p:spPr>
          <a:xfrm>
            <a:off x="1143150" y="1412576"/>
            <a:ext cx="6861000" cy="2721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41" name="Google Shape;441;g3eee98f34f1_2_54"/>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CLAHE: Making Low-Contrast Boundaries Visible</a:t>
            </a:r>
            <a:endParaRPr/>
          </a:p>
          <a:p>
            <a:pPr indent="0" lvl="0" marL="0" rtl="0" algn="l">
              <a:lnSpc>
                <a:spcPct val="100000"/>
              </a:lnSpc>
              <a:spcBef>
                <a:spcPts val="0"/>
              </a:spcBef>
              <a:spcAft>
                <a:spcPts val="0"/>
              </a:spcAft>
              <a:buSzPts val="2600"/>
              <a:buNone/>
            </a:pPr>
            <a:r>
              <a:t/>
            </a:r>
            <a:endParaRPr/>
          </a:p>
        </p:txBody>
      </p:sp>
      <p:sp>
        <p:nvSpPr>
          <p:cNvPr id="442" name="Google Shape;442;g3eee98f34f1_2_54"/>
          <p:cNvSpPr/>
          <p:nvPr/>
        </p:nvSpPr>
        <p:spPr>
          <a:xfrm>
            <a:off x="211325" y="880747"/>
            <a:ext cx="1290900" cy="1335600"/>
          </a:xfrm>
          <a:prstGeom prst="roundRect">
            <a:avLst>
              <a:gd fmla="val 7841"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Raw X-Ray</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(low contrast</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boundary)</a:t>
            </a:r>
            <a:endParaRPr sz="1200">
              <a:latin typeface="Lato"/>
              <a:ea typeface="Lato"/>
              <a:cs typeface="Lato"/>
              <a:sym typeface="Lato"/>
            </a:endParaRPr>
          </a:p>
        </p:txBody>
      </p:sp>
      <p:sp>
        <p:nvSpPr>
          <p:cNvPr id="443" name="Google Shape;443;g3eee98f34f1_2_54"/>
          <p:cNvSpPr/>
          <p:nvPr/>
        </p:nvSpPr>
        <p:spPr>
          <a:xfrm>
            <a:off x="1697415" y="880747"/>
            <a:ext cx="1290900" cy="1335600"/>
          </a:xfrm>
          <a:prstGeom prst="roundRect">
            <a:avLst>
              <a:gd fmla="val 8011" name="adj"/>
            </a:avLst>
          </a:prstGeom>
          <a:solidFill>
            <a:srgbClr val="E9ED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Divide into</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local tiles</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(grid)</a:t>
            </a:r>
            <a:endParaRPr sz="1200">
              <a:latin typeface="Lato"/>
              <a:ea typeface="Lato"/>
              <a:cs typeface="Lato"/>
              <a:sym typeface="Lato"/>
            </a:endParaRPr>
          </a:p>
        </p:txBody>
      </p:sp>
      <p:sp>
        <p:nvSpPr>
          <p:cNvPr id="444" name="Google Shape;444;g3eee98f34f1_2_54"/>
          <p:cNvSpPr/>
          <p:nvPr/>
        </p:nvSpPr>
        <p:spPr>
          <a:xfrm>
            <a:off x="3183505" y="880747"/>
            <a:ext cx="1290900" cy="1335600"/>
          </a:xfrm>
          <a:prstGeom prst="roundRect">
            <a:avLst>
              <a:gd fmla="val 11639" name="adj"/>
            </a:avLst>
          </a:prstGeom>
          <a:solidFill>
            <a:srgbClr val="EEFC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Clip histogram</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at CL threshold</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(limit noise)</a:t>
            </a:r>
            <a:endParaRPr sz="1200">
              <a:latin typeface="Lato"/>
              <a:ea typeface="Lato"/>
              <a:cs typeface="Lato"/>
              <a:sym typeface="Lato"/>
            </a:endParaRPr>
          </a:p>
        </p:txBody>
      </p:sp>
      <p:sp>
        <p:nvSpPr>
          <p:cNvPr id="445" name="Google Shape;445;g3eee98f34f1_2_54"/>
          <p:cNvSpPr/>
          <p:nvPr/>
        </p:nvSpPr>
        <p:spPr>
          <a:xfrm>
            <a:off x="4669595" y="880747"/>
            <a:ext cx="1290900" cy="1335600"/>
          </a:xfrm>
          <a:prstGeom prst="roundRect">
            <a:avLst>
              <a:gd fmla="val 9503" name="adj"/>
            </a:avLst>
          </a:prstGeom>
          <a:solidFill>
            <a:srgbClr val="D2F1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Cumulative</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H-Map per tile</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(local contrast)</a:t>
            </a:r>
            <a:endParaRPr sz="1200">
              <a:latin typeface="Lato"/>
              <a:ea typeface="Lato"/>
              <a:cs typeface="Lato"/>
              <a:sym typeface="Lato"/>
            </a:endParaRPr>
          </a:p>
        </p:txBody>
      </p:sp>
      <p:sp>
        <p:nvSpPr>
          <p:cNvPr id="446" name="Google Shape;446;g3eee98f34f1_2_54"/>
          <p:cNvSpPr/>
          <p:nvPr/>
        </p:nvSpPr>
        <p:spPr>
          <a:xfrm>
            <a:off x="6155685" y="880747"/>
            <a:ext cx="1290900" cy="1335600"/>
          </a:xfrm>
          <a:prstGeom prst="roundRect">
            <a:avLst>
              <a:gd fmla="val 7366" name="adj"/>
            </a:avLst>
          </a:prstGeom>
          <a:solidFill>
            <a:srgbClr val="A0D2F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Bilinear</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interpolation</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between tiles</a:t>
            </a:r>
            <a:endParaRPr sz="1200">
              <a:latin typeface="Lato"/>
              <a:ea typeface="Lato"/>
              <a:cs typeface="Lato"/>
              <a:sym typeface="Lato"/>
            </a:endParaRPr>
          </a:p>
        </p:txBody>
      </p:sp>
      <p:sp>
        <p:nvSpPr>
          <p:cNvPr id="447" name="Google Shape;447;g3eee98f34f1_2_54"/>
          <p:cNvSpPr/>
          <p:nvPr/>
        </p:nvSpPr>
        <p:spPr>
          <a:xfrm>
            <a:off x="7641775" y="880747"/>
            <a:ext cx="1290900" cy="1335600"/>
          </a:xfrm>
          <a:prstGeom prst="roundRect">
            <a:avLst>
              <a:gd fmla="val 7537" name="adj"/>
            </a:avLst>
          </a:prstGeom>
          <a:solidFill>
            <a:srgbClr val="77BD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Enhanced X-Ray</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(clear boundary</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&amp; amplified edge)</a:t>
            </a:r>
            <a:endParaRPr sz="1200">
              <a:latin typeface="Lato"/>
              <a:ea typeface="Lato"/>
              <a:cs typeface="Lato"/>
              <a:sym typeface="Lato"/>
            </a:endParaRPr>
          </a:p>
        </p:txBody>
      </p:sp>
      <p:sp>
        <p:nvSpPr>
          <p:cNvPr id="448" name="Google Shape;448;g3eee98f34f1_2_54"/>
          <p:cNvSpPr/>
          <p:nvPr/>
        </p:nvSpPr>
        <p:spPr>
          <a:xfrm>
            <a:off x="211325" y="2425900"/>
            <a:ext cx="8721300" cy="2247600"/>
          </a:xfrm>
          <a:prstGeom prst="roundRect">
            <a:avLst>
              <a:gd fmla="val 16667" name="adj"/>
            </a:avLst>
          </a:prstGeom>
          <a:solidFill>
            <a:srgbClr val="F4F5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49" name="Google Shape;449;g3eee98f34f1_2_54"/>
          <p:cNvSpPr txBox="1"/>
          <p:nvPr/>
        </p:nvSpPr>
        <p:spPr>
          <a:xfrm>
            <a:off x="312541" y="2453528"/>
            <a:ext cx="8334300" cy="40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Lato"/>
                <a:ea typeface="Lato"/>
                <a:cs typeface="Lato"/>
                <a:sym typeface="Lato"/>
              </a:rPr>
              <a:t>Why CLAHE is Particularly Effective for Pneumothorax</a:t>
            </a:r>
            <a:endParaRPr b="1">
              <a:latin typeface="Lato"/>
              <a:ea typeface="Lato"/>
              <a:cs typeface="Lato"/>
              <a:sym typeface="Lato"/>
            </a:endParaRPr>
          </a:p>
          <a:p>
            <a:pPr indent="0" lvl="0" marL="0" rtl="0" algn="l">
              <a:spcBef>
                <a:spcPts val="0"/>
              </a:spcBef>
              <a:spcAft>
                <a:spcPts val="0"/>
              </a:spcAft>
              <a:buNone/>
            </a:pPr>
            <a:r>
              <a:t/>
            </a:r>
            <a:endParaRPr>
              <a:latin typeface="Quattrocento Sans"/>
              <a:ea typeface="Quattrocento Sans"/>
              <a:cs typeface="Quattrocento Sans"/>
              <a:sym typeface="Quattrocento Sans"/>
            </a:endParaRPr>
          </a:p>
        </p:txBody>
      </p:sp>
      <p:sp>
        <p:nvSpPr>
          <p:cNvPr id="450" name="Google Shape;450;g3eee98f34f1_2_54"/>
          <p:cNvSpPr/>
          <p:nvPr/>
        </p:nvSpPr>
        <p:spPr>
          <a:xfrm>
            <a:off x="386950" y="2860625"/>
            <a:ext cx="1290900" cy="4470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latin typeface="Lato"/>
                <a:ea typeface="Lato"/>
                <a:cs typeface="Lato"/>
                <a:sym typeface="Lato"/>
              </a:rPr>
              <a:t>Local Adaptivity </a:t>
            </a:r>
            <a:endParaRPr b="1" sz="1100">
              <a:latin typeface="Lato"/>
              <a:ea typeface="Lato"/>
              <a:cs typeface="Lato"/>
              <a:sym typeface="Lato"/>
            </a:endParaRPr>
          </a:p>
        </p:txBody>
      </p:sp>
      <p:sp>
        <p:nvSpPr>
          <p:cNvPr id="451" name="Google Shape;451;g3eee98f34f1_2_54"/>
          <p:cNvSpPr/>
          <p:nvPr/>
        </p:nvSpPr>
        <p:spPr>
          <a:xfrm>
            <a:off x="386950" y="3466888"/>
            <a:ext cx="1290900" cy="4470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latin typeface="Lato"/>
                <a:ea typeface="Lato"/>
                <a:cs typeface="Lato"/>
                <a:sym typeface="Lato"/>
              </a:rPr>
              <a:t>Clip Limit (CL) </a:t>
            </a:r>
            <a:endParaRPr b="1" sz="1100">
              <a:latin typeface="Lato"/>
              <a:ea typeface="Lato"/>
              <a:cs typeface="Lato"/>
              <a:sym typeface="Lato"/>
            </a:endParaRPr>
          </a:p>
        </p:txBody>
      </p:sp>
      <p:sp>
        <p:nvSpPr>
          <p:cNvPr id="452" name="Google Shape;452;g3eee98f34f1_2_54"/>
          <p:cNvSpPr/>
          <p:nvPr/>
        </p:nvSpPr>
        <p:spPr>
          <a:xfrm>
            <a:off x="386950" y="4073150"/>
            <a:ext cx="1290900" cy="447000"/>
          </a:xfrm>
          <a:prstGeom prst="roundRect">
            <a:avLst>
              <a:gd fmla="val 16667" name="adj"/>
            </a:avLst>
          </a:prstGeom>
          <a:solidFill>
            <a:srgbClr val="A8CFE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latin typeface="Lato"/>
                <a:ea typeface="Lato"/>
                <a:cs typeface="Lato"/>
                <a:sym typeface="Lato"/>
              </a:rPr>
              <a:t>Better Gradients </a:t>
            </a:r>
            <a:endParaRPr b="1" sz="1100">
              <a:latin typeface="Lato"/>
              <a:ea typeface="Lato"/>
              <a:cs typeface="Lato"/>
              <a:sym typeface="Lato"/>
            </a:endParaRPr>
          </a:p>
        </p:txBody>
      </p:sp>
      <p:sp>
        <p:nvSpPr>
          <p:cNvPr id="453" name="Google Shape;453;g3eee98f34f1_2_54"/>
          <p:cNvSpPr/>
          <p:nvPr/>
        </p:nvSpPr>
        <p:spPr>
          <a:xfrm>
            <a:off x="1860350" y="2860650"/>
            <a:ext cx="6861000" cy="447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en-US" sz="1100">
                <a:latin typeface="Lato"/>
                <a:ea typeface="Lato"/>
                <a:cs typeface="Lato"/>
                <a:sym typeface="Lato"/>
              </a:rPr>
              <a:t>The pleural boundary exists in a limited spatial region with a narrow intensity range. </a:t>
            </a:r>
            <a:r>
              <a:rPr b="1" lang="en-US" sz="1100">
                <a:solidFill>
                  <a:schemeClr val="lt1"/>
                </a:solidFill>
                <a:highlight>
                  <a:schemeClr val="accent5"/>
                </a:highlight>
                <a:latin typeface="Lato"/>
                <a:ea typeface="Lato"/>
                <a:cs typeface="Lato"/>
                <a:sym typeface="Lato"/>
              </a:rPr>
              <a:t>Local tile-based enhancement</a:t>
            </a:r>
            <a:r>
              <a:rPr lang="en-US" sz="1100">
                <a:latin typeface="Lato"/>
                <a:ea typeface="Lato"/>
                <a:cs typeface="Lato"/>
                <a:sym typeface="Lato"/>
              </a:rPr>
              <a:t> amplifies this region without being dominated by the surrounding background statistics.</a:t>
            </a:r>
            <a:endParaRPr sz="1100">
              <a:latin typeface="Lato"/>
              <a:ea typeface="Lato"/>
              <a:cs typeface="Lato"/>
              <a:sym typeface="Lato"/>
            </a:endParaRPr>
          </a:p>
        </p:txBody>
      </p:sp>
      <p:sp>
        <p:nvSpPr>
          <p:cNvPr id="454" name="Google Shape;454;g3eee98f34f1_2_54"/>
          <p:cNvSpPr/>
          <p:nvPr/>
        </p:nvSpPr>
        <p:spPr>
          <a:xfrm>
            <a:off x="1860350" y="3471575"/>
            <a:ext cx="6861000" cy="447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US" sz="1100">
                <a:solidFill>
                  <a:schemeClr val="lt1"/>
                </a:solidFill>
                <a:highlight>
                  <a:schemeClr val="accent5"/>
                </a:highlight>
                <a:latin typeface="Lato"/>
                <a:ea typeface="Lato"/>
                <a:cs typeface="Lato"/>
                <a:sym typeface="Lato"/>
              </a:rPr>
              <a:t>Prevents over-amplification of noise</a:t>
            </a:r>
            <a:r>
              <a:rPr lang="en-US" sz="1100">
                <a:latin typeface="Lato"/>
                <a:ea typeface="Lato"/>
                <a:cs typeface="Lato"/>
                <a:sym typeface="Lato"/>
              </a:rPr>
              <a:t> that would confuse the encoder, it balances contrast enhancement with noise control.</a:t>
            </a:r>
            <a:endParaRPr sz="1100">
              <a:latin typeface="Lato"/>
              <a:ea typeface="Lato"/>
              <a:cs typeface="Lato"/>
              <a:sym typeface="Lato"/>
            </a:endParaRPr>
          </a:p>
        </p:txBody>
      </p:sp>
      <p:sp>
        <p:nvSpPr>
          <p:cNvPr id="455" name="Google Shape;455;g3eee98f34f1_2_54"/>
          <p:cNvSpPr/>
          <p:nvPr/>
        </p:nvSpPr>
        <p:spPr>
          <a:xfrm>
            <a:off x="1860350" y="4082500"/>
            <a:ext cx="6861000" cy="447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en-US" sz="1100">
                <a:latin typeface="Lato"/>
                <a:ea typeface="Lato"/>
                <a:cs typeface="Lato"/>
                <a:sym typeface="Lato"/>
              </a:rPr>
              <a:t>Sharper boundaries → richer gradient signals for EfficientNet-B0 early layers → </a:t>
            </a:r>
            <a:r>
              <a:rPr b="1" lang="en-US" sz="1100">
                <a:solidFill>
                  <a:schemeClr val="lt1"/>
                </a:solidFill>
                <a:highlight>
                  <a:schemeClr val="accent5"/>
                </a:highlight>
                <a:latin typeface="Lato"/>
                <a:ea typeface="Lato"/>
                <a:cs typeface="Lato"/>
                <a:sym typeface="Lato"/>
              </a:rPr>
              <a:t>faster convergence</a:t>
            </a:r>
            <a:r>
              <a:rPr lang="en-US" sz="1100">
                <a:latin typeface="Lato"/>
                <a:ea typeface="Lato"/>
                <a:cs typeface="Lato"/>
                <a:sym typeface="Lato"/>
              </a:rPr>
              <a:t> on lesion features during training.</a:t>
            </a:r>
            <a:endParaRPr sz="1100">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0"/>
          <p:cNvSpPr/>
          <p:nvPr/>
        </p:nvSpPr>
        <p:spPr>
          <a:xfrm>
            <a:off x="727800" y="1859850"/>
            <a:ext cx="3281700" cy="920700"/>
          </a:xfrm>
          <a:prstGeom prst="rect">
            <a:avLst/>
          </a:prstGeom>
          <a:solidFill>
            <a:srgbClr val="07436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461" name="Google Shape;461;p10"/>
          <p:cNvSpPr txBox="1"/>
          <p:nvPr>
            <p:ph type="title"/>
          </p:nvPr>
        </p:nvSpPr>
        <p:spPr>
          <a:xfrm>
            <a:off x="804000" y="1901400"/>
            <a:ext cx="2939400" cy="87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sz="4000">
                <a:solidFill>
                  <a:schemeClr val="lt1"/>
                </a:solidFill>
              </a:rPr>
              <a:t>Evaluation</a:t>
            </a:r>
            <a:endParaRPr sz="40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eee98f34f1_2_85"/>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Metrics: Why Dice Score &amp; IoU?</a:t>
            </a:r>
            <a:endParaRPr/>
          </a:p>
          <a:p>
            <a:pPr indent="0" lvl="0" marL="0" rtl="0" algn="l">
              <a:lnSpc>
                <a:spcPct val="100000"/>
              </a:lnSpc>
              <a:spcBef>
                <a:spcPts val="0"/>
              </a:spcBef>
              <a:spcAft>
                <a:spcPts val="0"/>
              </a:spcAft>
              <a:buSzPts val="2600"/>
              <a:buNone/>
            </a:pPr>
            <a:r>
              <a:t/>
            </a:r>
            <a:endParaRPr/>
          </a:p>
        </p:txBody>
      </p:sp>
      <p:sp>
        <p:nvSpPr>
          <p:cNvPr id="467" name="Google Shape;467;g3eee98f34f1_2_85"/>
          <p:cNvSpPr/>
          <p:nvPr/>
        </p:nvSpPr>
        <p:spPr>
          <a:xfrm>
            <a:off x="346050" y="908625"/>
            <a:ext cx="8451900" cy="874500"/>
          </a:xfrm>
          <a:prstGeom prst="roundRect">
            <a:avLst>
              <a:gd fmla="val 16667" name="adj"/>
            </a:avLst>
          </a:prstGeom>
          <a:solidFill>
            <a:srgbClr val="FDCBC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457200" lvl="0" marL="0" rtl="0" algn="just">
              <a:spcBef>
                <a:spcPts val="0"/>
              </a:spcBef>
              <a:spcAft>
                <a:spcPts val="0"/>
              </a:spcAft>
              <a:buNone/>
            </a:pPr>
            <a:r>
              <a:rPr b="1" lang="en-US" sz="1200">
                <a:solidFill>
                  <a:schemeClr val="lt1"/>
                </a:solidFill>
                <a:highlight>
                  <a:srgbClr val="FF0000"/>
                </a:highlight>
                <a:latin typeface="Lato"/>
                <a:ea typeface="Lato"/>
                <a:cs typeface="Lato"/>
                <a:sym typeface="Lato"/>
              </a:rPr>
              <a:t>Why not pixel accuracy? </a:t>
            </a:r>
            <a:endParaRPr b="1" sz="1200">
              <a:solidFill>
                <a:schemeClr val="lt1"/>
              </a:solidFill>
              <a:highlight>
                <a:srgbClr val="FF0000"/>
              </a:highlight>
              <a:latin typeface="Lato"/>
              <a:ea typeface="Lato"/>
              <a:cs typeface="Lato"/>
              <a:sym typeface="Lato"/>
            </a:endParaRPr>
          </a:p>
          <a:p>
            <a:pPr indent="0" lvl="0" marL="0" rtl="0" algn="just">
              <a:spcBef>
                <a:spcPts val="0"/>
              </a:spcBef>
              <a:spcAft>
                <a:spcPts val="0"/>
              </a:spcAft>
              <a:buNone/>
            </a:pPr>
            <a:r>
              <a:t/>
            </a:r>
            <a:endParaRPr sz="1100">
              <a:latin typeface="Lato"/>
              <a:ea typeface="Lato"/>
              <a:cs typeface="Lato"/>
              <a:sym typeface="Lato"/>
            </a:endParaRPr>
          </a:p>
          <a:p>
            <a:pPr indent="0" lvl="0" marL="0" rtl="0" algn="just">
              <a:spcBef>
                <a:spcPts val="0"/>
              </a:spcBef>
              <a:spcAft>
                <a:spcPts val="0"/>
              </a:spcAft>
              <a:buNone/>
            </a:pPr>
            <a:r>
              <a:rPr lang="en-US" sz="1100">
                <a:latin typeface="Lato"/>
                <a:ea typeface="Lato"/>
                <a:cs typeface="Lato"/>
                <a:sym typeface="Lato"/>
              </a:rPr>
              <a:t>In SIIM-ACR, background = 95-99% of pixels. A model predicting 100% background (detecting nothing) scores 95-99% accuracy, which means completely misleading. Overlap-based metrics expose this failure.</a:t>
            </a:r>
            <a:endParaRPr sz="1100">
              <a:latin typeface="Lato"/>
              <a:ea typeface="Lato"/>
              <a:cs typeface="Lato"/>
              <a:sym typeface="Lato"/>
            </a:endParaRPr>
          </a:p>
        </p:txBody>
      </p:sp>
      <p:sp>
        <p:nvSpPr>
          <p:cNvPr id="468" name="Google Shape;468;g3eee98f34f1_2_85"/>
          <p:cNvSpPr/>
          <p:nvPr/>
        </p:nvSpPr>
        <p:spPr>
          <a:xfrm>
            <a:off x="346050" y="1993600"/>
            <a:ext cx="4150500" cy="2613900"/>
          </a:xfrm>
          <a:prstGeom prst="roundRect">
            <a:avLst>
              <a:gd fmla="val 10065" name="adj"/>
            </a:avLst>
          </a:prstGeom>
          <a:solidFill>
            <a:schemeClr val="lt1"/>
          </a:solidFill>
          <a:ln cap="flat" cmpd="sng" w="38100">
            <a:solidFill>
              <a:srgbClr val="6BB1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69" name="Google Shape;469;g3eee98f34f1_2_85"/>
          <p:cNvSpPr/>
          <p:nvPr/>
        </p:nvSpPr>
        <p:spPr>
          <a:xfrm>
            <a:off x="4647450" y="1993600"/>
            <a:ext cx="4150500" cy="2613900"/>
          </a:xfrm>
          <a:prstGeom prst="roundRect">
            <a:avLst>
              <a:gd fmla="val 10065" name="adj"/>
            </a:avLst>
          </a:prstGeom>
          <a:solidFill>
            <a:schemeClr val="lt1"/>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attrocento Sans"/>
              <a:ea typeface="Quattrocento Sans"/>
              <a:cs typeface="Quattrocento Sans"/>
              <a:sym typeface="Quattrocento Sans"/>
            </a:endParaRPr>
          </a:p>
        </p:txBody>
      </p:sp>
      <p:sp>
        <p:nvSpPr>
          <p:cNvPr id="470" name="Google Shape;470;g3eee98f34f1_2_85"/>
          <p:cNvSpPr/>
          <p:nvPr/>
        </p:nvSpPr>
        <p:spPr>
          <a:xfrm>
            <a:off x="630150" y="2148700"/>
            <a:ext cx="3582300" cy="409800"/>
          </a:xfrm>
          <a:prstGeom prst="roundRect">
            <a:avLst>
              <a:gd fmla="val 16667" name="adj"/>
            </a:avLst>
          </a:prstGeom>
          <a:solidFill>
            <a:srgbClr val="5DA4C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latin typeface="Quattrocento Sans"/>
                <a:ea typeface="Quattrocento Sans"/>
                <a:cs typeface="Quattrocento Sans"/>
                <a:sym typeface="Quattrocento Sans"/>
              </a:rPr>
              <a:t>Intersection over Union (IoU)</a:t>
            </a:r>
            <a:endParaRPr b="1">
              <a:solidFill>
                <a:schemeClr val="lt1"/>
              </a:solidFill>
              <a:latin typeface="Quattrocento Sans"/>
              <a:ea typeface="Quattrocento Sans"/>
              <a:cs typeface="Quattrocento Sans"/>
              <a:sym typeface="Quattrocento Sans"/>
            </a:endParaRPr>
          </a:p>
        </p:txBody>
      </p:sp>
      <p:sp>
        <p:nvSpPr>
          <p:cNvPr id="471" name="Google Shape;471;g3eee98f34f1_2_85"/>
          <p:cNvSpPr/>
          <p:nvPr/>
        </p:nvSpPr>
        <p:spPr>
          <a:xfrm>
            <a:off x="4931550" y="2148700"/>
            <a:ext cx="3582300" cy="4098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latin typeface="Quattrocento Sans"/>
                <a:ea typeface="Quattrocento Sans"/>
                <a:cs typeface="Quattrocento Sans"/>
                <a:sym typeface="Quattrocento Sans"/>
              </a:rPr>
              <a:t>Dice Similarity Coefficient</a:t>
            </a:r>
            <a:endParaRPr b="1">
              <a:solidFill>
                <a:schemeClr val="lt1"/>
              </a:solidFill>
              <a:latin typeface="Quattrocento Sans"/>
              <a:ea typeface="Quattrocento Sans"/>
              <a:cs typeface="Quattrocento Sans"/>
              <a:sym typeface="Quattrocento Sans"/>
            </a:endParaRPr>
          </a:p>
        </p:txBody>
      </p:sp>
      <p:sp>
        <p:nvSpPr>
          <p:cNvPr id="472" name="Google Shape;472;g3eee98f34f1_2_85"/>
          <p:cNvSpPr/>
          <p:nvPr/>
        </p:nvSpPr>
        <p:spPr>
          <a:xfrm>
            <a:off x="630150" y="2721972"/>
            <a:ext cx="3582300" cy="409800"/>
          </a:xfrm>
          <a:prstGeom prst="roundRect">
            <a:avLst>
              <a:gd fmla="val 16667" name="adj"/>
            </a:avLst>
          </a:prstGeom>
          <a:solidFill>
            <a:schemeClr val="lt1"/>
          </a:solidFill>
          <a:ln cap="flat" cmpd="sng" w="9525">
            <a:solidFill>
              <a:srgbClr val="6BB1DB"/>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2"/>
                </a:solidFill>
                <a:latin typeface="Lato"/>
                <a:ea typeface="Lato"/>
                <a:cs typeface="Lato"/>
                <a:sym typeface="Lato"/>
              </a:rPr>
              <a:t>IoU  =  TP / (TP + FP + FN)</a:t>
            </a:r>
            <a:endParaRPr b="1">
              <a:solidFill>
                <a:schemeClr val="dk2"/>
              </a:solidFill>
              <a:latin typeface="Lato"/>
              <a:ea typeface="Lato"/>
              <a:cs typeface="Lato"/>
              <a:sym typeface="Lato"/>
            </a:endParaRPr>
          </a:p>
        </p:txBody>
      </p:sp>
      <p:sp>
        <p:nvSpPr>
          <p:cNvPr id="473" name="Google Shape;473;g3eee98f34f1_2_85"/>
          <p:cNvSpPr/>
          <p:nvPr/>
        </p:nvSpPr>
        <p:spPr>
          <a:xfrm>
            <a:off x="4931550" y="2721972"/>
            <a:ext cx="3582300" cy="409800"/>
          </a:xfrm>
          <a:prstGeom prst="roundRect">
            <a:avLst>
              <a:gd fmla="val 16667" name="adj"/>
            </a:avLst>
          </a:prstGeom>
          <a:solidFill>
            <a:schemeClr val="lt1"/>
          </a:solidFill>
          <a:ln cap="flat" cmpd="sng" w="9525">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2"/>
                </a:solidFill>
                <a:latin typeface="Lato"/>
                <a:ea typeface="Lato"/>
                <a:cs typeface="Lato"/>
                <a:sym typeface="Lato"/>
              </a:rPr>
              <a:t>Dice  =  2TP / (2TP + FP + FN)</a:t>
            </a:r>
            <a:endParaRPr b="1">
              <a:solidFill>
                <a:schemeClr val="dk2"/>
              </a:solidFill>
              <a:latin typeface="Lato"/>
              <a:ea typeface="Lato"/>
              <a:cs typeface="Lato"/>
              <a:sym typeface="Lato"/>
            </a:endParaRPr>
          </a:p>
        </p:txBody>
      </p:sp>
      <p:sp>
        <p:nvSpPr>
          <p:cNvPr id="474" name="Google Shape;474;g3eee98f34f1_2_85"/>
          <p:cNvSpPr/>
          <p:nvPr/>
        </p:nvSpPr>
        <p:spPr>
          <a:xfrm>
            <a:off x="630150" y="3289300"/>
            <a:ext cx="3582300" cy="1163100"/>
          </a:xfrm>
          <a:prstGeom prst="roundRect">
            <a:avLst>
              <a:gd fmla="val 16667" name="adj"/>
            </a:avLst>
          </a:prstGeom>
          <a:solidFill>
            <a:srgbClr val="FCFDFF"/>
          </a:solidFill>
          <a:ln cap="flat" cmpd="sng" w="9525">
            <a:solidFill>
              <a:srgbClr val="6BB1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900">
                <a:solidFill>
                  <a:schemeClr val="dk2"/>
                </a:solidFill>
                <a:latin typeface="Lato"/>
                <a:ea typeface="Lato"/>
                <a:cs typeface="Lato"/>
                <a:sym typeface="Lato"/>
              </a:rPr>
              <a:t>Measures overlap ratio of predicted vs. ground truth masks</a:t>
            </a:r>
            <a:endParaRPr sz="900">
              <a:solidFill>
                <a:schemeClr val="dk2"/>
              </a:solidFill>
              <a:latin typeface="Lato"/>
              <a:ea typeface="Lato"/>
              <a:cs typeface="Lato"/>
              <a:sym typeface="Lato"/>
            </a:endParaRPr>
          </a:p>
          <a:p>
            <a:pPr indent="0" lvl="0" marL="0" rtl="0" algn="l">
              <a:lnSpc>
                <a:spcPct val="150000"/>
              </a:lnSpc>
              <a:spcBef>
                <a:spcPts val="0"/>
              </a:spcBef>
              <a:spcAft>
                <a:spcPts val="0"/>
              </a:spcAft>
              <a:buNone/>
            </a:pPr>
            <a:r>
              <a:rPr lang="en-US" sz="900">
                <a:solidFill>
                  <a:schemeClr val="dk2"/>
                </a:solidFill>
                <a:latin typeface="Lato"/>
                <a:ea typeface="Lato"/>
                <a:cs typeface="Lato"/>
                <a:sym typeface="Lato"/>
              </a:rPr>
              <a:t>1.0 = perfect, 0.0 = no overlap</a:t>
            </a:r>
            <a:endParaRPr sz="900">
              <a:solidFill>
                <a:schemeClr val="dk2"/>
              </a:solidFill>
              <a:latin typeface="Lato"/>
              <a:ea typeface="Lato"/>
              <a:cs typeface="Lato"/>
              <a:sym typeface="Lato"/>
            </a:endParaRPr>
          </a:p>
          <a:p>
            <a:pPr indent="0" lvl="0" marL="0" rtl="0" algn="l">
              <a:lnSpc>
                <a:spcPct val="150000"/>
              </a:lnSpc>
              <a:spcBef>
                <a:spcPts val="0"/>
              </a:spcBef>
              <a:spcAft>
                <a:spcPts val="0"/>
              </a:spcAft>
              <a:buNone/>
            </a:pPr>
            <a:r>
              <a:rPr lang="en-US" sz="900">
                <a:solidFill>
                  <a:schemeClr val="dk2"/>
                </a:solidFill>
                <a:latin typeface="Lato"/>
                <a:ea typeface="Lato"/>
                <a:cs typeface="Lato"/>
                <a:sym typeface="Lato"/>
              </a:rPr>
              <a:t>Strict: FP and FN independently reduce score</a:t>
            </a:r>
            <a:endParaRPr sz="900">
              <a:solidFill>
                <a:schemeClr val="dk2"/>
              </a:solidFill>
              <a:latin typeface="Lato"/>
              <a:ea typeface="Lato"/>
              <a:cs typeface="Lato"/>
              <a:sym typeface="Lato"/>
            </a:endParaRPr>
          </a:p>
          <a:p>
            <a:pPr indent="0" lvl="0" marL="0" rtl="0" algn="l">
              <a:lnSpc>
                <a:spcPct val="150000"/>
              </a:lnSpc>
              <a:spcBef>
                <a:spcPts val="0"/>
              </a:spcBef>
              <a:spcAft>
                <a:spcPts val="0"/>
              </a:spcAft>
              <a:buNone/>
            </a:pPr>
            <a:r>
              <a:rPr lang="en-US" sz="900">
                <a:solidFill>
                  <a:schemeClr val="dk2"/>
                </a:solidFill>
                <a:latin typeface="Lato"/>
                <a:ea typeface="Lato"/>
                <a:cs typeface="Lato"/>
                <a:sym typeface="Lato"/>
              </a:rPr>
              <a:t>Also called the Jaccard Index</a:t>
            </a:r>
            <a:endParaRPr sz="900">
              <a:solidFill>
                <a:schemeClr val="dk2"/>
              </a:solidFill>
              <a:latin typeface="Lato"/>
              <a:ea typeface="Lato"/>
              <a:cs typeface="Lato"/>
              <a:sym typeface="Lato"/>
            </a:endParaRPr>
          </a:p>
        </p:txBody>
      </p:sp>
      <p:sp>
        <p:nvSpPr>
          <p:cNvPr id="475" name="Google Shape;475;g3eee98f34f1_2_85"/>
          <p:cNvSpPr/>
          <p:nvPr/>
        </p:nvSpPr>
        <p:spPr>
          <a:xfrm>
            <a:off x="4931550" y="3289450"/>
            <a:ext cx="3582300" cy="1163100"/>
          </a:xfrm>
          <a:prstGeom prst="roundRect">
            <a:avLst>
              <a:gd fmla="val 16667" name="adj"/>
            </a:avLst>
          </a:prstGeom>
          <a:solidFill>
            <a:srgbClr val="FCFDFF"/>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900">
                <a:solidFill>
                  <a:schemeClr val="dk2"/>
                </a:solidFill>
                <a:latin typeface="Lato"/>
                <a:ea typeface="Lato"/>
                <a:cs typeface="Lato"/>
                <a:sym typeface="Lato"/>
              </a:rPr>
              <a:t>Harmonic mean of precision and recall at pixel level</a:t>
            </a:r>
            <a:endParaRPr sz="900">
              <a:solidFill>
                <a:schemeClr val="dk2"/>
              </a:solidFill>
              <a:latin typeface="Lato"/>
              <a:ea typeface="Lato"/>
              <a:cs typeface="Lato"/>
              <a:sym typeface="Lato"/>
            </a:endParaRPr>
          </a:p>
          <a:p>
            <a:pPr indent="0" lvl="0" marL="0" rtl="0" algn="l">
              <a:lnSpc>
                <a:spcPct val="150000"/>
              </a:lnSpc>
              <a:spcBef>
                <a:spcPts val="0"/>
              </a:spcBef>
              <a:spcAft>
                <a:spcPts val="0"/>
              </a:spcAft>
              <a:buNone/>
            </a:pPr>
            <a:r>
              <a:rPr lang="en-US" sz="900">
                <a:solidFill>
                  <a:schemeClr val="dk2"/>
                </a:solidFill>
                <a:latin typeface="Lato"/>
                <a:ea typeface="Lato"/>
                <a:cs typeface="Lato"/>
                <a:sym typeface="Lato"/>
              </a:rPr>
              <a:t>Less sensitive to very small lesions than IoU</a:t>
            </a:r>
            <a:endParaRPr sz="900">
              <a:solidFill>
                <a:schemeClr val="dk2"/>
              </a:solidFill>
              <a:latin typeface="Lato"/>
              <a:ea typeface="Lato"/>
              <a:cs typeface="Lato"/>
              <a:sym typeface="Lato"/>
            </a:endParaRPr>
          </a:p>
          <a:p>
            <a:pPr indent="0" lvl="0" marL="0" rtl="0" algn="l">
              <a:lnSpc>
                <a:spcPct val="150000"/>
              </a:lnSpc>
              <a:spcBef>
                <a:spcPts val="0"/>
              </a:spcBef>
              <a:spcAft>
                <a:spcPts val="0"/>
              </a:spcAft>
              <a:buNone/>
            </a:pPr>
            <a:r>
              <a:rPr lang="en-US" sz="900">
                <a:solidFill>
                  <a:schemeClr val="dk2"/>
                </a:solidFill>
                <a:latin typeface="Lato"/>
                <a:ea typeface="Lato"/>
                <a:cs typeface="Lato"/>
                <a:sym typeface="Lato"/>
              </a:rPr>
              <a:t>Dice = 0.30 means predicted and truth overlap 30% of their average size</a:t>
            </a:r>
            <a:endParaRPr sz="900">
              <a:solidFill>
                <a:schemeClr val="dk2"/>
              </a:solidFill>
              <a:latin typeface="Lato"/>
              <a:ea typeface="Lato"/>
              <a:cs typeface="Lato"/>
              <a:sym typeface="Lato"/>
            </a:endParaRPr>
          </a:p>
          <a:p>
            <a:pPr indent="0" lvl="0" marL="0" rtl="0" algn="l">
              <a:lnSpc>
                <a:spcPct val="150000"/>
              </a:lnSpc>
              <a:spcBef>
                <a:spcPts val="0"/>
              </a:spcBef>
              <a:spcAft>
                <a:spcPts val="0"/>
              </a:spcAft>
              <a:buNone/>
            </a:pPr>
            <a:r>
              <a:rPr lang="en-US" sz="900">
                <a:solidFill>
                  <a:schemeClr val="dk2"/>
                </a:solidFill>
                <a:latin typeface="Lato"/>
                <a:ea typeface="Lato"/>
                <a:cs typeface="Lato"/>
                <a:sym typeface="Lato"/>
              </a:rPr>
              <a:t> Standard metric in medical image segmentation research</a:t>
            </a:r>
            <a:endParaRPr sz="900">
              <a:solidFill>
                <a:schemeClr val="dk2"/>
              </a:solidFill>
              <a:latin typeface="Lato"/>
              <a:ea typeface="Lato"/>
              <a:cs typeface="Lato"/>
              <a:sym typeface="Lato"/>
            </a:endParaRPr>
          </a:p>
        </p:txBody>
      </p:sp>
      <p:pic>
        <p:nvPicPr>
          <p:cNvPr id="476" name="Google Shape;476;g3eee98f34f1_2_85" title="warning.png"/>
          <p:cNvPicPr preferRelativeResize="0"/>
          <p:nvPr/>
        </p:nvPicPr>
        <p:blipFill>
          <a:blip r:embed="rId3">
            <a:alphaModFix/>
          </a:blip>
          <a:stretch>
            <a:fillRect/>
          </a:stretch>
        </p:blipFill>
        <p:spPr>
          <a:xfrm>
            <a:off x="501100" y="919700"/>
            <a:ext cx="346744" cy="346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4"/>
          <p:cNvSpPr/>
          <p:nvPr/>
        </p:nvSpPr>
        <p:spPr>
          <a:xfrm>
            <a:off x="3019800" y="2111400"/>
            <a:ext cx="3104400" cy="920700"/>
          </a:xfrm>
          <a:prstGeom prst="rect">
            <a:avLst/>
          </a:prstGeom>
          <a:solidFill>
            <a:srgbClr val="07436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Quattrocento Sans"/>
              <a:ea typeface="Quattrocento Sans"/>
              <a:cs typeface="Quattrocento Sans"/>
              <a:sym typeface="Quattrocento Sans"/>
            </a:endParaRPr>
          </a:p>
        </p:txBody>
      </p:sp>
      <p:sp>
        <p:nvSpPr>
          <p:cNvPr id="482" name="Google Shape;482;p44"/>
          <p:cNvSpPr txBox="1"/>
          <p:nvPr>
            <p:ph idx="4294967295" type="title"/>
          </p:nvPr>
        </p:nvSpPr>
        <p:spPr>
          <a:xfrm>
            <a:off x="3102300" y="2132250"/>
            <a:ext cx="2939400" cy="87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lang="en-US" sz="4000">
                <a:solidFill>
                  <a:schemeClr val="lt1"/>
                </a:solidFill>
              </a:rPr>
              <a:t>Thank You</a:t>
            </a:r>
            <a:endParaRPr sz="40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ef04103b3f_3_4"/>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Appendix : The Clinical Problem &amp; Dataset</a:t>
            </a:r>
            <a:endParaRPr/>
          </a:p>
          <a:p>
            <a:pPr indent="0" lvl="0" marL="0" rtl="0" algn="l">
              <a:lnSpc>
                <a:spcPct val="100000"/>
              </a:lnSpc>
              <a:spcBef>
                <a:spcPts val="0"/>
              </a:spcBef>
              <a:spcAft>
                <a:spcPts val="0"/>
              </a:spcAft>
              <a:buSzPts val="2600"/>
              <a:buNone/>
            </a:pPr>
            <a:r>
              <a:t/>
            </a:r>
            <a:endParaRPr/>
          </a:p>
        </p:txBody>
      </p:sp>
      <p:sp>
        <p:nvSpPr>
          <p:cNvPr id="488" name="Google Shape;488;g3ef04103b3f_3_4"/>
          <p:cNvSpPr txBox="1"/>
          <p:nvPr/>
        </p:nvSpPr>
        <p:spPr>
          <a:xfrm>
            <a:off x="693800" y="1011300"/>
            <a:ext cx="8090400" cy="356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latin typeface="Lato"/>
                <a:ea typeface="Lato"/>
                <a:cs typeface="Lato"/>
                <a:sym typeface="Lato"/>
              </a:rPr>
              <a:t>Hidden Stratification:</a:t>
            </a:r>
            <a:r>
              <a:rPr lang="en-US" sz="1200">
                <a:latin typeface="Lato"/>
                <a:ea typeface="Lato"/>
                <a:cs typeface="Lato"/>
                <a:sym typeface="Lato"/>
              </a:rPr>
              <a:t> * </a:t>
            </a:r>
            <a:r>
              <a:rPr i="1" lang="en-US" sz="1200">
                <a:latin typeface="Lato"/>
                <a:ea typeface="Lato"/>
                <a:cs typeface="Lato"/>
                <a:sym typeface="Lato"/>
              </a:rPr>
              <a:t>The Trap:</a:t>
            </a:r>
            <a:r>
              <a:rPr lang="en-US" sz="1200">
                <a:latin typeface="Lato"/>
                <a:ea typeface="Lato"/>
                <a:cs typeface="Lato"/>
                <a:sym typeface="Lato"/>
              </a:rPr>
              <a:t> Standard classification models act as lazy "chest tube detectors," leading to 100% false negatives on untreated patients.</a:t>
            </a:r>
            <a:endParaRPr sz="1200">
              <a:latin typeface="Lato"/>
              <a:ea typeface="Lato"/>
              <a:cs typeface="Lato"/>
              <a:sym typeface="Lato"/>
            </a:endParaRPr>
          </a:p>
          <a:p>
            <a:pPr indent="-304800" lvl="0" marL="457200" rtl="0" algn="l">
              <a:lnSpc>
                <a:spcPct val="115000"/>
              </a:lnSpc>
              <a:spcBef>
                <a:spcPts val="1200"/>
              </a:spcBef>
              <a:spcAft>
                <a:spcPts val="0"/>
              </a:spcAft>
              <a:buSzPts val="1200"/>
              <a:buFont typeface="Lato"/>
              <a:buChar char="●"/>
            </a:pPr>
            <a:r>
              <a:rPr i="1" lang="en-US" sz="1200">
                <a:latin typeface="Lato"/>
                <a:ea typeface="Lato"/>
                <a:cs typeface="Lato"/>
                <a:sym typeface="Lato"/>
              </a:rPr>
              <a:t>The Fix:</a:t>
            </a:r>
            <a:r>
              <a:rPr lang="en-US" sz="1200">
                <a:latin typeface="Lato"/>
                <a:ea typeface="Lato"/>
                <a:cs typeface="Lato"/>
                <a:sym typeface="Lato"/>
              </a:rPr>
              <a:t> SIIM-ACR provides pixel-level masks that </a:t>
            </a:r>
            <a:r>
              <a:rPr i="1" lang="en-US" sz="1200">
                <a:latin typeface="Lato"/>
                <a:ea typeface="Lato"/>
                <a:cs typeface="Lato"/>
                <a:sym typeface="Lato"/>
              </a:rPr>
              <a:t>only</a:t>
            </a:r>
            <a:r>
              <a:rPr lang="en-US" sz="1200">
                <a:latin typeface="Lato"/>
                <a:ea typeface="Lato"/>
                <a:cs typeface="Lato"/>
                <a:sym typeface="Lato"/>
              </a:rPr>
              <a:t> highlight the air. The model is physically forced to learn the true morphology (shape) of the lung, completely solving this trap.</a:t>
            </a:r>
            <a:endParaRPr sz="1200">
              <a:latin typeface="Lato"/>
              <a:ea typeface="Lato"/>
              <a:cs typeface="Lato"/>
              <a:sym typeface="Lato"/>
            </a:endParaRPr>
          </a:p>
          <a:p>
            <a:pPr indent="0" lvl="0" marL="0" rtl="0" algn="l">
              <a:lnSpc>
                <a:spcPct val="115000"/>
              </a:lnSpc>
              <a:spcBef>
                <a:spcPts val="1200"/>
              </a:spcBef>
              <a:spcAft>
                <a:spcPts val="0"/>
              </a:spcAft>
              <a:buNone/>
            </a:pPr>
            <a:r>
              <a:rPr b="1" lang="en-US" sz="1200">
                <a:latin typeface="Lato"/>
                <a:ea typeface="Lato"/>
                <a:cs typeface="Lato"/>
                <a:sym typeface="Lato"/>
              </a:rPr>
              <a:t>"Predict Background Everywhere":</a:t>
            </a:r>
            <a:endParaRPr b="1" sz="1200">
              <a:latin typeface="Lato"/>
              <a:ea typeface="Lato"/>
              <a:cs typeface="Lato"/>
              <a:sym typeface="Lato"/>
            </a:endParaRPr>
          </a:p>
          <a:p>
            <a:pPr indent="-304800" lvl="0" marL="457200" rtl="0" algn="l">
              <a:lnSpc>
                <a:spcPct val="115000"/>
              </a:lnSpc>
              <a:spcBef>
                <a:spcPts val="1200"/>
              </a:spcBef>
              <a:spcAft>
                <a:spcPts val="0"/>
              </a:spcAft>
              <a:buSzPts val="1200"/>
              <a:buFont typeface="Lato"/>
              <a:buChar char="●"/>
            </a:pPr>
            <a:r>
              <a:rPr i="1" lang="en-US" sz="1200">
                <a:latin typeface="Lato"/>
                <a:ea typeface="Lato"/>
                <a:cs typeface="Lato"/>
                <a:sym typeface="Lato"/>
              </a:rPr>
              <a:t>The Trap:</a:t>
            </a:r>
            <a:r>
              <a:rPr lang="en-US" sz="1200">
                <a:latin typeface="Lato"/>
                <a:ea typeface="Lato"/>
                <a:cs typeface="Lato"/>
                <a:sym typeface="Lato"/>
              </a:rPr>
              <a:t> Because the background makes up 98% of the image, BCE loss allows the model to output a completely blank black mask and still score 98% accuracy, while missing every single lesion.</a:t>
            </a:r>
            <a:endParaRPr sz="1200">
              <a:latin typeface="Lato"/>
              <a:ea typeface="Lato"/>
              <a:cs typeface="Lato"/>
              <a:sym typeface="Lato"/>
            </a:endParaRPr>
          </a:p>
          <a:p>
            <a:pPr indent="0" lvl="0" marL="0" rtl="0" algn="l">
              <a:lnSpc>
                <a:spcPct val="115000"/>
              </a:lnSpc>
              <a:spcBef>
                <a:spcPts val="1200"/>
              </a:spcBef>
              <a:spcAft>
                <a:spcPts val="0"/>
              </a:spcAft>
              <a:buNone/>
            </a:pPr>
            <a:r>
              <a:rPr b="1" lang="en-US" sz="1200">
                <a:latin typeface="Lato"/>
                <a:ea typeface="Lato"/>
                <a:cs typeface="Lato"/>
                <a:sym typeface="Lato"/>
              </a:rPr>
              <a:t>Why these 3 Papers for the Literature Review?</a:t>
            </a:r>
            <a:endParaRPr b="1" sz="1200">
              <a:latin typeface="Lato"/>
              <a:ea typeface="Lato"/>
              <a:cs typeface="Lato"/>
              <a:sym typeface="Lato"/>
            </a:endParaRPr>
          </a:p>
          <a:p>
            <a:pPr indent="-304800" lvl="0" marL="457200" rtl="0" algn="l">
              <a:lnSpc>
                <a:spcPct val="115000"/>
              </a:lnSpc>
              <a:spcBef>
                <a:spcPts val="1200"/>
              </a:spcBef>
              <a:spcAft>
                <a:spcPts val="0"/>
              </a:spcAft>
              <a:buSzPts val="1200"/>
              <a:buFont typeface="Lato"/>
              <a:buChar char="●"/>
            </a:pPr>
            <a:r>
              <a:rPr i="1" lang="en-US" sz="1200">
                <a:latin typeface="Lato"/>
                <a:ea typeface="Lato"/>
                <a:cs typeface="Lato"/>
                <a:sym typeface="Lato"/>
              </a:rPr>
              <a:t>Lin et al. (2025):</a:t>
            </a:r>
            <a:r>
              <a:rPr lang="en-US" sz="1200">
                <a:latin typeface="Lato"/>
                <a:ea typeface="Lato"/>
                <a:cs typeface="Lato"/>
                <a:sym typeface="Lato"/>
              </a:rPr>
              <a:t> The direct baseline (same architecture, unoptimized pipeline = 0.30 Dice).</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i="1" lang="en-US" sz="1200">
                <a:latin typeface="Lato"/>
                <a:ea typeface="Lato"/>
                <a:cs typeface="Lato"/>
                <a:sym typeface="Lato"/>
              </a:rPr>
              <a:t>Mann et al. (2025):</a:t>
            </a:r>
            <a:r>
              <a:rPr lang="en-US" sz="1200">
                <a:latin typeface="Lato"/>
                <a:ea typeface="Lato"/>
                <a:cs typeface="Lato"/>
                <a:sym typeface="Lato"/>
              </a:rPr>
              <a:t> The SOTA benchmark (high score but heavy/complex).</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i="1" lang="en-US" sz="1200">
                <a:latin typeface="Lato"/>
                <a:ea typeface="Lato"/>
                <a:cs typeface="Lato"/>
                <a:sym typeface="Lato"/>
              </a:rPr>
              <a:t>Karuppusamy (2025):</a:t>
            </a:r>
            <a:r>
              <a:rPr lang="en-US" sz="1200">
                <a:latin typeface="Lato"/>
                <a:ea typeface="Lato"/>
                <a:cs typeface="Lato"/>
                <a:sym typeface="Lato"/>
              </a:rPr>
              <a:t> The industry trend (hyper-complex, massive hardware).</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i="1" lang="en-US" sz="1200">
                <a:latin typeface="Lato"/>
                <a:ea typeface="Lato"/>
                <a:cs typeface="Lato"/>
                <a:sym typeface="Lato"/>
              </a:rPr>
              <a:t>The Argument:</a:t>
            </a:r>
            <a:r>
              <a:rPr lang="en-US" sz="1200">
                <a:latin typeface="Lato"/>
                <a:ea typeface="Lato"/>
                <a:cs typeface="Lato"/>
                <a:sym typeface="Lato"/>
              </a:rPr>
              <a:t> Proves we need an architecture that is lightweight like Lin's, but optimized to rival the big models.</a:t>
            </a:r>
            <a:endParaRPr sz="1200">
              <a:latin typeface="Lato"/>
              <a:ea typeface="Lato"/>
              <a:cs typeface="Lato"/>
              <a:sym typeface="Lato"/>
            </a:endParaRPr>
          </a:p>
          <a:p>
            <a:pPr indent="0" lvl="0" marL="0" rtl="0" algn="l">
              <a:spcBef>
                <a:spcPts val="1200"/>
              </a:spcBef>
              <a:spcAft>
                <a:spcPts val="0"/>
              </a:spcAft>
              <a:buNone/>
            </a:pPr>
            <a:r>
              <a:t/>
            </a:r>
            <a:endParaRPr sz="1900">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f10f82a0e1_0_14"/>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Appendix : The Clinical Problem &amp; Dataset</a:t>
            </a:r>
            <a:endParaRPr/>
          </a:p>
          <a:p>
            <a:pPr indent="0" lvl="0" marL="0" rtl="0" algn="l">
              <a:lnSpc>
                <a:spcPct val="100000"/>
              </a:lnSpc>
              <a:spcBef>
                <a:spcPts val="0"/>
              </a:spcBef>
              <a:spcAft>
                <a:spcPts val="0"/>
              </a:spcAft>
              <a:buSzPts val="2600"/>
              <a:buNone/>
            </a:pPr>
            <a:r>
              <a:t/>
            </a:r>
            <a:endParaRPr/>
          </a:p>
        </p:txBody>
      </p:sp>
      <p:sp>
        <p:nvSpPr>
          <p:cNvPr id="494" name="Google Shape;494;g3f10f82a0e1_0_14"/>
          <p:cNvSpPr txBox="1"/>
          <p:nvPr/>
        </p:nvSpPr>
        <p:spPr>
          <a:xfrm>
            <a:off x="693800" y="1011300"/>
            <a:ext cx="8090400" cy="356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200">
                <a:latin typeface="Lato"/>
                <a:ea typeface="Lato"/>
                <a:cs typeface="Lato"/>
                <a:sym typeface="Lato"/>
              </a:rPr>
              <a:t>Standard Benchmark Split - strictly follows the Kaggle 2019 SIIM-ACR challenge framework</a:t>
            </a:r>
            <a:endParaRPr sz="1200">
              <a:latin typeface="Lato"/>
              <a:ea typeface="Lato"/>
              <a:cs typeface="Lato"/>
              <a:sym typeface="Lato"/>
            </a:endParaRPr>
          </a:p>
          <a:p>
            <a:pPr indent="0" lvl="0" marL="0" rtl="0" algn="l">
              <a:lnSpc>
                <a:spcPct val="115000"/>
              </a:lnSpc>
              <a:spcBef>
                <a:spcPts val="1200"/>
              </a:spcBef>
              <a:spcAft>
                <a:spcPts val="0"/>
              </a:spcAft>
              <a:buNone/>
            </a:pPr>
            <a:r>
              <a:rPr lang="en-US" sz="1200">
                <a:latin typeface="Lato"/>
                <a:ea typeface="Lato"/>
                <a:cs typeface="Lato"/>
                <a:sym typeface="Lato"/>
              </a:rPr>
              <a:t>Training Set - 12,047 images used for model optimization</a:t>
            </a:r>
            <a:endParaRPr sz="1200">
              <a:latin typeface="Lato"/>
              <a:ea typeface="Lato"/>
              <a:cs typeface="Lato"/>
              <a:sym typeface="Lato"/>
            </a:endParaRPr>
          </a:p>
          <a:p>
            <a:pPr indent="0" lvl="0" marL="0" rtl="0" algn="l">
              <a:lnSpc>
                <a:spcPct val="115000"/>
              </a:lnSpc>
              <a:spcBef>
                <a:spcPts val="1200"/>
              </a:spcBef>
              <a:spcAft>
                <a:spcPts val="0"/>
              </a:spcAft>
              <a:buNone/>
            </a:pPr>
            <a:r>
              <a:rPr lang="en-US" sz="1200">
                <a:latin typeface="Lato"/>
                <a:ea typeface="Lato"/>
                <a:cs typeface="Lato"/>
                <a:sym typeface="Lato"/>
              </a:rPr>
              <a:t>Test Set - 3,205 images reserved purely for evaluation (~79% / 21% split)</a:t>
            </a:r>
            <a:endParaRPr sz="1200">
              <a:latin typeface="Lato"/>
              <a:ea typeface="Lato"/>
              <a:cs typeface="Lato"/>
              <a:sym typeface="Lato"/>
            </a:endParaRPr>
          </a:p>
          <a:p>
            <a:pPr indent="0" lvl="0" marL="0" rtl="0" algn="l">
              <a:lnSpc>
                <a:spcPct val="115000"/>
              </a:lnSpc>
              <a:spcBef>
                <a:spcPts val="1200"/>
              </a:spcBef>
              <a:spcAft>
                <a:spcPts val="1200"/>
              </a:spcAft>
              <a:buNone/>
            </a:pPr>
            <a:r>
              <a:rPr lang="en-US" sz="1200">
                <a:latin typeface="Lato"/>
                <a:ea typeface="Lato"/>
                <a:cs typeface="Lato"/>
                <a:sym typeface="Lato"/>
              </a:rPr>
              <a:t>Real-World Class Imbalance - test set preserves the natural 22% positive rate (~705 pneumothorax cases vs. ~2,500 healthy cases)</a:t>
            </a:r>
            <a:endParaRPr sz="1200">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ef04103b3f_3_20"/>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Appendix : </a:t>
            </a:r>
            <a:r>
              <a:rPr lang="en-US"/>
              <a:t>The Architecture</a:t>
            </a:r>
            <a:endParaRPr/>
          </a:p>
          <a:p>
            <a:pPr indent="0" lvl="0" marL="0" rtl="0" algn="l">
              <a:lnSpc>
                <a:spcPct val="100000"/>
              </a:lnSpc>
              <a:spcBef>
                <a:spcPts val="0"/>
              </a:spcBef>
              <a:spcAft>
                <a:spcPts val="0"/>
              </a:spcAft>
              <a:buSzPts val="2600"/>
              <a:buNone/>
            </a:pPr>
            <a:r>
              <a:t/>
            </a:r>
            <a:endParaRPr/>
          </a:p>
        </p:txBody>
      </p:sp>
      <p:sp>
        <p:nvSpPr>
          <p:cNvPr id="500" name="Google Shape;500;g3ef04103b3f_3_20"/>
          <p:cNvSpPr txBox="1"/>
          <p:nvPr/>
        </p:nvSpPr>
        <p:spPr>
          <a:xfrm>
            <a:off x="693800" y="1011300"/>
            <a:ext cx="8090400" cy="3563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100">
                <a:latin typeface="Lato"/>
                <a:ea typeface="Lato"/>
                <a:cs typeface="Lato"/>
                <a:sym typeface="Lato"/>
              </a:rPr>
              <a:t>5.3M Parameters:</a:t>
            </a:r>
            <a:r>
              <a:rPr lang="en-US" sz="1100">
                <a:latin typeface="Lato"/>
                <a:ea typeface="Lato"/>
                <a:cs typeface="Lato"/>
                <a:sym typeface="Lato"/>
              </a:rPr>
              <a:t> The absolute smallest model. Guarantees it can run on standard hospital PCs, not massive GPU servers.</a:t>
            </a:r>
            <a:endParaRPr sz="1100">
              <a:latin typeface="Lato"/>
              <a:ea typeface="Lato"/>
              <a:cs typeface="Lato"/>
              <a:sym typeface="Lato"/>
            </a:endParaRPr>
          </a:p>
          <a:p>
            <a:pPr indent="0" lvl="0" marL="0" rtl="0" algn="l">
              <a:lnSpc>
                <a:spcPct val="150000"/>
              </a:lnSpc>
              <a:spcBef>
                <a:spcPts val="0"/>
              </a:spcBef>
              <a:spcAft>
                <a:spcPts val="0"/>
              </a:spcAft>
              <a:buNone/>
            </a:pPr>
            <a:r>
              <a:rPr b="1" lang="en-US" sz="1100">
                <a:latin typeface="Lato"/>
                <a:ea typeface="Lato"/>
                <a:cs typeface="Lato"/>
                <a:sym typeface="Lato"/>
              </a:rPr>
              <a:t>Compound Scaling:</a:t>
            </a:r>
            <a:r>
              <a:rPr lang="en-US" sz="1100">
                <a:latin typeface="Lato"/>
                <a:ea typeface="Lato"/>
                <a:cs typeface="Lato"/>
                <a:sym typeface="Lato"/>
              </a:rPr>
              <a:t> Instead of blindly adding layers, EfficientNet mathematically balances depth, width, and resolution simultaneously for maximum efficiency.</a:t>
            </a:r>
            <a:endParaRPr sz="1100">
              <a:latin typeface="Lato"/>
              <a:ea typeface="Lato"/>
              <a:cs typeface="Lato"/>
              <a:sym typeface="Lato"/>
            </a:endParaRPr>
          </a:p>
          <a:p>
            <a:pPr indent="0" lvl="0" marL="0" rtl="0" algn="l">
              <a:lnSpc>
                <a:spcPct val="150000"/>
              </a:lnSpc>
              <a:spcBef>
                <a:spcPts val="0"/>
              </a:spcBef>
              <a:spcAft>
                <a:spcPts val="0"/>
              </a:spcAft>
              <a:buNone/>
            </a:pPr>
            <a:r>
              <a:rPr b="1" lang="en-US" sz="1100">
                <a:latin typeface="Lato"/>
                <a:ea typeface="Lato"/>
                <a:cs typeface="Lato"/>
                <a:sym typeface="Lato"/>
              </a:rPr>
              <a:t>Depthwise Separable Convolutions (MBConv):</a:t>
            </a:r>
            <a:endParaRPr b="1" sz="1100">
              <a:latin typeface="Lato"/>
              <a:ea typeface="Lato"/>
              <a:cs typeface="Lato"/>
              <a:sym typeface="Lato"/>
            </a:endParaRPr>
          </a:p>
          <a:p>
            <a:pPr indent="-298450" lvl="0" marL="457200" rtl="0" algn="l">
              <a:lnSpc>
                <a:spcPct val="150000"/>
              </a:lnSpc>
              <a:spcBef>
                <a:spcPts val="1200"/>
              </a:spcBef>
              <a:spcAft>
                <a:spcPts val="0"/>
              </a:spcAft>
              <a:buSzPts val="1100"/>
              <a:buFont typeface="Lato"/>
              <a:buChar char="●"/>
            </a:pPr>
            <a:r>
              <a:rPr i="1" lang="en-US" sz="1100">
                <a:latin typeface="Lato"/>
                <a:ea typeface="Lato"/>
                <a:cs typeface="Lato"/>
                <a:sym typeface="Lato"/>
              </a:rPr>
              <a:t>Standard Conv:</a:t>
            </a:r>
            <a:r>
              <a:rPr lang="en-US" sz="1100">
                <a:latin typeface="Lato"/>
                <a:ea typeface="Lato"/>
                <a:cs typeface="Lato"/>
                <a:sym typeface="Lato"/>
              </a:rPr>
              <a:t> Mixes spatial info (shapes/where) and channel info (features/what) at the same time = requires massive FLOPs (math/computations).</a:t>
            </a:r>
            <a:endParaRPr sz="1100">
              <a:latin typeface="Lato"/>
              <a:ea typeface="Lato"/>
              <a:cs typeface="Lato"/>
              <a:sym typeface="Lato"/>
            </a:endParaRPr>
          </a:p>
          <a:p>
            <a:pPr indent="-298450" lvl="0" marL="457200" rtl="0" algn="l">
              <a:lnSpc>
                <a:spcPct val="150000"/>
              </a:lnSpc>
              <a:spcBef>
                <a:spcPts val="0"/>
              </a:spcBef>
              <a:spcAft>
                <a:spcPts val="0"/>
              </a:spcAft>
              <a:buSzPts val="1100"/>
              <a:buFont typeface="Lato"/>
              <a:buChar char="●"/>
            </a:pPr>
            <a:r>
              <a:rPr i="1" lang="en-US" sz="1100">
                <a:latin typeface="Lato"/>
                <a:ea typeface="Lato"/>
                <a:cs typeface="Lato"/>
                <a:sym typeface="Lato"/>
              </a:rPr>
              <a:t>Depthwise Separable:</a:t>
            </a:r>
            <a:r>
              <a:rPr lang="en-US" sz="1100">
                <a:latin typeface="Lato"/>
                <a:ea typeface="Lato"/>
                <a:cs typeface="Lato"/>
                <a:sym typeface="Lato"/>
              </a:rPr>
              <a:t> Splits them. Looks at shapes first, mixes channels second. Drastically cuts FLOPs.</a:t>
            </a:r>
            <a:endParaRPr sz="1100">
              <a:latin typeface="Lato"/>
              <a:ea typeface="Lato"/>
              <a:cs typeface="Lato"/>
              <a:sym typeface="Lato"/>
            </a:endParaRPr>
          </a:p>
          <a:p>
            <a:pPr indent="0" lvl="0" marL="0" rtl="0" algn="l">
              <a:lnSpc>
                <a:spcPct val="150000"/>
              </a:lnSpc>
              <a:spcBef>
                <a:spcPts val="1200"/>
              </a:spcBef>
              <a:spcAft>
                <a:spcPts val="0"/>
              </a:spcAft>
              <a:buNone/>
            </a:pPr>
            <a:r>
              <a:rPr b="1" lang="en-US" sz="1100">
                <a:latin typeface="Lato"/>
                <a:ea typeface="Lato"/>
                <a:cs typeface="Lato"/>
                <a:sym typeface="Lato"/>
              </a:rPr>
              <a:t>Skip Connections (Solving Downsampling Amnesia):</a:t>
            </a:r>
            <a:endParaRPr b="1" sz="1100">
              <a:latin typeface="Lato"/>
              <a:ea typeface="Lato"/>
              <a:cs typeface="Lato"/>
              <a:sym typeface="Lato"/>
            </a:endParaRPr>
          </a:p>
          <a:p>
            <a:pPr indent="-298450" lvl="0" marL="457200" rtl="0" algn="l">
              <a:lnSpc>
                <a:spcPct val="150000"/>
              </a:lnSpc>
              <a:spcBef>
                <a:spcPts val="1200"/>
              </a:spcBef>
              <a:spcAft>
                <a:spcPts val="0"/>
              </a:spcAft>
              <a:buSzPts val="1100"/>
              <a:buFont typeface="Lato"/>
              <a:buChar char="●"/>
            </a:pPr>
            <a:r>
              <a:rPr i="1" lang="en-US" sz="1100">
                <a:latin typeface="Lato"/>
                <a:ea typeface="Lato"/>
                <a:cs typeface="Lato"/>
                <a:sym typeface="Lato"/>
              </a:rPr>
              <a:t>The Trap:</a:t>
            </a:r>
            <a:r>
              <a:rPr lang="en-US" sz="1100">
                <a:latin typeface="Lato"/>
                <a:ea typeface="Lato"/>
                <a:cs typeface="Lato"/>
                <a:sym typeface="Lato"/>
              </a:rPr>
              <a:t> The encoder shrinks the image to 16x16. The model knows </a:t>
            </a:r>
            <a:r>
              <a:rPr i="1" lang="en-US" sz="1100">
                <a:latin typeface="Lato"/>
                <a:ea typeface="Lato"/>
                <a:cs typeface="Lato"/>
                <a:sym typeface="Lato"/>
              </a:rPr>
              <a:t>what</a:t>
            </a:r>
            <a:r>
              <a:rPr lang="en-US" sz="1100">
                <a:latin typeface="Lato"/>
                <a:ea typeface="Lato"/>
                <a:cs typeface="Lato"/>
                <a:sym typeface="Lato"/>
              </a:rPr>
              <a:t> the lesion is, but forgets </a:t>
            </a:r>
            <a:r>
              <a:rPr i="1" lang="en-US" sz="1100">
                <a:latin typeface="Lato"/>
                <a:ea typeface="Lato"/>
                <a:cs typeface="Lato"/>
                <a:sym typeface="Lato"/>
              </a:rPr>
              <a:t>where</a:t>
            </a:r>
            <a:r>
              <a:rPr lang="en-US" sz="1100">
                <a:latin typeface="Lato"/>
                <a:ea typeface="Lato"/>
                <a:cs typeface="Lato"/>
                <a:sym typeface="Lato"/>
              </a:rPr>
              <a:t> the exact pixel boundaries are.</a:t>
            </a:r>
            <a:endParaRPr sz="1100">
              <a:latin typeface="Lato"/>
              <a:ea typeface="Lato"/>
              <a:cs typeface="Lato"/>
              <a:sym typeface="Lato"/>
            </a:endParaRPr>
          </a:p>
          <a:p>
            <a:pPr indent="-298450" lvl="0" marL="457200" rtl="0" algn="l">
              <a:lnSpc>
                <a:spcPct val="150000"/>
              </a:lnSpc>
              <a:spcBef>
                <a:spcPts val="0"/>
              </a:spcBef>
              <a:spcAft>
                <a:spcPts val="0"/>
              </a:spcAft>
              <a:buSzPts val="1100"/>
              <a:buFont typeface="Lato"/>
              <a:buChar char="●"/>
            </a:pPr>
            <a:r>
              <a:rPr i="1" lang="en-US" sz="1100">
                <a:latin typeface="Lato"/>
                <a:ea typeface="Lato"/>
                <a:cs typeface="Lato"/>
                <a:sym typeface="Lato"/>
              </a:rPr>
              <a:t>The Fix:</a:t>
            </a:r>
            <a:r>
              <a:rPr lang="en-US" sz="1100">
                <a:latin typeface="Lato"/>
                <a:ea typeface="Lato"/>
                <a:cs typeface="Lato"/>
                <a:sym typeface="Lato"/>
              </a:rPr>
              <a:t> Skip connections act as bridges, copying high-resolution maps directly to the decoder so it can perfectly trace the thin, irregular pleural air pocket.</a:t>
            </a:r>
            <a:endParaRPr b="1" sz="1200">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3ef04103b3f_3_26"/>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Appendix : </a:t>
            </a:r>
            <a:r>
              <a:rPr lang="en-US"/>
              <a:t>Loss &amp; Optimizer</a:t>
            </a:r>
            <a:endParaRPr/>
          </a:p>
          <a:p>
            <a:pPr indent="0" lvl="0" marL="0" rtl="0" algn="l">
              <a:lnSpc>
                <a:spcPct val="100000"/>
              </a:lnSpc>
              <a:spcBef>
                <a:spcPts val="0"/>
              </a:spcBef>
              <a:spcAft>
                <a:spcPts val="0"/>
              </a:spcAft>
              <a:buSzPts val="2600"/>
              <a:buNone/>
            </a:pPr>
            <a:r>
              <a:t/>
            </a:r>
            <a:endParaRPr/>
          </a:p>
        </p:txBody>
      </p:sp>
      <p:sp>
        <p:nvSpPr>
          <p:cNvPr id="506" name="Google Shape;506;g3ef04103b3f_3_26"/>
          <p:cNvSpPr txBox="1"/>
          <p:nvPr/>
        </p:nvSpPr>
        <p:spPr>
          <a:xfrm>
            <a:off x="693800" y="1011300"/>
            <a:ext cx="8090400" cy="3563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1200">
                <a:latin typeface="Lato"/>
                <a:ea typeface="Lato"/>
                <a:cs typeface="Lato"/>
                <a:sym typeface="Lato"/>
              </a:rPr>
              <a:t>Focal Tversky Loss (FTL) Parameters:</a:t>
            </a:r>
            <a:endParaRPr b="1" sz="1200">
              <a:latin typeface="Lato"/>
              <a:ea typeface="Lato"/>
              <a:cs typeface="Lato"/>
              <a:sym typeface="Lato"/>
            </a:endParaRPr>
          </a:p>
          <a:p>
            <a:pPr indent="-304800" lvl="0" marL="457200" rtl="0" algn="l">
              <a:lnSpc>
                <a:spcPct val="150000"/>
              </a:lnSpc>
              <a:spcBef>
                <a:spcPts val="0"/>
              </a:spcBef>
              <a:spcAft>
                <a:spcPts val="0"/>
              </a:spcAft>
              <a:buSzPts val="1200"/>
              <a:buChar char="●"/>
            </a:pPr>
            <a:r>
              <a:rPr lang="en-US" sz="1800">
                <a:latin typeface="Lato"/>
                <a:ea typeface="Lato"/>
                <a:cs typeface="Lato"/>
                <a:sym typeface="Lato"/>
              </a:rPr>
              <a:t>α </a:t>
            </a:r>
            <a:r>
              <a:rPr lang="en-US" sz="1200">
                <a:latin typeface="Lato"/>
                <a:ea typeface="Lato"/>
                <a:cs typeface="Lato"/>
                <a:sym typeface="Lato"/>
              </a:rPr>
              <a:t>= </a:t>
            </a:r>
            <a:r>
              <a:rPr b="1" lang="en-US" sz="1200">
                <a:latin typeface="Lato"/>
                <a:ea typeface="Lato"/>
                <a:cs typeface="Lato"/>
                <a:sym typeface="Lato"/>
              </a:rPr>
              <a:t>0.7, </a:t>
            </a:r>
            <a:r>
              <a:rPr b="1" lang="en-US">
                <a:latin typeface="Lato"/>
                <a:ea typeface="Lato"/>
                <a:cs typeface="Lato"/>
                <a:sym typeface="Lato"/>
              </a:rPr>
              <a:t>β</a:t>
            </a:r>
            <a:r>
              <a:rPr b="1" lang="en-US" sz="1200">
                <a:latin typeface="Lato"/>
                <a:ea typeface="Lato"/>
                <a:cs typeface="Lato"/>
                <a:sym typeface="Lato"/>
              </a:rPr>
              <a:t> =0.3:</a:t>
            </a:r>
            <a:r>
              <a:rPr lang="en-US" sz="1200">
                <a:latin typeface="Lato"/>
                <a:ea typeface="Lato"/>
                <a:cs typeface="Lato"/>
                <a:sym typeface="Lato"/>
              </a:rPr>
              <a:t> Places a 70% penalty on False Negatives (misses) and 30% on False Positives (false alarms). Clinically safer. (Based on Abraham &amp; Khan, 2018).</a:t>
            </a:r>
            <a:endParaRPr sz="1200">
              <a:latin typeface="Lato"/>
              <a:ea typeface="Lato"/>
              <a:cs typeface="Lato"/>
              <a:sym typeface="Lato"/>
            </a:endParaRPr>
          </a:p>
          <a:p>
            <a:pPr indent="-304800" lvl="0" marL="457200" rtl="0" algn="l">
              <a:lnSpc>
                <a:spcPct val="150000"/>
              </a:lnSpc>
              <a:spcBef>
                <a:spcPts val="0"/>
              </a:spcBef>
              <a:spcAft>
                <a:spcPts val="0"/>
              </a:spcAft>
              <a:buSzPts val="1200"/>
              <a:buChar char="●"/>
            </a:pPr>
            <a:r>
              <a:rPr b="1" lang="en-US" sz="1500">
                <a:latin typeface="Lato"/>
                <a:ea typeface="Lato"/>
                <a:cs typeface="Lato"/>
                <a:sym typeface="Lato"/>
              </a:rPr>
              <a:t>γ</a:t>
            </a:r>
            <a:r>
              <a:rPr b="1" lang="en-US" sz="1200">
                <a:latin typeface="Lato"/>
                <a:ea typeface="Lato"/>
                <a:cs typeface="Lato"/>
                <a:sym typeface="Lato"/>
              </a:rPr>
              <a:t> =4/3 :</a:t>
            </a:r>
            <a:r>
              <a:rPr lang="en-US" sz="1200">
                <a:latin typeface="Lato"/>
                <a:ea typeface="Lato"/>
                <a:cs typeface="Lato"/>
                <a:sym typeface="Lato"/>
              </a:rPr>
              <a:t> Acts as a magnifying glass. Since </a:t>
            </a:r>
            <a:r>
              <a:rPr b="1" lang="en-US" sz="1500">
                <a:latin typeface="Lato"/>
                <a:ea typeface="Lato"/>
                <a:cs typeface="Lato"/>
                <a:sym typeface="Lato"/>
              </a:rPr>
              <a:t>γ</a:t>
            </a:r>
            <a:r>
              <a:rPr lang="en-US" sz="1200">
                <a:latin typeface="Lato"/>
                <a:ea typeface="Lato"/>
                <a:cs typeface="Lato"/>
                <a:sym typeface="Lato"/>
              </a:rPr>
              <a:t>= 0.75, the math naturally shrinks the loss for easy background pixels and keeps the loss massive for hard, tiny boundary pixels.</a:t>
            </a:r>
            <a:endParaRPr sz="1200">
              <a:latin typeface="Lato"/>
              <a:ea typeface="Lato"/>
              <a:cs typeface="Lato"/>
              <a:sym typeface="Lato"/>
            </a:endParaRPr>
          </a:p>
          <a:p>
            <a:pPr indent="0" lvl="0" marL="0" rtl="0" algn="l">
              <a:lnSpc>
                <a:spcPct val="150000"/>
              </a:lnSpc>
              <a:spcBef>
                <a:spcPts val="1200"/>
              </a:spcBef>
              <a:spcAft>
                <a:spcPts val="0"/>
              </a:spcAft>
              <a:buNone/>
            </a:pPr>
            <a:r>
              <a:rPr b="1" lang="en-US" sz="1200">
                <a:latin typeface="Lato"/>
                <a:ea typeface="Lato"/>
                <a:cs typeface="Lato"/>
                <a:sym typeface="Lato"/>
              </a:rPr>
              <a:t>Final Loss Formula:</a:t>
            </a:r>
            <a:r>
              <a:rPr lang="en-US" sz="1200">
                <a:latin typeface="Lato"/>
                <a:ea typeface="Lato"/>
                <a:cs typeface="Lato"/>
                <a:sym typeface="Lato"/>
              </a:rPr>
              <a:t>  λ · FTL + (1-λ) · BCE. BCE provides stable, smooth gradients early in training; FTL takes over to handle the extreme class imbalance later.</a:t>
            </a:r>
            <a:endParaRPr sz="1200">
              <a:latin typeface="Lato"/>
              <a:ea typeface="Lato"/>
              <a:cs typeface="Lato"/>
              <a:sym typeface="Lato"/>
            </a:endParaRPr>
          </a:p>
          <a:p>
            <a:pPr indent="0" lvl="0" marL="0" rtl="0" algn="l">
              <a:lnSpc>
                <a:spcPct val="150000"/>
              </a:lnSpc>
              <a:spcBef>
                <a:spcPts val="0"/>
              </a:spcBef>
              <a:spcAft>
                <a:spcPts val="0"/>
              </a:spcAft>
              <a:buNone/>
            </a:pPr>
            <a:r>
              <a:rPr b="1" lang="en-US" sz="1200">
                <a:latin typeface="Lato"/>
                <a:ea typeface="Lato"/>
                <a:cs typeface="Lato"/>
                <a:sym typeface="Lato"/>
              </a:rPr>
              <a:t>Adam vs. SGD (Sparse Gradients):</a:t>
            </a:r>
            <a:endParaRPr b="1" sz="1200">
              <a:latin typeface="Lato"/>
              <a:ea typeface="Lato"/>
              <a:cs typeface="Lato"/>
              <a:sym typeface="Lato"/>
            </a:endParaRPr>
          </a:p>
          <a:p>
            <a:pPr indent="-304800" lvl="0" marL="457200" rtl="0" algn="l">
              <a:lnSpc>
                <a:spcPct val="150000"/>
              </a:lnSpc>
              <a:spcBef>
                <a:spcPts val="0"/>
              </a:spcBef>
              <a:spcAft>
                <a:spcPts val="0"/>
              </a:spcAft>
              <a:buSzPts val="1200"/>
              <a:buFont typeface="Lato"/>
              <a:buChar char="●"/>
            </a:pPr>
            <a:r>
              <a:rPr i="1" lang="en-US" sz="1200">
                <a:latin typeface="Lato"/>
                <a:ea typeface="Lato"/>
                <a:cs typeface="Lato"/>
                <a:sym typeface="Lato"/>
              </a:rPr>
              <a:t>Sparse Gradients:</a:t>
            </a:r>
            <a:r>
              <a:rPr lang="en-US" sz="1200">
                <a:latin typeface="Lato"/>
                <a:ea typeface="Lato"/>
                <a:cs typeface="Lato"/>
                <a:sym typeface="Lato"/>
              </a:rPr>
              <a:t> Lesion pixels are so rare (2%) that their specific detectors are almost never updated.</a:t>
            </a:r>
            <a:endParaRPr sz="1200">
              <a:latin typeface="Lato"/>
              <a:ea typeface="Lato"/>
              <a:cs typeface="Lato"/>
              <a:sym typeface="Lato"/>
            </a:endParaRPr>
          </a:p>
          <a:p>
            <a:pPr indent="-304800" lvl="0" marL="457200" rtl="0" algn="l">
              <a:lnSpc>
                <a:spcPct val="150000"/>
              </a:lnSpc>
              <a:spcBef>
                <a:spcPts val="0"/>
              </a:spcBef>
              <a:spcAft>
                <a:spcPts val="0"/>
              </a:spcAft>
              <a:buSzPts val="1200"/>
              <a:buFont typeface="Lato"/>
              <a:buChar char="●"/>
            </a:pPr>
            <a:r>
              <a:rPr i="1" lang="en-US" sz="1200">
                <a:latin typeface="Lato"/>
                <a:ea typeface="Lato"/>
                <a:cs typeface="Lato"/>
                <a:sym typeface="Lato"/>
              </a:rPr>
              <a:t>The Fix:</a:t>
            </a:r>
            <a:r>
              <a:rPr lang="en-US" sz="1200">
                <a:latin typeface="Lato"/>
                <a:ea typeface="Lato"/>
                <a:cs typeface="Lato"/>
                <a:sym typeface="Lato"/>
              </a:rPr>
              <a:t> SGD uses one global learning rate and would let the background dominate. Adam gives </a:t>
            </a:r>
            <a:r>
              <a:rPr i="1" lang="en-US" sz="1200">
                <a:latin typeface="Lato"/>
                <a:ea typeface="Lato"/>
                <a:cs typeface="Lato"/>
                <a:sym typeface="Lato"/>
              </a:rPr>
              <a:t>every single parameter</a:t>
            </a:r>
            <a:r>
              <a:rPr lang="en-US" sz="1200">
                <a:latin typeface="Lato"/>
                <a:ea typeface="Lato"/>
                <a:cs typeface="Lato"/>
                <a:sym typeface="Lato"/>
              </a:rPr>
              <a:t> its own step size. It shrinks the steps for the frequent background and preserves large, confident steps for the rare lesion updates.</a:t>
            </a:r>
            <a:endParaRPr b="1" sz="1200">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g3f1076ca001_1_0"/>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Appendix : </a:t>
            </a:r>
            <a:r>
              <a:rPr lang="en-US"/>
              <a:t>Cosine Annealing</a:t>
            </a:r>
            <a:endParaRPr/>
          </a:p>
          <a:p>
            <a:pPr indent="0" lvl="0" marL="0" rtl="0" algn="l">
              <a:lnSpc>
                <a:spcPct val="100000"/>
              </a:lnSpc>
              <a:spcBef>
                <a:spcPts val="0"/>
              </a:spcBef>
              <a:spcAft>
                <a:spcPts val="0"/>
              </a:spcAft>
              <a:buSzPts val="2600"/>
              <a:buNone/>
            </a:pPr>
            <a:r>
              <a:t/>
            </a:r>
            <a:endParaRPr/>
          </a:p>
        </p:txBody>
      </p:sp>
      <p:sp>
        <p:nvSpPr>
          <p:cNvPr id="512" name="Google Shape;512;g3f1076ca001_1_0"/>
          <p:cNvSpPr txBox="1"/>
          <p:nvPr/>
        </p:nvSpPr>
        <p:spPr>
          <a:xfrm>
            <a:off x="693800" y="1011300"/>
            <a:ext cx="8090400" cy="3563100"/>
          </a:xfrm>
          <a:prstGeom prst="rect">
            <a:avLst/>
          </a:prstGeom>
          <a:noFill/>
          <a:ln>
            <a:noFill/>
          </a:ln>
        </p:spPr>
        <p:txBody>
          <a:bodyPr anchorCtr="0" anchor="t" bIns="91425" lIns="91425" spcFirstLastPara="1" rIns="91425" wrap="square" tIns="91425">
            <a:noAutofit/>
          </a:bodyPr>
          <a:lstStyle/>
          <a:p>
            <a:pPr indent="-311150" lvl="0" marL="457200" rtl="0" algn="just">
              <a:lnSpc>
                <a:spcPct val="150000"/>
              </a:lnSpc>
              <a:spcBef>
                <a:spcPts val="0"/>
              </a:spcBef>
              <a:spcAft>
                <a:spcPts val="0"/>
              </a:spcAft>
              <a:buSzPts val="1300"/>
              <a:buFont typeface="Lato"/>
              <a:buChar char="●"/>
            </a:pPr>
            <a:r>
              <a:rPr b="1" lang="en-US" sz="1200">
                <a:latin typeface="Lato"/>
                <a:ea typeface="Lato"/>
                <a:cs typeface="Lato"/>
                <a:sym typeface="Lato"/>
              </a:rPr>
              <a:t>The Cosine Wave:</a:t>
            </a:r>
            <a:r>
              <a:rPr lang="en-US" sz="1200">
                <a:latin typeface="Lato"/>
                <a:ea typeface="Lato"/>
                <a:cs typeface="Lato"/>
                <a:sym typeface="Lato"/>
              </a:rPr>
              <a:t> The learning rate smoothly decays on a curve, giving the optimizer millions of tiny, careful micro-steps at the bottom to perfectly fine-tune the lesion boundary.</a:t>
            </a:r>
            <a:endParaRPr sz="1200">
              <a:latin typeface="Lato"/>
              <a:ea typeface="Lato"/>
              <a:cs typeface="Lato"/>
              <a:sym typeface="Lato"/>
            </a:endParaRPr>
          </a:p>
          <a:p>
            <a:pPr indent="-311150" lvl="0" marL="457200" rtl="0" algn="just">
              <a:lnSpc>
                <a:spcPct val="150000"/>
              </a:lnSpc>
              <a:spcBef>
                <a:spcPts val="0"/>
              </a:spcBef>
              <a:spcAft>
                <a:spcPts val="0"/>
              </a:spcAft>
              <a:buSzPts val="1300"/>
              <a:buFont typeface="Lato"/>
              <a:buChar char="●"/>
            </a:pPr>
            <a:r>
              <a:rPr b="1" lang="en-US" sz="1200">
                <a:latin typeface="Lato"/>
                <a:ea typeface="Lato"/>
                <a:cs typeface="Lato"/>
                <a:sym typeface="Lato"/>
              </a:rPr>
              <a:t>Warm Restarts:</a:t>
            </a:r>
            <a:r>
              <a:rPr lang="en-US" sz="1200">
                <a:latin typeface="Lato"/>
                <a:ea typeface="Lato"/>
                <a:cs typeface="Lato"/>
                <a:sym typeface="Lato"/>
              </a:rPr>
              <a:t> Instantly resets the learning rate to maximum ηmax like a jetpack.</a:t>
            </a:r>
            <a:endParaRPr sz="1200">
              <a:latin typeface="Lato"/>
              <a:ea typeface="Lato"/>
              <a:cs typeface="Lato"/>
              <a:sym typeface="Lato"/>
            </a:endParaRPr>
          </a:p>
          <a:p>
            <a:pPr indent="-311150" lvl="0" marL="457200" rtl="0" algn="just">
              <a:lnSpc>
                <a:spcPct val="150000"/>
              </a:lnSpc>
              <a:spcBef>
                <a:spcPts val="0"/>
              </a:spcBef>
              <a:spcAft>
                <a:spcPts val="0"/>
              </a:spcAft>
              <a:buSzPts val="1300"/>
              <a:buFont typeface="Lato"/>
              <a:buChar char="●"/>
            </a:pPr>
            <a:r>
              <a:rPr b="1" lang="en-US" sz="1200">
                <a:latin typeface="Lato"/>
                <a:ea typeface="Lato"/>
                <a:cs typeface="Lato"/>
                <a:sym typeface="Lato"/>
              </a:rPr>
              <a:t>Local vs. Global Minima:</a:t>
            </a:r>
            <a:r>
              <a:rPr lang="en-US" sz="1200">
                <a:latin typeface="Lato"/>
                <a:ea typeface="Lato"/>
                <a:cs typeface="Lato"/>
                <a:sym typeface="Lato"/>
              </a:rPr>
              <a:t> The jetpack blasts the model out of shallow "local minima" (e.g., getting stuck at 90% accuracy) so it can bounce over the bumpy terrain and settle into a wide, flat "global minimum." Flat minima are highly generalizable, meaning the AI won't break on a new patient's X-ray.</a:t>
            </a:r>
            <a:endParaRPr b="1" sz="1300">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3f1076ca001_1_6"/>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Appendix : </a:t>
            </a:r>
            <a:r>
              <a:rPr lang="en-US"/>
              <a:t>CLAHE Preprocessing</a:t>
            </a:r>
            <a:endParaRPr/>
          </a:p>
          <a:p>
            <a:pPr indent="0" lvl="0" marL="0" rtl="0" algn="l">
              <a:lnSpc>
                <a:spcPct val="100000"/>
              </a:lnSpc>
              <a:spcBef>
                <a:spcPts val="0"/>
              </a:spcBef>
              <a:spcAft>
                <a:spcPts val="0"/>
              </a:spcAft>
              <a:buSzPts val="2600"/>
              <a:buNone/>
            </a:pPr>
            <a:r>
              <a:t/>
            </a:r>
            <a:endParaRPr/>
          </a:p>
        </p:txBody>
      </p:sp>
      <p:sp>
        <p:nvSpPr>
          <p:cNvPr id="518" name="Google Shape;518;g3f1076ca001_1_6"/>
          <p:cNvSpPr txBox="1"/>
          <p:nvPr/>
        </p:nvSpPr>
        <p:spPr>
          <a:xfrm>
            <a:off x="693800" y="1011300"/>
            <a:ext cx="8090400" cy="3563100"/>
          </a:xfrm>
          <a:prstGeom prst="rect">
            <a:avLst/>
          </a:prstGeom>
          <a:noFill/>
          <a:ln>
            <a:noFill/>
          </a:ln>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SzPts val="1400"/>
              <a:buFont typeface="Lato"/>
              <a:buChar char="●"/>
            </a:pPr>
            <a:r>
              <a:rPr b="1" lang="en-US" sz="1200">
                <a:latin typeface="Lato"/>
                <a:ea typeface="Lato"/>
                <a:cs typeface="Lato"/>
                <a:sym typeface="Lato"/>
              </a:rPr>
              <a:t>The AHE Trap (Invisible Grain):</a:t>
            </a:r>
            <a:r>
              <a:rPr lang="en-US" sz="1200">
                <a:latin typeface="Lato"/>
                <a:ea typeface="Lato"/>
                <a:cs typeface="Lato"/>
                <a:sym typeface="Lato"/>
              </a:rPr>
              <a:t> Standard AHE forces every area to have maximum contrast. It takes microscopic, invisible X-ray sensor static and stretches it across the color spectrum, amplifying it into blinding visual noise.</a:t>
            </a:r>
            <a:endParaRPr sz="1200">
              <a:latin typeface="Lato"/>
              <a:ea typeface="Lato"/>
              <a:cs typeface="Lato"/>
              <a:sym typeface="Lato"/>
            </a:endParaRPr>
          </a:p>
          <a:p>
            <a:pPr indent="-317500" lvl="0" marL="457200" rtl="0" algn="just">
              <a:lnSpc>
                <a:spcPct val="150000"/>
              </a:lnSpc>
              <a:spcBef>
                <a:spcPts val="0"/>
              </a:spcBef>
              <a:spcAft>
                <a:spcPts val="0"/>
              </a:spcAft>
              <a:buSzPts val="1400"/>
              <a:buFont typeface="Lato"/>
              <a:buChar char="●"/>
            </a:pPr>
            <a:r>
              <a:rPr b="1" lang="en-US" sz="1200">
                <a:latin typeface="Lato"/>
                <a:ea typeface="Lato"/>
                <a:cs typeface="Lato"/>
                <a:sym typeface="Lato"/>
              </a:rPr>
              <a:t>Clip Limit (CL):</a:t>
            </a:r>
            <a:r>
              <a:rPr lang="en-US" sz="1200">
                <a:latin typeface="Lato"/>
                <a:ea typeface="Lato"/>
                <a:cs typeface="Lato"/>
                <a:sym typeface="Lato"/>
              </a:rPr>
              <a:t> Limits the </a:t>
            </a:r>
            <a:r>
              <a:rPr i="1" lang="en-US" sz="1200">
                <a:latin typeface="Lato"/>
                <a:ea typeface="Lato"/>
                <a:cs typeface="Lato"/>
                <a:sym typeface="Lato"/>
              </a:rPr>
              <a:t>count/frequency</a:t>
            </a:r>
            <a:r>
              <a:rPr lang="en-US" sz="1200">
                <a:latin typeface="Lato"/>
                <a:ea typeface="Lato"/>
                <a:cs typeface="Lato"/>
                <a:sym typeface="Lato"/>
              </a:rPr>
              <a:t> (not brightness) of identical pixels. It chops the top off massive spikes of identical static pixels, acting as a ceiling to prevent noise amplification.</a:t>
            </a:r>
            <a:endParaRPr sz="1200">
              <a:latin typeface="Lato"/>
              <a:ea typeface="Lato"/>
              <a:cs typeface="Lato"/>
              <a:sym typeface="Lato"/>
            </a:endParaRPr>
          </a:p>
          <a:p>
            <a:pPr indent="-317500" lvl="0" marL="457200" rtl="0" algn="just">
              <a:lnSpc>
                <a:spcPct val="150000"/>
              </a:lnSpc>
              <a:spcBef>
                <a:spcPts val="0"/>
              </a:spcBef>
              <a:spcAft>
                <a:spcPts val="0"/>
              </a:spcAft>
              <a:buSzPts val="1400"/>
              <a:buFont typeface="Lato"/>
              <a:buChar char="●"/>
            </a:pPr>
            <a:r>
              <a:rPr b="1" lang="en-US" sz="1200">
                <a:latin typeface="Lato"/>
                <a:ea typeface="Lato"/>
                <a:cs typeface="Lato"/>
                <a:sym typeface="Lato"/>
              </a:rPr>
              <a:t>Tiling &amp; H-Map:</a:t>
            </a:r>
            <a:r>
              <a:rPr lang="en-US" sz="1200">
                <a:latin typeface="Lato"/>
                <a:ea typeface="Lato"/>
                <a:cs typeface="Lato"/>
                <a:sym typeface="Lato"/>
              </a:rPr>
              <a:t> Cuts the X-ray into a chessboard. The H-Map is the specific "stretching rule" that optimally stretches the dark/light pixels for </a:t>
            </a:r>
            <a:r>
              <a:rPr i="1" lang="en-US" sz="1200">
                <a:latin typeface="Lato"/>
                <a:ea typeface="Lato"/>
                <a:cs typeface="Lato"/>
                <a:sym typeface="Lato"/>
              </a:rPr>
              <a:t>that specific square</a:t>
            </a:r>
            <a:r>
              <a:rPr lang="en-US" sz="1200">
                <a:latin typeface="Lato"/>
                <a:ea typeface="Lato"/>
                <a:cs typeface="Lato"/>
                <a:sym typeface="Lato"/>
              </a:rPr>
              <a:t>, highlighting the lesion locally.</a:t>
            </a:r>
            <a:endParaRPr sz="1200">
              <a:latin typeface="Lato"/>
              <a:ea typeface="Lato"/>
              <a:cs typeface="Lato"/>
              <a:sym typeface="Lato"/>
            </a:endParaRPr>
          </a:p>
          <a:p>
            <a:pPr indent="-317500" lvl="0" marL="457200" rtl="0" algn="just">
              <a:lnSpc>
                <a:spcPct val="150000"/>
              </a:lnSpc>
              <a:spcBef>
                <a:spcPts val="0"/>
              </a:spcBef>
              <a:spcAft>
                <a:spcPts val="0"/>
              </a:spcAft>
              <a:buSzPts val="1400"/>
              <a:buFont typeface="Lato"/>
              <a:buChar char="●"/>
            </a:pPr>
            <a:r>
              <a:rPr b="1" lang="en-US" sz="1200">
                <a:latin typeface="Lato"/>
                <a:ea typeface="Lato"/>
                <a:cs typeface="Lato"/>
                <a:sym typeface="Lato"/>
              </a:rPr>
              <a:t>Bilinear Interpolation:</a:t>
            </a:r>
            <a:r>
              <a:rPr lang="en-US" sz="1200">
                <a:latin typeface="Lato"/>
                <a:ea typeface="Lato"/>
                <a:cs typeface="Lato"/>
                <a:sym typeface="Lato"/>
              </a:rPr>
              <a:t> Smoothly blends the H-Maps of neighboring squares together, completely erasing the artificial grid lines from the final image.</a:t>
            </a:r>
            <a:endParaRPr b="1" sz="1300">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1076ca001_1_12"/>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Appendix : </a:t>
            </a:r>
            <a:r>
              <a:rPr lang="en-US"/>
              <a:t>Post-Processing &amp; Evaluation</a:t>
            </a:r>
            <a:endParaRPr/>
          </a:p>
          <a:p>
            <a:pPr indent="0" lvl="0" marL="0" rtl="0" algn="l">
              <a:lnSpc>
                <a:spcPct val="100000"/>
              </a:lnSpc>
              <a:spcBef>
                <a:spcPts val="0"/>
              </a:spcBef>
              <a:spcAft>
                <a:spcPts val="0"/>
              </a:spcAft>
              <a:buSzPts val="2600"/>
              <a:buNone/>
            </a:pPr>
            <a:r>
              <a:t/>
            </a:r>
            <a:endParaRPr/>
          </a:p>
        </p:txBody>
      </p:sp>
      <p:sp>
        <p:nvSpPr>
          <p:cNvPr id="524" name="Google Shape;524;g3f1076ca001_1_12"/>
          <p:cNvSpPr txBox="1"/>
          <p:nvPr/>
        </p:nvSpPr>
        <p:spPr>
          <a:xfrm>
            <a:off x="526800" y="1011300"/>
            <a:ext cx="8090400" cy="3563100"/>
          </a:xfrm>
          <a:prstGeom prst="rect">
            <a:avLst/>
          </a:prstGeom>
          <a:noFill/>
          <a:ln>
            <a:noFill/>
          </a:ln>
        </p:spPr>
        <p:txBody>
          <a:bodyPr anchorCtr="0" anchor="t" bIns="91425" lIns="91425" spcFirstLastPara="1" rIns="91425" wrap="square" tIns="91425">
            <a:noAutofit/>
          </a:bodyPr>
          <a:lstStyle/>
          <a:p>
            <a:pPr indent="-228600" lvl="0" marL="457200" rtl="0" algn="just">
              <a:lnSpc>
                <a:spcPct val="150000"/>
              </a:lnSpc>
              <a:spcBef>
                <a:spcPts val="0"/>
              </a:spcBef>
              <a:spcAft>
                <a:spcPts val="0"/>
              </a:spcAft>
              <a:buNone/>
            </a:pPr>
            <a:r>
              <a:rPr b="1" lang="en-US" sz="1200">
                <a:latin typeface="Lato"/>
                <a:ea typeface="Lato"/>
                <a:cs typeface="Lato"/>
                <a:sym typeface="Lato"/>
              </a:rPr>
              <a:t>Test Time Augmentation (TTA):</a:t>
            </a:r>
            <a:r>
              <a:rPr lang="en-US" sz="1200">
                <a:latin typeface="Lato"/>
                <a:ea typeface="Lato"/>
                <a:cs typeface="Lato"/>
                <a:sym typeface="Lato"/>
              </a:rPr>
              <a:t> Flips the test image horizontally and averages the two predictions. The AI's "second opinion" to reduce variance.</a:t>
            </a:r>
            <a:endParaRPr sz="1200">
              <a:latin typeface="Lato"/>
              <a:ea typeface="Lato"/>
              <a:cs typeface="Lato"/>
              <a:sym typeface="Lato"/>
            </a:endParaRPr>
          </a:p>
          <a:p>
            <a:pPr indent="-228600" lvl="0" marL="457200" rtl="0" algn="just">
              <a:lnSpc>
                <a:spcPct val="150000"/>
              </a:lnSpc>
              <a:spcBef>
                <a:spcPts val="0"/>
              </a:spcBef>
              <a:spcAft>
                <a:spcPts val="0"/>
              </a:spcAft>
              <a:buNone/>
            </a:pPr>
            <a:r>
              <a:rPr b="1" lang="en-US" sz="1200">
                <a:latin typeface="Lato"/>
                <a:ea typeface="Lato"/>
                <a:cs typeface="Lato"/>
                <a:sym typeface="Lato"/>
              </a:rPr>
              <a:t>Thresholding (0.5):</a:t>
            </a:r>
            <a:r>
              <a:rPr lang="en-US" sz="1200">
                <a:latin typeface="Lato"/>
                <a:ea typeface="Lato"/>
                <a:cs typeface="Lato"/>
                <a:sym typeface="Lato"/>
              </a:rPr>
              <a:t> Converts the U-Net's "probability map" into a hard, definitive Yes/No (Black/White) binary mask.</a:t>
            </a:r>
            <a:endParaRPr sz="1200">
              <a:latin typeface="Lato"/>
              <a:ea typeface="Lato"/>
              <a:cs typeface="Lato"/>
              <a:sym typeface="Lato"/>
            </a:endParaRPr>
          </a:p>
          <a:p>
            <a:pPr indent="-228600" lvl="0" marL="457200" rtl="0" algn="just">
              <a:lnSpc>
                <a:spcPct val="150000"/>
              </a:lnSpc>
              <a:spcBef>
                <a:spcPts val="0"/>
              </a:spcBef>
              <a:spcAft>
                <a:spcPts val="0"/>
              </a:spcAft>
              <a:buNone/>
            </a:pPr>
            <a:r>
              <a:rPr b="1" lang="en-US" sz="1200">
                <a:latin typeface="Lato"/>
                <a:ea typeface="Lato"/>
                <a:cs typeface="Lato"/>
                <a:sym typeface="Lato"/>
              </a:rPr>
              <a:t>Morphological Filtering:</a:t>
            </a:r>
            <a:r>
              <a:rPr lang="en-US" sz="1200">
                <a:latin typeface="Lato"/>
                <a:ea typeface="Lato"/>
                <a:cs typeface="Lato"/>
                <a:sym typeface="Lato"/>
              </a:rPr>
              <a:t> "Dusts off the crumbs." Deletes microscopic, disconnected white specks (false alarms) because pneumothorax is a collected air pocket, not scattered dots.</a:t>
            </a:r>
            <a:endParaRPr sz="1200">
              <a:latin typeface="Lato"/>
              <a:ea typeface="Lato"/>
              <a:cs typeface="Lato"/>
              <a:sym typeface="Lato"/>
            </a:endParaRPr>
          </a:p>
          <a:p>
            <a:pPr indent="-228600" lvl="0" marL="457200" rtl="0" algn="just">
              <a:lnSpc>
                <a:spcPct val="150000"/>
              </a:lnSpc>
              <a:spcBef>
                <a:spcPts val="0"/>
              </a:spcBef>
              <a:spcAft>
                <a:spcPts val="0"/>
              </a:spcAft>
              <a:buNone/>
            </a:pPr>
            <a:r>
              <a:rPr b="1" lang="en-US" sz="1200">
                <a:latin typeface="Lato"/>
                <a:ea typeface="Lato"/>
                <a:cs typeface="Lato"/>
                <a:sym typeface="Lato"/>
              </a:rPr>
              <a:t>TP, FP, TN, FN (Pixel Level):</a:t>
            </a:r>
            <a:endParaRPr b="1" sz="1200">
              <a:latin typeface="Lato"/>
              <a:ea typeface="Lato"/>
              <a:cs typeface="Lato"/>
              <a:sym typeface="Lato"/>
            </a:endParaRPr>
          </a:p>
          <a:p>
            <a:pPr indent="-304800" lvl="0" marL="457200" rtl="0" algn="just">
              <a:lnSpc>
                <a:spcPct val="115000"/>
              </a:lnSpc>
              <a:spcBef>
                <a:spcPts val="1200"/>
              </a:spcBef>
              <a:spcAft>
                <a:spcPts val="0"/>
              </a:spcAft>
              <a:buSzPts val="1200"/>
              <a:buFont typeface="Lato"/>
              <a:buChar char="●"/>
            </a:pPr>
            <a:r>
              <a:rPr i="1" lang="en-US" sz="1200">
                <a:latin typeface="Lato"/>
                <a:ea typeface="Lato"/>
                <a:cs typeface="Lato"/>
                <a:sym typeface="Lato"/>
              </a:rPr>
              <a:t>TP:</a:t>
            </a:r>
            <a:r>
              <a:rPr lang="en-US" sz="1200">
                <a:latin typeface="Lato"/>
                <a:ea typeface="Lato"/>
                <a:cs typeface="Lato"/>
                <a:sym typeface="Lato"/>
              </a:rPr>
              <a:t> Hit. </a:t>
            </a:r>
            <a:r>
              <a:rPr i="1" lang="en-US" sz="1200">
                <a:latin typeface="Lato"/>
                <a:ea typeface="Lato"/>
                <a:cs typeface="Lato"/>
                <a:sym typeface="Lato"/>
              </a:rPr>
              <a:t>FP:</a:t>
            </a:r>
            <a:r>
              <a:rPr lang="en-US" sz="1200">
                <a:latin typeface="Lato"/>
                <a:ea typeface="Lato"/>
                <a:cs typeface="Lato"/>
                <a:sym typeface="Lato"/>
              </a:rPr>
              <a:t> False Alarm. </a:t>
            </a:r>
            <a:r>
              <a:rPr i="1" lang="en-US" sz="1200">
                <a:latin typeface="Lato"/>
                <a:ea typeface="Lato"/>
                <a:cs typeface="Lato"/>
                <a:sym typeface="Lato"/>
              </a:rPr>
              <a:t>FN:</a:t>
            </a:r>
            <a:r>
              <a:rPr lang="en-US" sz="1200">
                <a:latin typeface="Lato"/>
                <a:ea typeface="Lato"/>
                <a:cs typeface="Lato"/>
                <a:sym typeface="Lato"/>
              </a:rPr>
              <a:t> Miss (The worst error). </a:t>
            </a:r>
            <a:r>
              <a:rPr i="1" lang="en-US" sz="1200">
                <a:latin typeface="Lato"/>
                <a:ea typeface="Lato"/>
                <a:cs typeface="Lato"/>
                <a:sym typeface="Lato"/>
              </a:rPr>
              <a:t>TN:</a:t>
            </a:r>
            <a:r>
              <a:rPr lang="en-US" sz="1200">
                <a:latin typeface="Lato"/>
                <a:ea typeface="Lato"/>
                <a:cs typeface="Lato"/>
                <a:sym typeface="Lato"/>
              </a:rPr>
              <a:t> Correctly ignored background (98% of the image).</a:t>
            </a:r>
            <a:endParaRPr b="1" sz="1300">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g3f1076ca001_1_18"/>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Appendix : </a:t>
            </a:r>
            <a:r>
              <a:rPr lang="en-US"/>
              <a:t>Research Scope &amp; Limitations</a:t>
            </a:r>
            <a:endParaRPr/>
          </a:p>
          <a:p>
            <a:pPr indent="0" lvl="0" marL="0" rtl="0" algn="l">
              <a:lnSpc>
                <a:spcPct val="100000"/>
              </a:lnSpc>
              <a:spcBef>
                <a:spcPts val="0"/>
              </a:spcBef>
              <a:spcAft>
                <a:spcPts val="0"/>
              </a:spcAft>
              <a:buSzPts val="2600"/>
              <a:buNone/>
            </a:pPr>
            <a:r>
              <a:t/>
            </a:r>
            <a:endParaRPr/>
          </a:p>
        </p:txBody>
      </p:sp>
      <p:sp>
        <p:nvSpPr>
          <p:cNvPr id="530" name="Google Shape;530;g3f1076ca001_1_18"/>
          <p:cNvSpPr txBox="1"/>
          <p:nvPr/>
        </p:nvSpPr>
        <p:spPr>
          <a:xfrm>
            <a:off x="526800" y="1011300"/>
            <a:ext cx="8090400" cy="3563100"/>
          </a:xfrm>
          <a:prstGeom prst="rect">
            <a:avLst/>
          </a:prstGeom>
          <a:noFill/>
          <a:ln>
            <a:noFill/>
          </a:ln>
        </p:spPr>
        <p:txBody>
          <a:bodyPr anchorCtr="0" anchor="t" bIns="91425" lIns="91425" spcFirstLastPara="1" rIns="91425" wrap="square" tIns="91425">
            <a:noAutofit/>
          </a:bodyPr>
          <a:lstStyle/>
          <a:p>
            <a:pPr indent="-311150" lvl="0" marL="457200" rtl="0" algn="just">
              <a:lnSpc>
                <a:spcPct val="150000"/>
              </a:lnSpc>
              <a:spcBef>
                <a:spcPts val="0"/>
              </a:spcBef>
              <a:spcAft>
                <a:spcPts val="0"/>
              </a:spcAft>
              <a:buSzPts val="1300"/>
              <a:buFont typeface="Lato"/>
              <a:buChar char="●"/>
            </a:pPr>
            <a:r>
              <a:rPr b="1" lang="en-US" sz="1200">
                <a:latin typeface="Lato"/>
                <a:ea typeface="Lato"/>
                <a:cs typeface="Lato"/>
                <a:sym typeface="Lato"/>
              </a:rPr>
              <a:t>Target Pathology Bound:</a:t>
            </a:r>
            <a:r>
              <a:rPr lang="en-US" sz="1200">
                <a:latin typeface="Lato"/>
                <a:ea typeface="Lato"/>
                <a:cs typeface="Lato"/>
                <a:sym typeface="Lato"/>
              </a:rPr>
              <a:t> The study is exclusively focused on pneumothorax semantic segmentation. Other thoracic diseases (like pneumonia or tuberculosis) are strictly outside the scope.</a:t>
            </a:r>
            <a:endParaRPr sz="1200">
              <a:latin typeface="Lato"/>
              <a:ea typeface="Lato"/>
              <a:cs typeface="Lato"/>
              <a:sym typeface="Lato"/>
            </a:endParaRPr>
          </a:p>
          <a:p>
            <a:pPr indent="-311150" lvl="0" marL="457200" rtl="0" algn="just">
              <a:lnSpc>
                <a:spcPct val="150000"/>
              </a:lnSpc>
              <a:spcBef>
                <a:spcPts val="0"/>
              </a:spcBef>
              <a:spcAft>
                <a:spcPts val="0"/>
              </a:spcAft>
              <a:buSzPts val="1300"/>
              <a:buFont typeface="Lato"/>
              <a:buChar char="●"/>
            </a:pPr>
            <a:r>
              <a:rPr b="1" lang="en-US" sz="1200">
                <a:latin typeface="Lato"/>
                <a:ea typeface="Lato"/>
                <a:cs typeface="Lato"/>
                <a:sym typeface="Lato"/>
              </a:rPr>
              <a:t>Architectural Bound:</a:t>
            </a:r>
            <a:r>
              <a:rPr lang="en-US" sz="1200">
                <a:latin typeface="Lato"/>
                <a:ea typeface="Lato"/>
                <a:cs typeface="Lato"/>
                <a:sym typeface="Lato"/>
              </a:rPr>
              <a:t> The pipeline relies entirely on the U-Net with EfficientNet-B0 encoder. It specifically excludes computationally heavy techniques like GANs, Vision Transformers (ViTs), or multi-task learning, because the core objective is to prove the viability of a </a:t>
            </a:r>
            <a:r>
              <a:rPr i="1" lang="en-US" sz="1200">
                <a:latin typeface="Lato"/>
                <a:ea typeface="Lato"/>
                <a:cs typeface="Lato"/>
                <a:sym typeface="Lato"/>
              </a:rPr>
              <a:t>lightweight</a:t>
            </a:r>
            <a:r>
              <a:rPr lang="en-US" sz="1200">
                <a:latin typeface="Lato"/>
                <a:ea typeface="Lato"/>
                <a:cs typeface="Lato"/>
                <a:sym typeface="Lato"/>
              </a:rPr>
              <a:t> model.</a:t>
            </a:r>
            <a:endParaRPr sz="1200">
              <a:latin typeface="Lato"/>
              <a:ea typeface="Lato"/>
              <a:cs typeface="Lato"/>
              <a:sym typeface="Lato"/>
            </a:endParaRPr>
          </a:p>
          <a:p>
            <a:pPr indent="-311150" lvl="0" marL="457200" rtl="0" algn="just">
              <a:lnSpc>
                <a:spcPct val="150000"/>
              </a:lnSpc>
              <a:spcBef>
                <a:spcPts val="0"/>
              </a:spcBef>
              <a:spcAft>
                <a:spcPts val="0"/>
              </a:spcAft>
              <a:buSzPts val="1300"/>
              <a:buFont typeface="Lato"/>
              <a:buChar char="●"/>
            </a:pPr>
            <a:r>
              <a:rPr b="1" lang="en-US" sz="1200">
                <a:latin typeface="Lato"/>
                <a:ea typeface="Lato"/>
                <a:cs typeface="Lato"/>
                <a:sym typeface="Lato"/>
              </a:rPr>
              <a:t>Dataset Bound:</a:t>
            </a:r>
            <a:r>
              <a:rPr lang="en-US" sz="1200">
                <a:latin typeface="Lato"/>
                <a:ea typeface="Lato"/>
                <a:cs typeface="Lato"/>
                <a:sym typeface="Lato"/>
              </a:rPr>
              <a:t> All training, validation, and testing phases are performed exclusively on the SIIM-ACR dataset.</a:t>
            </a:r>
            <a:endParaRPr sz="1200">
              <a:latin typeface="Lato"/>
              <a:ea typeface="Lato"/>
              <a:cs typeface="Lato"/>
              <a:sym typeface="Lato"/>
            </a:endParaRPr>
          </a:p>
          <a:p>
            <a:pPr indent="-311150" lvl="0" marL="457200" rtl="0" algn="just">
              <a:lnSpc>
                <a:spcPct val="150000"/>
              </a:lnSpc>
              <a:spcBef>
                <a:spcPts val="0"/>
              </a:spcBef>
              <a:spcAft>
                <a:spcPts val="0"/>
              </a:spcAft>
              <a:buSzPts val="1300"/>
              <a:buFont typeface="Lato"/>
              <a:buChar char="●"/>
            </a:pPr>
            <a:r>
              <a:rPr b="1" lang="en-US" sz="1200">
                <a:latin typeface="Lato"/>
                <a:ea typeface="Lato"/>
                <a:cs typeface="Lato"/>
                <a:sym typeface="Lato"/>
              </a:rPr>
              <a:t>Metric Bound:</a:t>
            </a:r>
            <a:r>
              <a:rPr lang="en-US" sz="1200">
                <a:latin typeface="Lato"/>
                <a:ea typeface="Lato"/>
                <a:cs typeface="Lato"/>
                <a:sym typeface="Lato"/>
              </a:rPr>
              <a:t> Performance is evaluated strictly on spatial overlap (Dice and IoU) to measure true boundary delineation, excluding generalized image-level classification metrics.</a:t>
            </a:r>
            <a:endParaRPr b="1" sz="1300">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3f1076ca001_1_24"/>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Appendix : </a:t>
            </a:r>
            <a:r>
              <a:rPr lang="en-US"/>
              <a:t>Additional Training Configurations</a:t>
            </a:r>
            <a:endParaRPr/>
          </a:p>
        </p:txBody>
      </p:sp>
      <p:sp>
        <p:nvSpPr>
          <p:cNvPr id="536" name="Google Shape;536;g3f1076ca001_1_24"/>
          <p:cNvSpPr txBox="1"/>
          <p:nvPr/>
        </p:nvSpPr>
        <p:spPr>
          <a:xfrm>
            <a:off x="526800" y="847000"/>
            <a:ext cx="8090400" cy="3563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1200">
                <a:latin typeface="Lato"/>
                <a:ea typeface="Lato"/>
                <a:cs typeface="Lato"/>
                <a:sym typeface="Lato"/>
              </a:rPr>
              <a:t>ImageNet Normalization:</a:t>
            </a:r>
            <a:endParaRPr b="1"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What it is:</a:t>
            </a:r>
            <a:r>
              <a:rPr lang="en-US" sz="1200">
                <a:latin typeface="Lato"/>
                <a:ea typeface="Lato"/>
                <a:cs typeface="Lato"/>
                <a:sym typeface="Lato"/>
              </a:rPr>
              <a:t> Before training, images are normalized using the specific channel-wise mean and standard deviation from the ImageNet dataset.</a:t>
            </a:r>
            <a:endParaRPr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Why it matters:</a:t>
            </a:r>
            <a:r>
              <a:rPr lang="en-US" sz="1200">
                <a:latin typeface="Lato"/>
                <a:ea typeface="Lato"/>
                <a:cs typeface="Lato"/>
                <a:sym typeface="Lato"/>
              </a:rPr>
              <a:t> Because the EfficientNet-B0 encoder is pre-trained on ImageNet, the incoming X-rays must perfectly match the statistical distribution the encoder is used to seeing so transfer learning works effectively.</a:t>
            </a:r>
            <a:endParaRPr sz="1200">
              <a:latin typeface="Lato"/>
              <a:ea typeface="Lato"/>
              <a:cs typeface="Lato"/>
              <a:sym typeface="Lato"/>
            </a:endParaRPr>
          </a:p>
          <a:p>
            <a:pPr indent="0" lvl="0" marL="0" rtl="0" algn="just">
              <a:lnSpc>
                <a:spcPct val="115000"/>
              </a:lnSpc>
              <a:spcBef>
                <a:spcPts val="1200"/>
              </a:spcBef>
              <a:spcAft>
                <a:spcPts val="0"/>
              </a:spcAft>
              <a:buNone/>
            </a:pPr>
            <a:r>
              <a:rPr b="1" lang="en-US" sz="1200">
                <a:latin typeface="Lato"/>
                <a:ea typeface="Lato"/>
                <a:cs typeface="Lato"/>
                <a:sym typeface="Lato"/>
              </a:rPr>
              <a:t>Data Augmentation:</a:t>
            </a:r>
            <a:endParaRPr b="1"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What it is:</a:t>
            </a:r>
            <a:r>
              <a:rPr lang="en-US" sz="1200">
                <a:latin typeface="Lato"/>
                <a:ea typeface="Lato"/>
                <a:cs typeface="Lato"/>
                <a:sym typeface="Lato"/>
              </a:rPr>
              <a:t> Artificially expanding the training set by applying random transformations to the images and their matching masks.</a:t>
            </a:r>
            <a:endParaRPr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The Techniques Used:</a:t>
            </a:r>
            <a:r>
              <a:rPr lang="en-US" sz="1200">
                <a:latin typeface="Lato"/>
                <a:ea typeface="Lato"/>
                <a:cs typeface="Lato"/>
                <a:sym typeface="Lato"/>
              </a:rPr>
              <a:t> Random horizontal flipping, random brightness/contrast adjustments, and affine transformations (scaling and rotation). This improves generalization and reduces overfitting on the limited positive samples.</a:t>
            </a:r>
            <a:endParaRPr sz="1200">
              <a:latin typeface="Lato"/>
              <a:ea typeface="Lato"/>
              <a:cs typeface="Lato"/>
              <a:sym typeface="Lato"/>
            </a:endParaRPr>
          </a:p>
          <a:p>
            <a:pPr indent="0" lvl="0" marL="0" rtl="0" algn="just">
              <a:lnSpc>
                <a:spcPct val="115000"/>
              </a:lnSpc>
              <a:spcBef>
                <a:spcPts val="1200"/>
              </a:spcBef>
              <a:spcAft>
                <a:spcPts val="0"/>
              </a:spcAft>
              <a:buNone/>
            </a:pPr>
            <a:r>
              <a:rPr b="1" lang="en-US" sz="1200">
                <a:latin typeface="Lato"/>
                <a:ea typeface="Lato"/>
                <a:cs typeface="Lato"/>
                <a:sym typeface="Lato"/>
              </a:rPr>
              <a:t>Early Stopping:</a:t>
            </a:r>
            <a:endParaRPr b="1"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What it is:</a:t>
            </a:r>
            <a:r>
              <a:rPr lang="en-US" sz="1200">
                <a:latin typeface="Lato"/>
                <a:ea typeface="Lato"/>
                <a:cs typeface="Lato"/>
                <a:sym typeface="Lato"/>
              </a:rPr>
              <a:t> The model is set to train for a maximum of 50 epochs, but monitors the validation Dice score. If the validation score stops improving for a set number of epochs, training halts early.</a:t>
            </a:r>
            <a:endParaRPr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Why it matters:</a:t>
            </a:r>
            <a:r>
              <a:rPr lang="en-US" sz="1200">
                <a:latin typeface="Lato"/>
                <a:ea typeface="Lato"/>
                <a:cs typeface="Lato"/>
                <a:sym typeface="Lato"/>
              </a:rPr>
              <a:t> Prevents the model from over-training and just memorizing the training data, while saving unnecessary computational time.</a:t>
            </a:r>
            <a:endParaRPr b="1" sz="1300">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3f1076ca001_1_30"/>
          <p:cNvSpPr txBox="1"/>
          <p:nvPr>
            <p:ph type="title"/>
          </p:nvPr>
        </p:nvSpPr>
        <p:spPr>
          <a:xfrm>
            <a:off x="729450" y="216350"/>
            <a:ext cx="76884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a:t>Appendix : Additional Training Configurations</a:t>
            </a:r>
            <a:endParaRPr/>
          </a:p>
        </p:txBody>
      </p:sp>
      <p:sp>
        <p:nvSpPr>
          <p:cNvPr id="542" name="Google Shape;542;g3f1076ca001_1_30"/>
          <p:cNvSpPr txBox="1"/>
          <p:nvPr/>
        </p:nvSpPr>
        <p:spPr>
          <a:xfrm>
            <a:off x="526800" y="847000"/>
            <a:ext cx="8090400" cy="3563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1200">
                <a:latin typeface="Lato"/>
                <a:ea typeface="Lato"/>
                <a:cs typeface="Lato"/>
                <a:sym typeface="Lato"/>
              </a:rPr>
              <a:t>ImageNet Normalization:</a:t>
            </a:r>
            <a:endParaRPr b="1"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What it is:</a:t>
            </a:r>
            <a:r>
              <a:rPr lang="en-US" sz="1200">
                <a:latin typeface="Lato"/>
                <a:ea typeface="Lato"/>
                <a:cs typeface="Lato"/>
                <a:sym typeface="Lato"/>
              </a:rPr>
              <a:t> Before training, images are normalized using the specific channel-wise mean and standard deviation from the ImageNet dataset.</a:t>
            </a:r>
            <a:endParaRPr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Why it matters:</a:t>
            </a:r>
            <a:r>
              <a:rPr lang="en-US" sz="1200">
                <a:latin typeface="Lato"/>
                <a:ea typeface="Lato"/>
                <a:cs typeface="Lato"/>
                <a:sym typeface="Lato"/>
              </a:rPr>
              <a:t> Because the EfficientNet-B0 encoder is pre-trained on ImageNet, the incoming X-rays must perfectly match the statistical distribution the encoder is used to seeing so transfer learning works effectively.</a:t>
            </a:r>
            <a:endParaRPr sz="1200">
              <a:latin typeface="Lato"/>
              <a:ea typeface="Lato"/>
              <a:cs typeface="Lato"/>
              <a:sym typeface="Lato"/>
            </a:endParaRPr>
          </a:p>
          <a:p>
            <a:pPr indent="0" lvl="0" marL="0" rtl="0" algn="just">
              <a:lnSpc>
                <a:spcPct val="115000"/>
              </a:lnSpc>
              <a:spcBef>
                <a:spcPts val="1200"/>
              </a:spcBef>
              <a:spcAft>
                <a:spcPts val="0"/>
              </a:spcAft>
              <a:buNone/>
            </a:pPr>
            <a:r>
              <a:rPr b="1" lang="en-US" sz="1200">
                <a:latin typeface="Lato"/>
                <a:ea typeface="Lato"/>
                <a:cs typeface="Lato"/>
                <a:sym typeface="Lato"/>
              </a:rPr>
              <a:t>Data Augmentation:</a:t>
            </a:r>
            <a:endParaRPr b="1"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What it is:</a:t>
            </a:r>
            <a:r>
              <a:rPr lang="en-US" sz="1200">
                <a:latin typeface="Lato"/>
                <a:ea typeface="Lato"/>
                <a:cs typeface="Lato"/>
                <a:sym typeface="Lato"/>
              </a:rPr>
              <a:t> Artificially expanding the training set by applying random transformations to the images and their matching masks.</a:t>
            </a:r>
            <a:endParaRPr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The Techniques Used:</a:t>
            </a:r>
            <a:r>
              <a:rPr lang="en-US" sz="1200">
                <a:latin typeface="Lato"/>
                <a:ea typeface="Lato"/>
                <a:cs typeface="Lato"/>
                <a:sym typeface="Lato"/>
              </a:rPr>
              <a:t> Random horizontal flipping, random brightness/contrast adjustments, and affine transformations (scaling and rotation). This improves generalization and reduces overfitting on the limited positive samples.</a:t>
            </a:r>
            <a:endParaRPr sz="1200">
              <a:latin typeface="Lato"/>
              <a:ea typeface="Lato"/>
              <a:cs typeface="Lato"/>
              <a:sym typeface="Lato"/>
            </a:endParaRPr>
          </a:p>
          <a:p>
            <a:pPr indent="0" lvl="0" marL="0" rtl="0" algn="just">
              <a:lnSpc>
                <a:spcPct val="115000"/>
              </a:lnSpc>
              <a:spcBef>
                <a:spcPts val="1200"/>
              </a:spcBef>
              <a:spcAft>
                <a:spcPts val="0"/>
              </a:spcAft>
              <a:buNone/>
            </a:pPr>
            <a:r>
              <a:rPr b="1" lang="en-US" sz="1200">
                <a:latin typeface="Lato"/>
                <a:ea typeface="Lato"/>
                <a:cs typeface="Lato"/>
                <a:sym typeface="Lato"/>
              </a:rPr>
              <a:t>Early Stopping:</a:t>
            </a:r>
            <a:endParaRPr b="1"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What it is:</a:t>
            </a:r>
            <a:r>
              <a:rPr lang="en-US" sz="1200">
                <a:latin typeface="Lato"/>
                <a:ea typeface="Lato"/>
                <a:cs typeface="Lato"/>
                <a:sym typeface="Lato"/>
              </a:rPr>
              <a:t> The model is set to train for a maximum of 50 epochs, but monitors the validation Dice score. If the validation score stops improving for a set number of epochs, training halts early.</a:t>
            </a:r>
            <a:endParaRPr sz="1200">
              <a:latin typeface="Lato"/>
              <a:ea typeface="Lato"/>
              <a:cs typeface="Lato"/>
              <a:sym typeface="Lato"/>
            </a:endParaRPr>
          </a:p>
          <a:p>
            <a:pPr indent="-304800" lvl="0" marL="457200" rtl="0" algn="just">
              <a:lnSpc>
                <a:spcPct val="115000"/>
              </a:lnSpc>
              <a:spcBef>
                <a:spcPts val="0"/>
              </a:spcBef>
              <a:spcAft>
                <a:spcPts val="0"/>
              </a:spcAft>
              <a:buSzPts val="1200"/>
              <a:buFont typeface="Lato"/>
              <a:buChar char="●"/>
            </a:pPr>
            <a:r>
              <a:rPr i="1" lang="en-US" sz="1200">
                <a:latin typeface="Lato"/>
                <a:ea typeface="Lato"/>
                <a:cs typeface="Lato"/>
                <a:sym typeface="Lato"/>
              </a:rPr>
              <a:t>Why it matters:</a:t>
            </a:r>
            <a:r>
              <a:rPr lang="en-US" sz="1200">
                <a:latin typeface="Lato"/>
                <a:ea typeface="Lato"/>
                <a:cs typeface="Lato"/>
                <a:sym typeface="Lato"/>
              </a:rPr>
              <a:t> Prevents the model from over-training and just memorizing the training data, while saving unnecessary computational time.</a:t>
            </a:r>
            <a:endParaRPr b="1" sz="1300">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